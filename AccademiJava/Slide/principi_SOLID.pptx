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1AC1A6-26BA-85AF-3683-606C0CAFEA40}" v="97" dt="2025-03-03T11:39:04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Piccolo" userId="def4cbf190fb66b3" providerId="Windows Live" clId="Web-{711AC1A6-26BA-85AF-3683-606C0CAFEA40}"/>
    <pc:docChg chg="modSld">
      <pc:chgData name="Vincenzo Piccolo" userId="def4cbf190fb66b3" providerId="Windows Live" clId="Web-{711AC1A6-26BA-85AF-3683-606C0CAFEA40}" dt="2025-03-03T11:38:52.004" v="97" actId="1076"/>
      <pc:docMkLst>
        <pc:docMk/>
      </pc:docMkLst>
      <pc:sldChg chg="modSp">
        <pc:chgData name="Vincenzo Piccolo" userId="def4cbf190fb66b3" providerId="Windows Live" clId="Web-{711AC1A6-26BA-85AF-3683-606C0CAFEA40}" dt="2025-03-03T11:36:09.591" v="28" actId="20577"/>
        <pc:sldMkLst>
          <pc:docMk/>
          <pc:sldMk cId="0" sldId="257"/>
        </pc:sldMkLst>
        <pc:spChg chg="mod">
          <ac:chgData name="Vincenzo Piccolo" userId="def4cbf190fb66b3" providerId="Windows Live" clId="Web-{711AC1A6-26BA-85AF-3683-606C0CAFEA40}" dt="2025-03-03T11:36:09.591" v="2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Vincenzo Piccolo" userId="def4cbf190fb66b3" providerId="Windows Live" clId="Web-{711AC1A6-26BA-85AF-3683-606C0CAFEA40}" dt="2025-03-03T11:36:00.700" v="23" actId="20577"/>
        <pc:sldMkLst>
          <pc:docMk/>
          <pc:sldMk cId="0" sldId="258"/>
        </pc:sldMkLst>
        <pc:spChg chg="mod">
          <ac:chgData name="Vincenzo Piccolo" userId="def4cbf190fb66b3" providerId="Windows Live" clId="Web-{711AC1A6-26BA-85AF-3683-606C0CAFEA40}" dt="2025-03-03T11:36:00.700" v="2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Vincenzo Piccolo" userId="def4cbf190fb66b3" providerId="Windows Live" clId="Web-{711AC1A6-26BA-85AF-3683-606C0CAFEA40}" dt="2025-03-03T11:36:37.154" v="42" actId="20577"/>
        <pc:sldMkLst>
          <pc:docMk/>
          <pc:sldMk cId="0" sldId="259"/>
        </pc:sldMkLst>
        <pc:spChg chg="mod">
          <ac:chgData name="Vincenzo Piccolo" userId="def4cbf190fb66b3" providerId="Windows Live" clId="Web-{711AC1A6-26BA-85AF-3683-606C0CAFEA40}" dt="2025-03-03T11:36:37.154" v="4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Vincenzo Piccolo" userId="def4cbf190fb66b3" providerId="Windows Live" clId="Web-{711AC1A6-26BA-85AF-3683-606C0CAFEA40}" dt="2025-03-03T11:37:12.687" v="57" actId="20577"/>
        <pc:sldMkLst>
          <pc:docMk/>
          <pc:sldMk cId="0" sldId="260"/>
        </pc:sldMkLst>
        <pc:spChg chg="mod">
          <ac:chgData name="Vincenzo Piccolo" userId="def4cbf190fb66b3" providerId="Windows Live" clId="Web-{711AC1A6-26BA-85AF-3683-606C0CAFEA40}" dt="2025-03-03T11:37:12.687" v="57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Vincenzo Piccolo" userId="def4cbf190fb66b3" providerId="Windows Live" clId="Web-{711AC1A6-26BA-85AF-3683-606C0CAFEA40}" dt="2025-03-03T11:37:54.439" v="72" actId="20577"/>
        <pc:sldMkLst>
          <pc:docMk/>
          <pc:sldMk cId="0" sldId="261"/>
        </pc:sldMkLst>
        <pc:spChg chg="mod">
          <ac:chgData name="Vincenzo Piccolo" userId="def4cbf190fb66b3" providerId="Windows Live" clId="Web-{711AC1A6-26BA-85AF-3683-606C0CAFEA40}" dt="2025-03-03T11:37:54.439" v="72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Vincenzo Piccolo" userId="def4cbf190fb66b3" providerId="Windows Live" clId="Web-{711AC1A6-26BA-85AF-3683-606C0CAFEA40}" dt="2025-03-03T11:38:52.004" v="97" actId="1076"/>
        <pc:sldMkLst>
          <pc:docMk/>
          <pc:sldMk cId="0" sldId="262"/>
        </pc:sldMkLst>
        <pc:spChg chg="mod">
          <ac:chgData name="Vincenzo Piccolo" userId="def4cbf190fb66b3" providerId="Windows Live" clId="Web-{711AC1A6-26BA-85AF-3683-606C0CAFEA40}" dt="2025-03-03T11:38:52.004" v="97" actId="1076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Principi SOLID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Una panoramica dei principi di progettazione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Single Responsibility Principle (SRP)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286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Definizione:</a:t>
            </a:r>
            <a:endParaRPr lang="it-IT"/>
          </a:p>
          <a:p>
            <a:r>
              <a:rPr dirty="0" err="1"/>
              <a:t>Ogni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dovrebbe</a:t>
            </a:r>
            <a:r>
              <a:rPr dirty="0"/>
              <a:t> </a:t>
            </a:r>
            <a:r>
              <a:rPr dirty="0" err="1"/>
              <a:t>avere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responsabilità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b="1" err="1"/>
              <a:t>Motivazione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/>
              <a:t>Quando una classe ha più di una responsabilità, è più difficile modificarla senza effetti collaterali.</a:t>
            </a:r>
            <a:endParaRPr lang="it-IT" dirty="0">
              <a:ea typeface="Calibri"/>
              <a:cs typeface="Calibri"/>
            </a:endParaRPr>
          </a:p>
          <a:p>
            <a:endParaRPr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Violazione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/>
              <a:t>Classe Order con </a:t>
            </a:r>
            <a:r>
              <a:rPr err="1"/>
              <a:t>logica</a:t>
            </a:r>
            <a:r>
              <a:rPr dirty="0"/>
              <a:t> per </a:t>
            </a:r>
            <a:r>
              <a:rPr err="1"/>
              <a:t>calcolare</a:t>
            </a:r>
            <a:r>
              <a:rPr dirty="0"/>
              <a:t> il </a:t>
            </a:r>
            <a:r>
              <a:rPr err="1"/>
              <a:t>totale</a:t>
            </a:r>
            <a:r>
              <a:rPr dirty="0"/>
              <a:t> e </a:t>
            </a:r>
            <a:r>
              <a:rPr err="1"/>
              <a:t>inviare</a:t>
            </a:r>
            <a:r>
              <a:rPr dirty="0"/>
              <a:t> email.</a:t>
            </a:r>
            <a:endParaRPr dirty="0">
              <a:ea typeface="Calibri"/>
              <a:cs typeface="Calibri"/>
            </a:endParaRP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Conformità</a:t>
            </a:r>
            <a:r>
              <a:rPr b="1" dirty="0"/>
              <a:t> SRP:</a:t>
            </a:r>
            <a:endParaRPr b="1" dirty="0">
              <a:ea typeface="Calibri"/>
              <a:cs typeface="Calibri"/>
            </a:endParaRPr>
          </a:p>
          <a:p>
            <a:r>
              <a:rPr err="1"/>
              <a:t>Separare</a:t>
            </a:r>
            <a:r>
              <a:rPr dirty="0"/>
              <a:t> la </a:t>
            </a:r>
            <a:r>
              <a:rPr err="1"/>
              <a:t>logica</a:t>
            </a:r>
            <a:r>
              <a:rPr dirty="0"/>
              <a:t> in due </a:t>
            </a:r>
            <a:r>
              <a:rPr err="1"/>
              <a:t>classi</a:t>
            </a:r>
            <a:r>
              <a:rPr dirty="0"/>
              <a:t>: </a:t>
            </a:r>
            <a:r>
              <a:rPr err="1"/>
              <a:t>OrderCalculator</a:t>
            </a:r>
            <a:r>
              <a:rPr dirty="0"/>
              <a:t> e </a:t>
            </a:r>
            <a:r>
              <a:rPr err="1"/>
              <a:t>EmailSender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Open/Closed Principle (OCP)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Definizione:</a:t>
            </a:r>
            <a:endParaRPr lang="it-IT" b="1" dirty="0">
              <a:ea typeface="Calibri"/>
              <a:cs typeface="Calibri"/>
            </a:endParaRPr>
          </a:p>
          <a:p>
            <a:r>
              <a:rPr dirty="0"/>
              <a:t>Le </a:t>
            </a:r>
            <a:r>
              <a:rPr dirty="0" err="1"/>
              <a:t>classi</a:t>
            </a:r>
            <a:r>
              <a:rPr dirty="0"/>
              <a:t> </a:t>
            </a:r>
            <a:r>
              <a:rPr dirty="0" err="1"/>
              <a:t>devono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aperte</a:t>
            </a:r>
            <a:r>
              <a:rPr dirty="0"/>
              <a:t> per </a:t>
            </a:r>
            <a:r>
              <a:rPr dirty="0" err="1"/>
              <a:t>l'estensione</a:t>
            </a:r>
            <a:r>
              <a:rPr dirty="0"/>
              <a:t> ma </a:t>
            </a:r>
            <a:r>
              <a:rPr dirty="0" err="1"/>
              <a:t>chiuse</a:t>
            </a:r>
            <a:r>
              <a:rPr dirty="0"/>
              <a:t> per la </a:t>
            </a:r>
            <a:r>
              <a:rPr dirty="0" err="1"/>
              <a:t>modifica</a:t>
            </a:r>
            <a:r>
              <a:rPr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Motivazione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 err="1"/>
              <a:t>Evitare</a:t>
            </a:r>
            <a:r>
              <a:rPr dirty="0"/>
              <a:t> </a:t>
            </a:r>
            <a:r>
              <a:rPr dirty="0" err="1"/>
              <a:t>modifiche</a:t>
            </a:r>
            <a:r>
              <a:rPr dirty="0"/>
              <a:t> al </a:t>
            </a:r>
            <a:r>
              <a:rPr dirty="0" err="1"/>
              <a:t>codice</a:t>
            </a:r>
            <a:r>
              <a:rPr dirty="0"/>
              <a:t> </a:t>
            </a:r>
            <a:r>
              <a:rPr dirty="0" err="1"/>
              <a:t>esistente</a:t>
            </a:r>
            <a:r>
              <a:rPr dirty="0"/>
              <a:t> per </a:t>
            </a:r>
            <a:r>
              <a:rPr dirty="0" err="1"/>
              <a:t>aggiungere</a:t>
            </a:r>
            <a:r>
              <a:rPr dirty="0"/>
              <a:t> </a:t>
            </a:r>
            <a:r>
              <a:rPr dirty="0" err="1"/>
              <a:t>nuove</a:t>
            </a:r>
            <a:r>
              <a:rPr dirty="0"/>
              <a:t> </a:t>
            </a:r>
            <a:r>
              <a:rPr dirty="0" err="1"/>
              <a:t>funzionalità</a:t>
            </a:r>
            <a:r>
              <a:rPr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Violazione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 err="1"/>
              <a:t>Aggiungere</a:t>
            </a:r>
            <a:r>
              <a:rPr dirty="0"/>
              <a:t> </a:t>
            </a:r>
            <a:r>
              <a:rPr dirty="0" err="1"/>
              <a:t>funzionalità</a:t>
            </a:r>
            <a:r>
              <a:rPr dirty="0"/>
              <a:t> </a:t>
            </a:r>
            <a:r>
              <a:rPr dirty="0" err="1"/>
              <a:t>direttamente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esistente</a:t>
            </a:r>
            <a:r>
              <a:rPr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Conformità</a:t>
            </a:r>
            <a:r>
              <a:rPr b="1" dirty="0"/>
              <a:t> OCP:</a:t>
            </a:r>
            <a:endParaRPr b="1" dirty="0">
              <a:ea typeface="Calibri"/>
              <a:cs typeface="Calibri"/>
            </a:endParaRPr>
          </a:p>
          <a:p>
            <a:r>
              <a:rPr dirty="0" err="1"/>
              <a:t>Utilizzare</a:t>
            </a:r>
            <a:r>
              <a:rPr dirty="0"/>
              <a:t> </a:t>
            </a:r>
            <a:r>
              <a:rPr dirty="0" err="1"/>
              <a:t>ereditarietà</a:t>
            </a:r>
            <a:r>
              <a:rPr dirty="0"/>
              <a:t> o </a:t>
            </a:r>
            <a:r>
              <a:rPr dirty="0" err="1"/>
              <a:t>polimorfismo</a:t>
            </a:r>
            <a:r>
              <a:rPr dirty="0"/>
              <a:t> per </a:t>
            </a:r>
            <a:r>
              <a:rPr dirty="0" err="1"/>
              <a:t>estendere</a:t>
            </a:r>
            <a:r>
              <a:rPr dirty="0"/>
              <a:t> il </a:t>
            </a:r>
            <a:r>
              <a:rPr dirty="0" err="1"/>
              <a:t>comportamento</a:t>
            </a:r>
            <a:r>
              <a:rPr dirty="0"/>
              <a:t> senza </a:t>
            </a:r>
            <a:r>
              <a:rPr dirty="0" err="1"/>
              <a:t>modificare</a:t>
            </a:r>
            <a:r>
              <a:rPr dirty="0"/>
              <a:t> il </a:t>
            </a:r>
            <a:r>
              <a:rPr dirty="0" err="1"/>
              <a:t>codice</a:t>
            </a:r>
            <a:r>
              <a:rPr dirty="0"/>
              <a:t> </a:t>
            </a:r>
            <a:r>
              <a:rPr dirty="0" err="1"/>
              <a:t>esistente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Liskov Substitution Principle (LSP)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Definizione:</a:t>
            </a:r>
            <a:endParaRPr lang="it-IT"/>
          </a:p>
          <a:p>
            <a:r>
              <a:rPr dirty="0"/>
              <a:t>Le </a:t>
            </a:r>
            <a:r>
              <a:rPr dirty="0" err="1"/>
              <a:t>classi</a:t>
            </a:r>
            <a:r>
              <a:rPr dirty="0"/>
              <a:t> derivate </a:t>
            </a:r>
            <a:r>
              <a:rPr dirty="0" err="1"/>
              <a:t>devono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intercambiabili</a:t>
            </a:r>
            <a:r>
              <a:rPr dirty="0"/>
              <a:t> con quelle base senza </a:t>
            </a:r>
            <a:r>
              <a:rPr dirty="0" err="1"/>
              <a:t>modificare</a:t>
            </a:r>
            <a:r>
              <a:rPr dirty="0"/>
              <a:t> il </a:t>
            </a:r>
            <a:r>
              <a:rPr dirty="0" err="1"/>
              <a:t>comportamento</a:t>
            </a:r>
            <a:r>
              <a:rPr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Motivazione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/>
              <a:t>Le </a:t>
            </a:r>
            <a:r>
              <a:rPr dirty="0" err="1"/>
              <a:t>sottoclassi</a:t>
            </a:r>
            <a:r>
              <a:rPr dirty="0"/>
              <a:t> </a:t>
            </a:r>
            <a:r>
              <a:rPr dirty="0" err="1"/>
              <a:t>devono</a:t>
            </a:r>
            <a:r>
              <a:rPr dirty="0"/>
              <a:t> </a:t>
            </a:r>
            <a:r>
              <a:rPr dirty="0" err="1"/>
              <a:t>rispettare</a:t>
            </a:r>
            <a:r>
              <a:rPr dirty="0"/>
              <a:t> il </a:t>
            </a:r>
            <a:r>
              <a:rPr dirty="0" err="1"/>
              <a:t>contratto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base.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Violazione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/>
              <a:t>Classe Square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modifica</a:t>
            </a:r>
            <a:r>
              <a:rPr dirty="0"/>
              <a:t> il </a:t>
            </a:r>
            <a:r>
              <a:rPr dirty="0" err="1"/>
              <a:t>comportamento</a:t>
            </a:r>
            <a:r>
              <a:rPr dirty="0"/>
              <a:t> di Rectangle.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Conformità</a:t>
            </a:r>
            <a:r>
              <a:rPr b="1" dirty="0"/>
              <a:t> LSP:</a:t>
            </a:r>
            <a:endParaRPr b="1" dirty="0">
              <a:ea typeface="Calibri"/>
              <a:cs typeface="Calibri"/>
            </a:endParaRPr>
          </a:p>
          <a:p>
            <a:r>
              <a:rPr dirty="0" err="1"/>
              <a:t>Assicurarsi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le </a:t>
            </a:r>
            <a:r>
              <a:rPr dirty="0" err="1"/>
              <a:t>classi</a:t>
            </a:r>
            <a:r>
              <a:rPr dirty="0"/>
              <a:t> derivate non </a:t>
            </a:r>
            <a:r>
              <a:rPr dirty="0" err="1"/>
              <a:t>cambino</a:t>
            </a:r>
            <a:r>
              <a:rPr dirty="0"/>
              <a:t> il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Interface Segregation Principle (ISP)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Definizione:</a:t>
            </a:r>
            <a:endParaRPr lang="it-IT"/>
          </a:p>
          <a:p>
            <a:r>
              <a:rPr dirty="0"/>
              <a:t>E' </a:t>
            </a:r>
            <a:r>
              <a:rPr dirty="0" err="1"/>
              <a:t>meglio</a:t>
            </a:r>
            <a:r>
              <a:rPr dirty="0"/>
              <a:t> </a:t>
            </a:r>
            <a:r>
              <a:rPr dirty="0" err="1"/>
              <a:t>avere</a:t>
            </a:r>
            <a:r>
              <a:rPr dirty="0"/>
              <a:t> </a:t>
            </a:r>
            <a:r>
              <a:rPr dirty="0" err="1"/>
              <a:t>molte</a:t>
            </a:r>
            <a:r>
              <a:rPr dirty="0"/>
              <a:t> </a:t>
            </a:r>
            <a:r>
              <a:rPr dirty="0" err="1"/>
              <a:t>interfacce</a:t>
            </a:r>
            <a:r>
              <a:rPr dirty="0"/>
              <a:t> </a:t>
            </a:r>
            <a:r>
              <a:rPr dirty="0" err="1"/>
              <a:t>specifiche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interfaccia</a:t>
            </a:r>
            <a:r>
              <a:rPr dirty="0"/>
              <a:t> generale.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Motivazione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 err="1"/>
              <a:t>Evitare</a:t>
            </a:r>
            <a:r>
              <a:rPr dirty="0"/>
              <a:t> di far </a:t>
            </a:r>
            <a:r>
              <a:rPr dirty="0" err="1"/>
              <a:t>implementare</a:t>
            </a:r>
            <a:r>
              <a:rPr dirty="0"/>
              <a:t> </a:t>
            </a:r>
            <a:r>
              <a:rPr dirty="0" err="1"/>
              <a:t>metodi</a:t>
            </a:r>
            <a:r>
              <a:rPr dirty="0"/>
              <a:t> non </a:t>
            </a:r>
            <a:r>
              <a:rPr dirty="0" err="1"/>
              <a:t>necessari</a:t>
            </a:r>
            <a:r>
              <a:rPr dirty="0"/>
              <a:t> alle </a:t>
            </a:r>
            <a:r>
              <a:rPr dirty="0" err="1"/>
              <a:t>classi</a:t>
            </a:r>
            <a:r>
              <a:rPr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Violazione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/>
              <a:t>Una </a:t>
            </a:r>
            <a:r>
              <a:rPr dirty="0" err="1"/>
              <a:t>singola</a:t>
            </a:r>
            <a:r>
              <a:rPr dirty="0"/>
              <a:t> </a:t>
            </a:r>
            <a:r>
              <a:rPr dirty="0" err="1"/>
              <a:t>interfaccia</a:t>
            </a:r>
            <a:r>
              <a:rPr dirty="0"/>
              <a:t> </a:t>
            </a:r>
            <a:r>
              <a:rPr dirty="0" err="1"/>
              <a:t>IWorker</a:t>
            </a:r>
            <a:r>
              <a:rPr dirty="0"/>
              <a:t> con </a:t>
            </a:r>
            <a:r>
              <a:rPr dirty="0" err="1"/>
              <a:t>metodi</a:t>
            </a:r>
            <a:r>
              <a:rPr dirty="0"/>
              <a:t> Work() e </a:t>
            </a:r>
            <a:r>
              <a:rPr dirty="0" err="1"/>
              <a:t>TakeBreak</a:t>
            </a:r>
            <a:r>
              <a:rPr dirty="0"/>
              <a:t>().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Conformità</a:t>
            </a:r>
            <a:r>
              <a:rPr b="1" dirty="0"/>
              <a:t> ISP:</a:t>
            </a:r>
            <a:endParaRPr b="1" dirty="0">
              <a:ea typeface="Calibri"/>
              <a:cs typeface="Calibri"/>
            </a:endParaRPr>
          </a:p>
          <a:p>
            <a:r>
              <a:rPr dirty="0" err="1"/>
              <a:t>Separare</a:t>
            </a:r>
            <a:r>
              <a:rPr dirty="0"/>
              <a:t> le </a:t>
            </a:r>
            <a:r>
              <a:rPr dirty="0" err="1"/>
              <a:t>interfacce</a:t>
            </a:r>
            <a:r>
              <a:rPr dirty="0"/>
              <a:t> in </a:t>
            </a:r>
            <a:r>
              <a:rPr dirty="0" err="1"/>
              <a:t>IWorkable</a:t>
            </a:r>
            <a:r>
              <a:rPr dirty="0"/>
              <a:t> e </a:t>
            </a:r>
            <a:r>
              <a:rPr dirty="0" err="1"/>
              <a:t>ITakeBreakable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Dependency Inversion Principle (DIP)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Definizione:</a:t>
            </a:r>
            <a:endParaRPr lang="it-IT"/>
          </a:p>
          <a:p>
            <a:r>
              <a:rPr dirty="0"/>
              <a:t>Le </a:t>
            </a:r>
            <a:r>
              <a:rPr dirty="0" err="1"/>
              <a:t>entità</a:t>
            </a:r>
            <a:r>
              <a:rPr dirty="0"/>
              <a:t> di alto </a:t>
            </a:r>
            <a:r>
              <a:rPr dirty="0" err="1"/>
              <a:t>livello</a:t>
            </a:r>
            <a:r>
              <a:rPr dirty="0"/>
              <a:t> non </a:t>
            </a:r>
            <a:r>
              <a:rPr dirty="0" err="1"/>
              <a:t>devono</a:t>
            </a:r>
            <a:r>
              <a:rPr dirty="0"/>
              <a:t> </a:t>
            </a:r>
            <a:r>
              <a:rPr dirty="0" err="1"/>
              <a:t>dipendere</a:t>
            </a:r>
            <a:r>
              <a:rPr dirty="0"/>
              <a:t> da quelle di basso </a:t>
            </a:r>
            <a:r>
              <a:rPr dirty="0" err="1"/>
              <a:t>livello</a:t>
            </a:r>
            <a:r>
              <a:rPr dirty="0"/>
              <a:t>, ma </a:t>
            </a:r>
            <a:r>
              <a:rPr dirty="0" err="1"/>
              <a:t>entrambe</a:t>
            </a:r>
            <a:r>
              <a:rPr dirty="0"/>
              <a:t> </a:t>
            </a:r>
            <a:r>
              <a:rPr dirty="0" err="1"/>
              <a:t>devono</a:t>
            </a:r>
            <a:r>
              <a:rPr dirty="0"/>
              <a:t> </a:t>
            </a:r>
            <a:r>
              <a:rPr dirty="0" err="1"/>
              <a:t>dipendere</a:t>
            </a:r>
            <a:r>
              <a:rPr dirty="0"/>
              <a:t> da </a:t>
            </a:r>
            <a:r>
              <a:rPr dirty="0" err="1"/>
              <a:t>astrazioni</a:t>
            </a:r>
            <a:r>
              <a:rPr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Motivazione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 err="1"/>
              <a:t>Evitare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modifiche</a:t>
            </a:r>
            <a:r>
              <a:rPr dirty="0"/>
              <a:t> </a:t>
            </a:r>
            <a:r>
              <a:rPr dirty="0" err="1"/>
              <a:t>nei</a:t>
            </a:r>
            <a:r>
              <a:rPr dirty="0"/>
              <a:t> </a:t>
            </a:r>
            <a:r>
              <a:rPr dirty="0" err="1"/>
              <a:t>dettagli</a:t>
            </a:r>
            <a:r>
              <a:rPr dirty="0"/>
              <a:t> di basso </a:t>
            </a:r>
            <a:r>
              <a:rPr dirty="0" err="1"/>
              <a:t>livello</a:t>
            </a:r>
            <a:r>
              <a:rPr dirty="0"/>
              <a:t> </a:t>
            </a:r>
            <a:r>
              <a:rPr dirty="0" err="1"/>
              <a:t>impattino</a:t>
            </a:r>
            <a:r>
              <a:rPr dirty="0"/>
              <a:t> le </a:t>
            </a:r>
            <a:r>
              <a:rPr dirty="0" err="1"/>
              <a:t>classi</a:t>
            </a:r>
            <a:r>
              <a:rPr dirty="0"/>
              <a:t> di alto </a:t>
            </a:r>
            <a:r>
              <a:rPr dirty="0" err="1"/>
              <a:t>livello</a:t>
            </a:r>
            <a:r>
              <a:rPr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Violazione</a:t>
            </a:r>
            <a:r>
              <a:rPr b="1" dirty="0"/>
              <a:t>:</a:t>
            </a:r>
            <a:endParaRPr b="1" dirty="0">
              <a:ea typeface="Calibri"/>
              <a:cs typeface="Calibri"/>
            </a:endParaRPr>
          </a:p>
          <a:p>
            <a:r>
              <a:rPr dirty="0"/>
              <a:t>Una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OrderProcessing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dipende</a:t>
            </a:r>
            <a:r>
              <a:rPr dirty="0"/>
              <a:t> </a:t>
            </a:r>
            <a:r>
              <a:rPr dirty="0" err="1"/>
              <a:t>direttamente</a:t>
            </a:r>
            <a:r>
              <a:rPr dirty="0"/>
              <a:t> da </a:t>
            </a:r>
            <a:r>
              <a:rPr dirty="0" err="1"/>
              <a:t>EmailService</a:t>
            </a:r>
            <a:r>
              <a:rPr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b="1" err="1"/>
              <a:t>Esempio</a:t>
            </a:r>
            <a:r>
              <a:rPr b="1" dirty="0"/>
              <a:t> </a:t>
            </a:r>
            <a:r>
              <a:rPr b="1" err="1"/>
              <a:t>Conformità</a:t>
            </a:r>
            <a:r>
              <a:rPr b="1" dirty="0"/>
              <a:t> DIP:</a:t>
            </a:r>
            <a:endParaRPr b="1" dirty="0">
              <a:ea typeface="Calibri"/>
              <a:cs typeface="Calibri"/>
            </a:endParaRPr>
          </a:p>
          <a:p>
            <a:r>
              <a:rPr dirty="0" err="1"/>
              <a:t>Utilizzare</a:t>
            </a:r>
            <a:r>
              <a:rPr dirty="0"/>
              <a:t> </a:t>
            </a:r>
            <a:r>
              <a:rPr dirty="0" err="1"/>
              <a:t>un'interfaccia</a:t>
            </a:r>
            <a:r>
              <a:rPr dirty="0"/>
              <a:t> </a:t>
            </a:r>
            <a:r>
              <a:rPr dirty="0" err="1"/>
              <a:t>IEmailService</a:t>
            </a:r>
            <a:r>
              <a:rPr dirty="0"/>
              <a:t> per </a:t>
            </a:r>
            <a:r>
              <a:rPr dirty="0" err="1"/>
              <a:t>permettere</a:t>
            </a:r>
            <a:r>
              <a:rPr dirty="0"/>
              <a:t> la </a:t>
            </a:r>
            <a:r>
              <a:rPr dirty="0" err="1"/>
              <a:t>sostituzione</a:t>
            </a:r>
            <a:r>
              <a:rPr dirty="0"/>
              <a:t> </a:t>
            </a:r>
            <a:r>
              <a:rPr dirty="0" err="1"/>
              <a:t>dell'implementazione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Riassunto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i="1" dirty="0"/>
              <a:t>I principi SOLID migliorano la qualità del codice e la sua manutenibilità:</a:t>
            </a:r>
            <a:endParaRPr lang="it-IT" i="1" dirty="0">
              <a:ea typeface="Calibri"/>
              <a:cs typeface="Calibri"/>
            </a:endParaRPr>
          </a:p>
          <a:p>
            <a:pPr marL="0" indent="0">
              <a:buNone/>
            </a:pPr>
            <a:endParaRPr lang="it-IT" i="1" dirty="0"/>
          </a:p>
          <a:p>
            <a:r>
              <a:rPr dirty="0"/>
              <a:t>1. SRP: Ogni classe ha una sola responsabilità.</a:t>
            </a:r>
            <a:endParaRPr lang="it-IT" dirty="0">
              <a:ea typeface="Calibri"/>
              <a:cs typeface="Calibri"/>
            </a:endParaRPr>
          </a:p>
          <a:p>
            <a:endParaRPr lang="it-IT" dirty="0"/>
          </a:p>
          <a:p>
            <a:r>
              <a:rPr dirty="0"/>
              <a:t>2. OCP: </a:t>
            </a:r>
            <a:r>
              <a:rPr err="1"/>
              <a:t>Estendi</a:t>
            </a:r>
            <a:r>
              <a:rPr dirty="0"/>
              <a:t>, non </a:t>
            </a:r>
            <a:r>
              <a:rPr err="1"/>
              <a:t>modificare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endParaRPr lang="it-IT" dirty="0"/>
          </a:p>
          <a:p>
            <a:r>
              <a:rPr dirty="0"/>
              <a:t>3. LSP: Le </a:t>
            </a:r>
            <a:r>
              <a:rPr dirty="0" err="1"/>
              <a:t>sottoclassi</a:t>
            </a:r>
            <a:r>
              <a:rPr dirty="0"/>
              <a:t> </a:t>
            </a:r>
            <a:r>
              <a:rPr dirty="0" err="1"/>
              <a:t>devono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intercambiabili</a:t>
            </a:r>
            <a:r>
              <a:rPr dirty="0"/>
              <a:t>.</a:t>
            </a:r>
          </a:p>
          <a:p>
            <a:endParaRPr lang="it-IT" dirty="0"/>
          </a:p>
          <a:p>
            <a:r>
              <a:rPr dirty="0"/>
              <a:t>4. ISP: Usa </a:t>
            </a:r>
            <a:r>
              <a:rPr err="1"/>
              <a:t>interfacce</a:t>
            </a:r>
            <a:r>
              <a:rPr dirty="0"/>
              <a:t> </a:t>
            </a:r>
            <a:r>
              <a:rPr err="1"/>
              <a:t>specifiche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endParaRPr lang="it-IT" dirty="0"/>
          </a:p>
          <a:p>
            <a:r>
              <a:rPr dirty="0"/>
              <a:t>5. DIP: </a:t>
            </a:r>
            <a:r>
              <a:rPr dirty="0" err="1"/>
              <a:t>Dipendi</a:t>
            </a:r>
            <a:r>
              <a:rPr dirty="0"/>
              <a:t> da </a:t>
            </a:r>
            <a:r>
              <a:rPr dirty="0" err="1"/>
              <a:t>astrazioni</a:t>
            </a:r>
            <a:r>
              <a:rPr dirty="0"/>
              <a:t>, non da </a:t>
            </a:r>
            <a:r>
              <a:rPr dirty="0" err="1"/>
              <a:t>implementazioni</a:t>
            </a:r>
            <a:r>
              <a:rPr dirty="0"/>
              <a:t> concrete.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Office Theme</vt:lpstr>
      <vt:lpstr>Principi SOLID</vt:lpstr>
      <vt:lpstr>1. Single Responsibility Principle (SRP)</vt:lpstr>
      <vt:lpstr>2. Open/Closed Principle (OCP)</vt:lpstr>
      <vt:lpstr>3. Liskov Substitution Principle (LSP)</vt:lpstr>
      <vt:lpstr>4. Interface Segregation Principle (ISP)</vt:lpstr>
      <vt:lpstr>5. Dependency Inversion Principle (DIP)</vt:lpstr>
      <vt:lpstr>Riassunto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</cp:revision>
  <dcterms:created xsi:type="dcterms:W3CDTF">2013-01-27T09:14:16Z</dcterms:created>
  <dcterms:modified xsi:type="dcterms:W3CDTF">2025-03-03T11:39:06Z</dcterms:modified>
  <cp:category/>
</cp:coreProperties>
</file>