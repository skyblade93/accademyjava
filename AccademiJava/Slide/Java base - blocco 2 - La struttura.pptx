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48" r:id="rId2"/>
  </p:sldMasterIdLst>
  <p:sldIdLst>
    <p:sldId id="373" r:id="rId3"/>
    <p:sldId id="372" r:id="rId4"/>
    <p:sldId id="371" r:id="rId5"/>
    <p:sldId id="370" r:id="rId6"/>
    <p:sldId id="369" r:id="rId7"/>
    <p:sldId id="368" r:id="rId8"/>
    <p:sldId id="367" r:id="rId9"/>
    <p:sldId id="366" r:id="rId10"/>
    <p:sldId id="365" r:id="rId11"/>
    <p:sldId id="364" r:id="rId12"/>
    <p:sldId id="363" r:id="rId13"/>
    <p:sldId id="362" r:id="rId14"/>
    <p:sldId id="361" r:id="rId15"/>
    <p:sldId id="360" r:id="rId16"/>
    <p:sldId id="359" r:id="rId17"/>
    <p:sldId id="358" r:id="rId18"/>
    <p:sldId id="357" r:id="rId19"/>
    <p:sldId id="356" r:id="rId20"/>
    <p:sldId id="355" r:id="rId21"/>
    <p:sldId id="354" r:id="rId22"/>
    <p:sldId id="353" r:id="rId23"/>
    <p:sldId id="352" r:id="rId24"/>
    <p:sldId id="351" r:id="rId25"/>
    <p:sldId id="350" r:id="rId26"/>
    <p:sldId id="349" r:id="rId27"/>
    <p:sldId id="348" r:id="rId28"/>
    <p:sldId id="347" r:id="rId29"/>
    <p:sldId id="346" r:id="rId30"/>
    <p:sldId id="345" r:id="rId31"/>
    <p:sldId id="344" r:id="rId32"/>
    <p:sldId id="343" r:id="rId33"/>
    <p:sldId id="342" r:id="rId34"/>
    <p:sldId id="341" r:id="rId35"/>
    <p:sldId id="340" r:id="rId36"/>
    <p:sldId id="339" r:id="rId37"/>
    <p:sldId id="338" r:id="rId38"/>
    <p:sldId id="337" r:id="rId39"/>
    <p:sldId id="336" r:id="rId40"/>
    <p:sldId id="335" r:id="rId41"/>
    <p:sldId id="334" r:id="rId42"/>
    <p:sldId id="333" r:id="rId43"/>
    <p:sldId id="332" r:id="rId44"/>
    <p:sldId id="331" r:id="rId45"/>
    <p:sldId id="330" r:id="rId46"/>
    <p:sldId id="329" r:id="rId47"/>
    <p:sldId id="328" r:id="rId48"/>
    <p:sldId id="327" r:id="rId49"/>
    <p:sldId id="326" r:id="rId50"/>
    <p:sldId id="325" r:id="rId51"/>
    <p:sldId id="324" r:id="rId52"/>
    <p:sldId id="323" r:id="rId53"/>
    <p:sldId id="322" r:id="rId54"/>
    <p:sldId id="321" r:id="rId55"/>
    <p:sldId id="320" r:id="rId56"/>
    <p:sldId id="319" r:id="rId57"/>
    <p:sldId id="318" r:id="rId58"/>
    <p:sldId id="317" r:id="rId59"/>
    <p:sldId id="316" r:id="rId60"/>
    <p:sldId id="315" r:id="rId61"/>
    <p:sldId id="314" r:id="rId62"/>
    <p:sldId id="313" r:id="rId63"/>
    <p:sldId id="312" r:id="rId64"/>
    <p:sldId id="311" r:id="rId65"/>
    <p:sldId id="310" r:id="rId66"/>
    <p:sldId id="309" r:id="rId67"/>
    <p:sldId id="308" r:id="rId68"/>
    <p:sldId id="307" r:id="rId69"/>
    <p:sldId id="306" r:id="rId70"/>
    <p:sldId id="305" r:id="rId71"/>
    <p:sldId id="304" r:id="rId72"/>
    <p:sldId id="303" r:id="rId73"/>
    <p:sldId id="302" r:id="rId74"/>
    <p:sldId id="301" r:id="rId75"/>
    <p:sldId id="300" r:id="rId76"/>
    <p:sldId id="299" r:id="rId77"/>
    <p:sldId id="298" r:id="rId78"/>
    <p:sldId id="297" r:id="rId79"/>
    <p:sldId id="296" r:id="rId80"/>
    <p:sldId id="295" r:id="rId81"/>
    <p:sldId id="294" r:id="rId82"/>
    <p:sldId id="293" r:id="rId83"/>
    <p:sldId id="292" r:id="rId84"/>
    <p:sldId id="291" r:id="rId85"/>
    <p:sldId id="290" r:id="rId86"/>
    <p:sldId id="289" r:id="rId87"/>
    <p:sldId id="288" r:id="rId88"/>
    <p:sldId id="287" r:id="rId89"/>
    <p:sldId id="286" r:id="rId90"/>
    <p:sldId id="285" r:id="rId91"/>
    <p:sldId id="284" r:id="rId92"/>
    <p:sldId id="283" r:id="rId93"/>
    <p:sldId id="282" r:id="rId94"/>
    <p:sldId id="281" r:id="rId95"/>
    <p:sldId id="280" r:id="rId96"/>
    <p:sldId id="279" r:id="rId97"/>
    <p:sldId id="278" r:id="rId98"/>
    <p:sldId id="277" r:id="rId99"/>
    <p:sldId id="276" r:id="rId100"/>
    <p:sldId id="275" r:id="rId101"/>
    <p:sldId id="274" r:id="rId102"/>
    <p:sldId id="273" r:id="rId103"/>
    <p:sldId id="272" r:id="rId104"/>
    <p:sldId id="271" r:id="rId105"/>
    <p:sldId id="270" r:id="rId106"/>
    <p:sldId id="269" r:id="rId107"/>
    <p:sldId id="268" r:id="rId108"/>
    <p:sldId id="267" r:id="rId109"/>
    <p:sldId id="266" r:id="rId110"/>
    <p:sldId id="265" r:id="rId111"/>
    <p:sldId id="264" r:id="rId112"/>
    <p:sldId id="263" r:id="rId113"/>
    <p:sldId id="262" r:id="rId114"/>
    <p:sldId id="261" r:id="rId115"/>
    <p:sldId id="260" r:id="rId116"/>
    <p:sldId id="259" r:id="rId117"/>
    <p:sldId id="258" r:id="rId118"/>
    <p:sldId id="257" r:id="rId11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tableStyles" Target="tableStyles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presProps" Target="pres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viewProps" Target="viewProps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24.03.2026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6192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24.03.2026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318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24.03.2026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7393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24.03.2026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4089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24.03.2026</a:t>
            </a:fld>
            <a:endParaRPr lang="de-DE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7982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24.03.2026</a:t>
            </a:fld>
            <a:endParaRPr lang="de-DE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782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24.03.2026</a:t>
            </a:fld>
            <a:endParaRPr lang="de-DE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4095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24.03.2026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5816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24.03.2026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8576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24.03.2026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4469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24.03.2026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68423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411C66A-B0C1-7866-3D26-29AECA7A6C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D7513622-0E25-D27C-B56E-5F02BBA3DF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7E2AB8D-2E87-1D80-7E8E-3DE87022B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271AC-57B9-42F6-A82F-430D47D1FB54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62B23E6-7AFC-4519-0F56-4D06D921B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063B3F3-8769-6F7B-FEC4-E10F0FE31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7E2DB-F4FF-4776-8D08-CC7AA39C3F3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173908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521C64-FA1E-8945-57BB-EBC9F3E1D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0CB6B06-E4BA-9CD5-43D5-284D5EDD0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A5CF074-0183-72A1-EE86-ABF959235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271AC-57B9-42F6-A82F-430D47D1FB54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9E18A0C-6FEE-0DF4-2E3A-F5D511F73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B3F2827-C529-23AA-BC3A-F718C734B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7E2DB-F4FF-4776-8D08-CC7AA39C3F3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909944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B51AFE0-CE1F-1BBB-A8FE-5E1A6C7E5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F741322-2136-BE73-F3C9-0284E9DAF0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BDD83E5-9853-A50D-DDB7-885BB5BF4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271AC-57B9-42F6-A82F-430D47D1FB54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FAF9313-012B-2107-BDB1-0747BBFD9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A328B51-437C-79F8-8CFB-E006BB22D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7E2DB-F4FF-4776-8D08-CC7AA39C3F3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906340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27C9E0E-AECB-76B4-49AE-55C0CA0D8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10DFC74-D8BF-9633-822B-5F67DF39F4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FDC73C3-2A05-3BA7-ED76-8C3A440C64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9BABA24-DFE1-C1D0-9FD3-E5DF735A6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271AC-57B9-42F6-A82F-430D47D1FB54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FBD9E49-CECE-11E5-EFC3-DDAF5BAF4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7BBD9B3-F778-65E1-B3FA-7CE80C14C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7E2DB-F4FF-4776-8D08-CC7AA39C3F3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275160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FACB617-15AE-8FD2-B0E4-E7070FEA3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E19AF32-390E-819A-1ECC-D7674C291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B382BC5-E1AD-497C-F3C2-9D4C28310B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652B836-AF71-CDB6-F5B1-C1E212BD54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51442CC-FB1A-9FDF-6250-16AA259520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D80F8DA9-22EC-0D6F-3B5B-177D038C6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271AC-57B9-42F6-A82F-430D47D1FB54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B1F7D1D5-6548-F064-1853-A99AC1A5A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DB1C4147-34A9-F254-CD97-8B0B0D46D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7E2DB-F4FF-4776-8D08-CC7AA39C3F3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740091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AB8F660-5FAB-0706-57FD-238F93794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7EF1B78-C137-31EE-411A-63CA9B68B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271AC-57B9-42F6-A82F-430D47D1FB54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720C33A-D9F8-230E-80BC-6070D64DB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A75A252-4F7E-A574-BBD5-74949925A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7E2DB-F4FF-4776-8D08-CC7AA39C3F3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152966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2D6BC536-F4B2-4D94-2664-04549F9E0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271AC-57B9-42F6-A82F-430D47D1FB54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A31F2EE-89F2-DD90-BB32-DCE5120D4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FC5E6F0-EECD-8109-1050-8565F07B8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7E2DB-F4FF-4776-8D08-CC7AA39C3F3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621023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385FD8-40B9-A7D3-9A94-AFB291AF8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58B5F0B-1124-87FF-8AA1-C8DA6AF4F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2A423BB-4ABB-EEB4-698A-0F64E9E7EF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AB0BC1E-CFE1-A594-B10A-A4217C7B8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271AC-57B9-42F6-A82F-430D47D1FB54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187E49F-C309-4CE2-0983-EC9545D59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FB5A6BA-A572-8243-E1E5-45059927D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7E2DB-F4FF-4776-8D08-CC7AA39C3F3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874868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4D464F7-D228-FD5C-2FF0-6DC6C5747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B92E35FA-4ADB-04E9-A265-7A03C96AE3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9B6AE28-8F09-9536-754B-E5A67D4FEA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338B1BA-3048-6D75-DE88-45D778AB5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271AC-57B9-42F6-A82F-430D47D1FB54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A8DA03E-2831-51FC-E3B4-1F2FABF21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1DB1B3F-6E85-61CC-CA1A-FCA9E8222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7E2DB-F4FF-4776-8D08-CC7AA39C3F3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048917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957F892-C827-07B1-CD90-33732AC5F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AE4A31C-2935-1092-90D0-A666786B76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71052BA-2199-CFA1-5130-310ACF2BD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271AC-57B9-42F6-A82F-430D47D1FB54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050635D-C1B0-8120-0835-CED8BEA0C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3FD6E55-EF4D-9828-E631-F28B200AF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7E2DB-F4FF-4776-8D08-CC7AA39C3F3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83025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D6BF5F9E-C47B-428B-8A8E-B7622BF357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5479440-E149-2460-5D3F-E36BEF0D78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7DAA5A2-B373-F6DA-51E6-235FDB47F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271AC-57B9-42F6-A82F-430D47D1FB54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322361F-5C91-3E41-62FD-1C2ED7A1B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AA796F5-AFC0-B29F-0C3D-0AF29CAD4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7E2DB-F4FF-4776-8D08-CC7AA39C3F3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76324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4A8E5F-40E5-4553-9F3C-699F1A5B8145}" type="datetimeFigureOut">
              <a:rPr lang="de-DE" smtClean="0"/>
              <a:t>24.03.2026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1931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ACB31383-5659-2940-236C-F9346E91B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67A1E06-4FB4-3F20-564F-4FA29D5A1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DBC1E01-19BC-CF30-A5B1-1974D7E586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4271AC-57B9-42F6-A82F-430D47D1FB54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91BCDDF-DD4D-D38B-E8DE-90714829F9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D5B9393-E55B-8C2C-7636-1010066DE2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D7E2DB-F4FF-4776-8D08-CC7AA39C3F3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47420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1A212217-9D4F-4A22-037D-B2963AD47E4E}"/>
              </a:ext>
            </a:extLst>
          </p:cNvPr>
          <p:cNvSpPr txBox="1"/>
          <p:nvPr/>
        </p:nvSpPr>
        <p:spPr>
          <a:xfrm>
            <a:off x="282039" y="467234"/>
            <a:ext cx="3280558" cy="36689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kern="0" dirty="0">
                <a:solidFill>
                  <a:srgbClr val="374151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Struttura</a:t>
            </a:r>
            <a:endParaRPr lang="it-IT" kern="0" dirty="0">
              <a:solidFill>
                <a:srgbClr val="374151"/>
              </a:solidFill>
              <a:effectLst/>
              <a:latin typeface="Segoe UI" panose="020B05020402040202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Java Logo, symbol, meaning, history, PNG, brand">
            <a:extLst>
              <a:ext uri="{FF2B5EF4-FFF2-40B4-BE49-F238E27FC236}">
                <a16:creationId xmlns:a16="http://schemas.microsoft.com/office/drawing/2014/main" id="{D46019AA-70FE-F8F5-93CF-35CACE4F42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2597" y="1464293"/>
            <a:ext cx="4693388" cy="2628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32ACD2BC-3570-717E-2FE3-B1EB0DE0DF4B}"/>
              </a:ext>
            </a:extLst>
          </p:cNvPr>
          <p:cNvSpPr txBox="1"/>
          <p:nvPr/>
        </p:nvSpPr>
        <p:spPr>
          <a:xfrm>
            <a:off x="3717985" y="466015"/>
            <a:ext cx="3367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La struttura di un programma java</a:t>
            </a:r>
          </a:p>
        </p:txBody>
      </p:sp>
    </p:spTree>
    <p:extLst>
      <p:ext uri="{BB962C8B-B14F-4D97-AF65-F5344CB8AC3E}">
        <p14:creationId xmlns:p14="http://schemas.microsoft.com/office/powerpoint/2010/main" val="26827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Struttura di una applicazione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AC7B31C-D2C2-C243-DA32-83D492709768}"/>
              </a:ext>
            </a:extLst>
          </p:cNvPr>
          <p:cNvSpPr txBox="1"/>
          <p:nvPr/>
        </p:nvSpPr>
        <p:spPr>
          <a:xfrm>
            <a:off x="3396343" y="1019436"/>
            <a:ext cx="609797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dirty="0"/>
              <a:t>Il più semplice programma JAVA è realizzato con un semplice file di testo che definisce una classe. Una classe, la approfondiremo di più poi, è essenzialmente </a:t>
            </a:r>
            <a:br>
              <a:rPr lang="it-IT" dirty="0"/>
            </a:br>
            <a:r>
              <a:rPr lang="it-IT" dirty="0"/>
              <a:t>UN PROGRAMMA</a:t>
            </a:r>
            <a:b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</a:br>
            <a:endParaRPr lang="it-IT" dirty="0">
              <a:solidFill>
                <a:srgbClr val="050E17"/>
              </a:solidFill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893349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Struttura di una applicazione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AC7B31C-D2C2-C243-DA32-83D492709768}"/>
              </a:ext>
            </a:extLst>
          </p:cNvPr>
          <p:cNvSpPr txBox="1"/>
          <p:nvPr/>
        </p:nvSpPr>
        <p:spPr>
          <a:xfrm>
            <a:off x="3396343" y="1019436"/>
            <a:ext cx="609797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dirty="0"/>
              <a:t>Il più semplice programma JAVA è realizzato con un semplice file di testo che definisce una classe. Una classe, la approfondiremo di più poi, è essenzialmente </a:t>
            </a:r>
            <a:br>
              <a:rPr lang="it-IT" dirty="0"/>
            </a:br>
            <a:r>
              <a:rPr lang="it-IT" dirty="0"/>
              <a:t>UN PROGRAMMA</a:t>
            </a:r>
          </a:p>
          <a:p>
            <a:pPr algn="l"/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O</a:t>
            </a:r>
            <a:b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</a:b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UN PEZZO DI UN PROGRAMMA</a:t>
            </a:r>
            <a:b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</a:br>
            <a:endParaRPr lang="it-IT" dirty="0">
              <a:solidFill>
                <a:srgbClr val="050E17"/>
              </a:solidFill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702925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Struttura di una applicazione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AC7B31C-D2C2-C243-DA32-83D492709768}"/>
              </a:ext>
            </a:extLst>
          </p:cNvPr>
          <p:cNvSpPr txBox="1"/>
          <p:nvPr/>
        </p:nvSpPr>
        <p:spPr>
          <a:xfrm>
            <a:off x="3396343" y="1019436"/>
            <a:ext cx="609797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dirty="0"/>
              <a:t>Il più semplice programma JAVA è realizzato con un semplice file di testo che definisce una classe. Una classe, la approfondiremo di più poi, è essenzialmente </a:t>
            </a:r>
            <a:br>
              <a:rPr lang="it-IT" dirty="0"/>
            </a:br>
            <a:r>
              <a:rPr lang="it-IT" dirty="0"/>
              <a:t>UN PROGRAMMA</a:t>
            </a:r>
          </a:p>
          <a:p>
            <a:pPr algn="l"/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O</a:t>
            </a:r>
            <a:b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</a:b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UN PEZZO DI UN PROGRAMMA</a:t>
            </a:r>
            <a:b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</a:br>
            <a:endParaRPr lang="it-IT" b="0" i="0" dirty="0">
              <a:solidFill>
                <a:srgbClr val="050E17"/>
              </a:solidFill>
              <a:effectLst/>
              <a:latin typeface="-apple-system"/>
            </a:endParaRPr>
          </a:p>
          <a:p>
            <a:pPr algn="l"/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(i puristi dell’informatica potrebbero </a:t>
            </a:r>
            <a:r>
              <a:rPr lang="it-IT" dirty="0">
                <a:solidFill>
                  <a:srgbClr val="050E17"/>
                </a:solidFill>
                <a:latin typeface="-apple-system"/>
              </a:rPr>
              <a:t>storcere il naso, ma essenzialmente può essere vista così)</a:t>
            </a:r>
          </a:p>
        </p:txBody>
      </p:sp>
    </p:spTree>
    <p:extLst>
      <p:ext uri="{BB962C8B-B14F-4D97-AF65-F5344CB8AC3E}">
        <p14:creationId xmlns:p14="http://schemas.microsoft.com/office/powerpoint/2010/main" val="475591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Struttura di una applicazione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AC7B31C-D2C2-C243-DA32-83D492709768}"/>
              </a:ext>
            </a:extLst>
          </p:cNvPr>
          <p:cNvSpPr txBox="1"/>
          <p:nvPr/>
        </p:nvSpPr>
        <p:spPr>
          <a:xfrm>
            <a:off x="3396343" y="1019436"/>
            <a:ext cx="609797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dirty="0"/>
              <a:t>Il più semplice programma JAVA è realizzato con un semplice file di testo che definisce una classe. Una classe, la approfondiremo di più poi, è essenzialmente </a:t>
            </a:r>
            <a:br>
              <a:rPr lang="it-IT" dirty="0"/>
            </a:br>
            <a:r>
              <a:rPr lang="it-IT" dirty="0"/>
              <a:t>UN PROGRAMMA</a:t>
            </a:r>
          </a:p>
          <a:p>
            <a:pPr algn="l"/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O</a:t>
            </a:r>
            <a:b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</a:b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UN PEZZO DI UN PROGRAMMA</a:t>
            </a:r>
            <a:b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</a:br>
            <a:endParaRPr lang="it-IT" b="0" i="0" dirty="0">
              <a:solidFill>
                <a:srgbClr val="050E17"/>
              </a:solidFill>
              <a:effectLst/>
              <a:latin typeface="-apple-system"/>
            </a:endParaRPr>
          </a:p>
          <a:p>
            <a:pPr algn="l"/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(i puristi dell’informatica potrebbero </a:t>
            </a:r>
            <a:r>
              <a:rPr lang="it-IT" dirty="0">
                <a:solidFill>
                  <a:srgbClr val="050E17"/>
                </a:solidFill>
                <a:latin typeface="-apple-system"/>
              </a:rPr>
              <a:t>storcere il naso, ma essenzialmente può essere vista così)</a:t>
            </a:r>
          </a:p>
          <a:p>
            <a:pPr algn="l"/>
            <a:endParaRPr lang="it-IT" b="0" i="0" dirty="0">
              <a:solidFill>
                <a:srgbClr val="050E17"/>
              </a:solidFill>
              <a:effectLst/>
              <a:latin typeface="-apple-system"/>
            </a:endParaRPr>
          </a:p>
          <a:p>
            <a:pPr algn="l"/>
            <a:r>
              <a:rPr lang="it-IT" dirty="0">
                <a:solidFill>
                  <a:srgbClr val="050E17"/>
                </a:solidFill>
                <a:latin typeface="-apple-system"/>
              </a:rPr>
              <a:t>I file che vanno a comporre il codice del programma sono detti codice sorgente (così queste classi costituiscono tale codice)</a:t>
            </a:r>
            <a:endParaRPr lang="it-IT" b="0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829238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Struttura di una applicazione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In Java, un'applicazione è costituita da uno o più file di codice sorgente scritti in linguaggio Java. </a:t>
            </a:r>
          </a:p>
        </p:txBody>
      </p:sp>
    </p:spTree>
    <p:extLst>
      <p:ext uri="{BB962C8B-B14F-4D97-AF65-F5344CB8AC3E}">
        <p14:creationId xmlns:p14="http://schemas.microsoft.com/office/powerpoint/2010/main" val="948437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Struttura di una applicazione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In Java, un'applicazione è costituita da uno o più file di codice sorgente scritti in linguaggio Java. Il file principale dell'applicazione, contenente il codice sorgente che verrà eseguito all'avvio dell'applicazione, è solitamente chiamato "</a:t>
            </a:r>
            <a:r>
              <a:rPr lang="it-IT" dirty="0" err="1"/>
              <a:t>Main</a:t>
            </a:r>
            <a:r>
              <a:rPr lang="it-IT" dirty="0"/>
              <a:t>" o "Main.java".</a:t>
            </a:r>
          </a:p>
        </p:txBody>
      </p:sp>
    </p:spTree>
    <p:extLst>
      <p:ext uri="{BB962C8B-B14F-4D97-AF65-F5344CB8AC3E}">
        <p14:creationId xmlns:p14="http://schemas.microsoft.com/office/powerpoint/2010/main" val="2999971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Struttura di una applicazione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In Java, un'applicazione è costituita da uno o più file di codice sorgente scritti in linguaggio Java. Il file principale dell'applicazione, contenente il codice sorgente che verrà eseguito all'avvio dell'applicazione, è solitamente chiamato "</a:t>
            </a:r>
            <a:r>
              <a:rPr lang="it-IT" dirty="0" err="1"/>
              <a:t>Main</a:t>
            </a:r>
            <a:r>
              <a:rPr lang="it-IT" dirty="0"/>
              <a:t>" o "Main.java".</a:t>
            </a:r>
          </a:p>
          <a:p>
            <a:r>
              <a:rPr lang="it-IT" dirty="0"/>
              <a:t>Tuttavia non è obbligatorio che sia chiamato così, si tratta di un nome che associamo al programma. </a:t>
            </a:r>
          </a:p>
        </p:txBody>
      </p:sp>
    </p:spTree>
    <p:extLst>
      <p:ext uri="{BB962C8B-B14F-4D97-AF65-F5344CB8AC3E}">
        <p14:creationId xmlns:p14="http://schemas.microsoft.com/office/powerpoint/2010/main" val="1434504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Struttura di una applicazione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In Java, un'applicazione è costituita da uno o più file di codice sorgente scritti in linguaggio Java. Il file principale dell'applicazione, contenente il codice sorgente che verrà eseguito all'avvio dell'applicazione, è solitamente chiamato "</a:t>
            </a:r>
            <a:r>
              <a:rPr lang="it-IT" dirty="0" err="1"/>
              <a:t>Main</a:t>
            </a:r>
            <a:r>
              <a:rPr lang="it-IT" dirty="0"/>
              <a:t>" o "Main.java".</a:t>
            </a:r>
          </a:p>
          <a:p>
            <a:r>
              <a:rPr lang="it-IT" dirty="0"/>
              <a:t>Tuttavia non è obbligatorio che sia chiamato così, si tratta di un nome che associamo al programma. E’ convenzione usare la lettera maiuscola per le classi JAVA.</a:t>
            </a:r>
          </a:p>
          <a:p>
            <a:r>
              <a:rPr lang="it-IT" dirty="0"/>
              <a:t>Alle volte è usato anche il nome "App" (o "App.java"), ma d’altra parte il limite è solo la fantasia del programmatore.</a:t>
            </a:r>
          </a:p>
        </p:txBody>
      </p:sp>
    </p:spTree>
    <p:extLst>
      <p:ext uri="{BB962C8B-B14F-4D97-AF65-F5344CB8AC3E}">
        <p14:creationId xmlns:p14="http://schemas.microsoft.com/office/powerpoint/2010/main" val="908517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Struttura di una applicazione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In Java, un'applicazione è costituita da uno o più file di codice sorgente scritti in linguaggio Java. Il file principale dell'applicazione, contenente il codice sorgente che verrà eseguito all'avvio dell'applicazione, è solitamente chiamato "</a:t>
            </a:r>
            <a:r>
              <a:rPr lang="it-IT" dirty="0" err="1"/>
              <a:t>Main</a:t>
            </a:r>
            <a:r>
              <a:rPr lang="it-IT" dirty="0"/>
              <a:t>" o "Main.java".</a:t>
            </a:r>
          </a:p>
          <a:p>
            <a:r>
              <a:rPr lang="it-IT" dirty="0"/>
              <a:t>Tuttavia non è obbligatorio che sia chiamato così, si tratta di un nome che associamo al programma. E’ convenzione usare la lettera maiuscola per le classi JAVA.</a:t>
            </a:r>
          </a:p>
          <a:p>
            <a:r>
              <a:rPr lang="it-IT" dirty="0"/>
              <a:t>Alle volte è usato anche il nome "App" (o "App.java"), ma d’altra parte il limite è solo la fantasia del programmatore.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2595314-F0C7-3F28-BA22-0100E190C5C4}"/>
              </a:ext>
            </a:extLst>
          </p:cNvPr>
          <p:cNvSpPr txBox="1"/>
          <p:nvPr/>
        </p:nvSpPr>
        <p:spPr>
          <a:xfrm>
            <a:off x="3702132" y="2782669"/>
            <a:ext cx="86571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Essenzialmente i file di codice di programmazione JAVA sono queste classi e ce ne sono di eseguibili e non eseguibili. </a:t>
            </a:r>
          </a:p>
        </p:txBody>
      </p:sp>
    </p:spTree>
    <p:extLst>
      <p:ext uri="{BB962C8B-B14F-4D97-AF65-F5344CB8AC3E}">
        <p14:creationId xmlns:p14="http://schemas.microsoft.com/office/powerpoint/2010/main" val="2393689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Struttura di una applicazione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In Java, un'applicazione è costituita da uno o più file di codice sorgente scritti in linguaggio Java. Il file principale dell'applicazione, contenente il codice sorgente che verrà eseguito all'avvio dell'applicazione, è solitamente chiamato "</a:t>
            </a:r>
            <a:r>
              <a:rPr lang="it-IT" dirty="0" err="1"/>
              <a:t>Main</a:t>
            </a:r>
            <a:r>
              <a:rPr lang="it-IT" dirty="0"/>
              <a:t>" o "Main.java".</a:t>
            </a:r>
          </a:p>
          <a:p>
            <a:r>
              <a:rPr lang="it-IT" dirty="0"/>
              <a:t>Tuttavia non è obbligatorio che sia chiamato così, si tratta di un nome che associamo al programma. E’ convenzione usare la lettera maiuscola per le classi JAVA.</a:t>
            </a:r>
          </a:p>
          <a:p>
            <a:r>
              <a:rPr lang="it-IT" dirty="0"/>
              <a:t>Alle volte è usato anche il nome "App" (o "App.java"), ma d’altra parte il limite è solo la fantasia del programmatore.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2595314-F0C7-3F28-BA22-0100E190C5C4}"/>
              </a:ext>
            </a:extLst>
          </p:cNvPr>
          <p:cNvSpPr txBox="1"/>
          <p:nvPr/>
        </p:nvSpPr>
        <p:spPr>
          <a:xfrm>
            <a:off x="3702132" y="2782669"/>
            <a:ext cx="865711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Essenzialmente i file di codice di programmazione JAVA sono queste classi e ce ne sono di eseguibili e non eseguibili. </a:t>
            </a:r>
          </a:p>
          <a:p>
            <a:r>
              <a:rPr lang="it-IT" dirty="0"/>
              <a:t>Quando eseguibili sono i file principali (se non a volte l’unico) che fa funzionare il tutto.</a:t>
            </a:r>
          </a:p>
        </p:txBody>
      </p:sp>
    </p:spTree>
    <p:extLst>
      <p:ext uri="{BB962C8B-B14F-4D97-AF65-F5344CB8AC3E}">
        <p14:creationId xmlns:p14="http://schemas.microsoft.com/office/powerpoint/2010/main" val="1511678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8AA1A50-49AA-D09F-83AC-77847539105F}"/>
              </a:ext>
            </a:extLst>
          </p:cNvPr>
          <p:cNvSpPr txBox="1"/>
          <p:nvPr/>
        </p:nvSpPr>
        <p:spPr>
          <a:xfrm>
            <a:off x="3048719" y="1997839"/>
            <a:ext cx="609456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3000" dirty="0">
                <a:solidFill>
                  <a:srgbClr val="050E17"/>
                </a:solidFill>
                <a:latin typeface="-apple-system"/>
              </a:rPr>
              <a:t>Con JAVA è possibile realizzare diversi tipi di applicazioni:</a:t>
            </a:r>
          </a:p>
          <a:p>
            <a:pPr algn="l"/>
            <a:r>
              <a:rPr lang="it-IT" sz="3000" b="0" i="0" dirty="0">
                <a:solidFill>
                  <a:srgbClr val="050E17"/>
                </a:solidFill>
                <a:effectLst/>
                <a:latin typeface="-apple-system"/>
              </a:rPr>
              <a:t>- Applicazioni console</a:t>
            </a:r>
          </a:p>
          <a:p>
            <a:pPr algn="l"/>
            <a:r>
              <a:rPr lang="it-IT" sz="3000" dirty="0">
                <a:solidFill>
                  <a:srgbClr val="050E17"/>
                </a:solidFill>
                <a:latin typeface="-apple-system"/>
              </a:rPr>
              <a:t>- Applicazioni server</a:t>
            </a:r>
          </a:p>
          <a:p>
            <a:pPr algn="l"/>
            <a:r>
              <a:rPr lang="it-IT" sz="3000" b="0" i="0" dirty="0">
                <a:solidFill>
                  <a:srgbClr val="050E17"/>
                </a:solidFill>
                <a:effectLst/>
                <a:latin typeface="-apple-system"/>
              </a:rPr>
              <a:t>- A</a:t>
            </a:r>
            <a:r>
              <a:rPr lang="it-IT" sz="3000" dirty="0">
                <a:solidFill>
                  <a:srgbClr val="050E17"/>
                </a:solidFill>
                <a:latin typeface="-apple-system"/>
              </a:rPr>
              <a:t>pplicazioni grafiche generalmente a finestre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7B15A357-AFFD-E87E-292F-AD99D75B607B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dirty="0">
                <a:solidFill>
                  <a:srgbClr val="050E17"/>
                </a:solidFill>
                <a:latin typeface="-apple-system"/>
              </a:rPr>
              <a:t>Tipi di applicazioni JAVA</a:t>
            </a:r>
            <a:endParaRPr lang="it-IT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2A07367-ABE0-5060-2866-983AAADC431A}"/>
              </a:ext>
            </a:extLst>
          </p:cNvPr>
          <p:cNvSpPr txBox="1"/>
          <p:nvPr/>
        </p:nvSpPr>
        <p:spPr>
          <a:xfrm>
            <a:off x="282039" y="910785"/>
            <a:ext cx="3114304" cy="328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sz="1500" b="1" dirty="0">
                <a:solidFill>
                  <a:srgbClr val="050E17"/>
                </a:solidFill>
                <a:latin typeface="-apple-system"/>
              </a:rPr>
              <a:t>Le applicazioni che realizzeremo</a:t>
            </a:r>
            <a:endParaRPr lang="it-IT" sz="1500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514109EC-48FB-BE8C-ACA8-FEF6BD4A044D}"/>
              </a:ext>
            </a:extLst>
          </p:cNvPr>
          <p:cNvSpPr txBox="1"/>
          <p:nvPr/>
        </p:nvSpPr>
        <p:spPr>
          <a:xfrm>
            <a:off x="3597213" y="406003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Che tipo di applicazioni si possono realizzare?</a:t>
            </a:r>
          </a:p>
        </p:txBody>
      </p:sp>
    </p:spTree>
    <p:extLst>
      <p:ext uri="{BB962C8B-B14F-4D97-AF65-F5344CB8AC3E}">
        <p14:creationId xmlns:p14="http://schemas.microsoft.com/office/powerpoint/2010/main" val="3075504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dirty="0">
                <a:solidFill>
                  <a:srgbClr val="050E17"/>
                </a:solidFill>
                <a:latin typeface="-apple-system"/>
              </a:rPr>
              <a:t>Tipi di applicazioni JAVA</a:t>
            </a:r>
            <a:endParaRPr lang="it-IT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88AA1A50-49AA-D09F-83AC-77847539105F}"/>
              </a:ext>
            </a:extLst>
          </p:cNvPr>
          <p:cNvSpPr txBox="1"/>
          <p:nvPr/>
        </p:nvSpPr>
        <p:spPr>
          <a:xfrm>
            <a:off x="3599371" y="760402"/>
            <a:ext cx="60945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Un'applicazione console, o applicazione a riga di comando, è un tipo di programma informatico che viene eseguito da una shell o da un'interfaccia a riga di comando.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D5C44FF-8D85-42B6-D22D-013BEAA9DC3E}"/>
              </a:ext>
            </a:extLst>
          </p:cNvPr>
          <p:cNvSpPr txBox="1"/>
          <p:nvPr/>
        </p:nvSpPr>
        <p:spPr>
          <a:xfrm>
            <a:off x="282039" y="910785"/>
            <a:ext cx="3114304" cy="328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sz="1500" b="1" dirty="0">
                <a:solidFill>
                  <a:srgbClr val="050E17"/>
                </a:solidFill>
                <a:latin typeface="-apple-system"/>
              </a:rPr>
              <a:t>Le applicazioni che realizzeremo</a:t>
            </a:r>
            <a:endParaRPr lang="it-IT" sz="1500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091101A3-2FE2-8FBE-A855-2815A4DE53D9}"/>
              </a:ext>
            </a:extLst>
          </p:cNvPr>
          <p:cNvSpPr txBox="1"/>
          <p:nvPr/>
        </p:nvSpPr>
        <p:spPr>
          <a:xfrm>
            <a:off x="3597213" y="406003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Applicazioni console</a:t>
            </a:r>
          </a:p>
        </p:txBody>
      </p:sp>
      <p:pic>
        <p:nvPicPr>
          <p:cNvPr id="2050" name="Picture 2" descr="Java Console Apps Made Easy - CodeProject">
            <a:extLst>
              <a:ext uri="{FF2B5EF4-FFF2-40B4-BE49-F238E27FC236}">
                <a16:creationId xmlns:a16="http://schemas.microsoft.com/office/drawing/2014/main" id="{EED4CD5B-D90D-2B80-B1E5-1EFEE5597E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9140" y="1728445"/>
            <a:ext cx="5467350" cy="409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19184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8AA1A50-49AA-D09F-83AC-77847539105F}"/>
              </a:ext>
            </a:extLst>
          </p:cNvPr>
          <p:cNvSpPr txBox="1"/>
          <p:nvPr/>
        </p:nvSpPr>
        <p:spPr>
          <a:xfrm>
            <a:off x="3599371" y="760402"/>
            <a:ext cx="609456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A differenza delle applicazioni grafiche che hanno una interfaccia utente basata su finestre e icone, le applicazioni console sono basate su testo e richiedono all'utente di inserire i comandi attraverso la tastiera e di leggere l'output sullo schermo.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C9851F47-ECA4-0650-FF0B-876F9D42C69D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dirty="0">
                <a:solidFill>
                  <a:srgbClr val="050E17"/>
                </a:solidFill>
                <a:latin typeface="-apple-system"/>
              </a:rPr>
              <a:t>Tipi di applicazioni JAVA</a:t>
            </a:r>
            <a:endParaRPr lang="it-IT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C48EC9D-8689-518C-EB13-E97D9CB68FD8}"/>
              </a:ext>
            </a:extLst>
          </p:cNvPr>
          <p:cNvSpPr txBox="1"/>
          <p:nvPr/>
        </p:nvSpPr>
        <p:spPr>
          <a:xfrm>
            <a:off x="282039" y="910785"/>
            <a:ext cx="3114304" cy="328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sz="1500" b="1" dirty="0">
                <a:solidFill>
                  <a:srgbClr val="050E17"/>
                </a:solidFill>
                <a:latin typeface="-apple-system"/>
              </a:rPr>
              <a:t>Le applicazioni che realizzeremo</a:t>
            </a:r>
            <a:endParaRPr lang="it-IT" sz="1500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55C64C7-8A7A-56A9-25BD-C7A460F5A34C}"/>
              </a:ext>
            </a:extLst>
          </p:cNvPr>
          <p:cNvSpPr txBox="1"/>
          <p:nvPr/>
        </p:nvSpPr>
        <p:spPr>
          <a:xfrm>
            <a:off x="3597213" y="406003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Applicazioni console</a:t>
            </a:r>
          </a:p>
        </p:txBody>
      </p:sp>
      <p:pic>
        <p:nvPicPr>
          <p:cNvPr id="3074" name="Picture 2" descr="Archimede - Software per serramenti, infissi, finestre, porte">
            <a:extLst>
              <a:ext uri="{FF2B5EF4-FFF2-40B4-BE49-F238E27FC236}">
                <a16:creationId xmlns:a16="http://schemas.microsoft.com/office/drawing/2014/main" id="{1142F472-F0AA-6C70-F15C-7FA28D4008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6735" y="2224790"/>
            <a:ext cx="6096000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WEATHER DATA MANAGER in Java (Console Application)">
            <a:extLst>
              <a:ext uri="{FF2B5EF4-FFF2-40B4-BE49-F238E27FC236}">
                <a16:creationId xmlns:a16="http://schemas.microsoft.com/office/drawing/2014/main" id="{CB2A4EC8-049E-372A-10C9-75C1AF74A1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1135" y="2923166"/>
            <a:ext cx="3813144" cy="3528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15696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8AA1A50-49AA-D09F-83AC-77847539105F}"/>
              </a:ext>
            </a:extLst>
          </p:cNvPr>
          <p:cNvSpPr txBox="1"/>
          <p:nvPr/>
        </p:nvSpPr>
        <p:spPr>
          <a:xfrm>
            <a:off x="3048719" y="1997839"/>
            <a:ext cx="609456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3000" b="0" i="0" dirty="0">
                <a:solidFill>
                  <a:srgbClr val="050E17"/>
                </a:solidFill>
                <a:effectLst/>
                <a:latin typeface="-apple-system"/>
              </a:rPr>
              <a:t>Le applicazioni console sono spesso utilizzate per scopi specifici, ad esempio per l'automazione di processi, la gestione di file di sistema, la gestione di server e il debugging di software.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2411847B-396D-71D6-5124-D93D0F68B1F0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dirty="0">
                <a:solidFill>
                  <a:srgbClr val="050E17"/>
                </a:solidFill>
                <a:latin typeface="-apple-system"/>
              </a:rPr>
              <a:t>Tipi di applicazioni JAVA</a:t>
            </a:r>
            <a:endParaRPr lang="it-IT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9B1AC67-996C-C574-042B-31613F97E7FD}"/>
              </a:ext>
            </a:extLst>
          </p:cNvPr>
          <p:cNvSpPr txBox="1"/>
          <p:nvPr/>
        </p:nvSpPr>
        <p:spPr>
          <a:xfrm>
            <a:off x="282039" y="910785"/>
            <a:ext cx="3114304" cy="328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sz="1500" b="1" dirty="0">
                <a:solidFill>
                  <a:srgbClr val="050E17"/>
                </a:solidFill>
                <a:latin typeface="-apple-system"/>
              </a:rPr>
              <a:t>Le applicazioni che realizzeremo</a:t>
            </a:r>
            <a:endParaRPr lang="it-IT" sz="1500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F630D6C-D810-493F-010E-823DAC911AF2}"/>
              </a:ext>
            </a:extLst>
          </p:cNvPr>
          <p:cNvSpPr txBox="1"/>
          <p:nvPr/>
        </p:nvSpPr>
        <p:spPr>
          <a:xfrm>
            <a:off x="3597213" y="406003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Applicazioni console</a:t>
            </a:r>
          </a:p>
        </p:txBody>
      </p:sp>
    </p:spTree>
    <p:extLst>
      <p:ext uri="{BB962C8B-B14F-4D97-AF65-F5344CB8AC3E}">
        <p14:creationId xmlns:p14="http://schemas.microsoft.com/office/powerpoint/2010/main" val="13000991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8AA1A50-49AA-D09F-83AC-77847539105F}"/>
              </a:ext>
            </a:extLst>
          </p:cNvPr>
          <p:cNvSpPr txBox="1"/>
          <p:nvPr/>
        </p:nvSpPr>
        <p:spPr>
          <a:xfrm>
            <a:off x="3048719" y="1305341"/>
            <a:ext cx="609456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3000" b="0" i="0" dirty="0">
                <a:solidFill>
                  <a:srgbClr val="050E17"/>
                </a:solidFill>
                <a:effectLst/>
                <a:latin typeface="-apple-system"/>
              </a:rPr>
              <a:t>Esempi di applicazioni console includono il prompt dei comandi di Windows, il terminale di </a:t>
            </a:r>
            <a:r>
              <a:rPr lang="it-IT" sz="3000" b="0" i="0" dirty="0" err="1">
                <a:solidFill>
                  <a:srgbClr val="050E17"/>
                </a:solidFill>
                <a:effectLst/>
                <a:latin typeface="-apple-system"/>
              </a:rPr>
              <a:t>macOS</a:t>
            </a:r>
            <a:r>
              <a:rPr lang="it-IT" sz="3000" b="0" i="0" dirty="0">
                <a:solidFill>
                  <a:srgbClr val="050E17"/>
                </a:solidFill>
                <a:effectLst/>
                <a:latin typeface="-apple-system"/>
              </a:rPr>
              <a:t> e la shell Bash di Linux. Le applicazioni console possono anche essere eseguite in modalità batch, senza interazione manuale, utilizzando file di script che contengono una serie di comandi predefiniti.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A618A72-719C-0BC8-0F2E-6DF0E9CA968B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dirty="0">
                <a:solidFill>
                  <a:srgbClr val="050E17"/>
                </a:solidFill>
                <a:latin typeface="-apple-system"/>
              </a:rPr>
              <a:t>Tipi di applicazioni JAVA</a:t>
            </a:r>
            <a:endParaRPr lang="it-IT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8403792-0BE6-370F-C081-CB6FCBF15395}"/>
              </a:ext>
            </a:extLst>
          </p:cNvPr>
          <p:cNvSpPr txBox="1"/>
          <p:nvPr/>
        </p:nvSpPr>
        <p:spPr>
          <a:xfrm>
            <a:off x="282039" y="910785"/>
            <a:ext cx="3114304" cy="328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sz="1500" b="1" dirty="0">
                <a:solidFill>
                  <a:srgbClr val="050E17"/>
                </a:solidFill>
                <a:latin typeface="-apple-system"/>
              </a:rPr>
              <a:t>Le applicazioni che realizzeremo</a:t>
            </a:r>
            <a:endParaRPr lang="it-IT" sz="1500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7CA0C1C-F6C1-0314-1E6F-5FC6412EBA28}"/>
              </a:ext>
            </a:extLst>
          </p:cNvPr>
          <p:cNvSpPr txBox="1"/>
          <p:nvPr/>
        </p:nvSpPr>
        <p:spPr>
          <a:xfrm>
            <a:off x="3597213" y="406003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Applicazioni console</a:t>
            </a:r>
          </a:p>
        </p:txBody>
      </p:sp>
    </p:spTree>
    <p:extLst>
      <p:ext uri="{BB962C8B-B14F-4D97-AF65-F5344CB8AC3E}">
        <p14:creationId xmlns:p14="http://schemas.microsoft.com/office/powerpoint/2010/main" val="27713666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8AA1A50-49AA-D09F-83AC-77847539105F}"/>
              </a:ext>
            </a:extLst>
          </p:cNvPr>
          <p:cNvSpPr txBox="1"/>
          <p:nvPr/>
        </p:nvSpPr>
        <p:spPr>
          <a:xfrm>
            <a:off x="3048719" y="2397948"/>
            <a:ext cx="609456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3200" b="0" i="0" dirty="0">
                <a:solidFill>
                  <a:srgbClr val="050E17"/>
                </a:solidFill>
                <a:effectLst/>
                <a:latin typeface="-apple-system"/>
              </a:rPr>
              <a:t>Le applicazioni a finestra in Java sono programmi che utilizzano una interfaccia grafica utente (GUI) basata su finestre.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A618A72-719C-0BC8-0F2E-6DF0E9CA968B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dirty="0">
                <a:solidFill>
                  <a:srgbClr val="050E17"/>
                </a:solidFill>
                <a:latin typeface="-apple-system"/>
              </a:rPr>
              <a:t>Tipi di applicazioni JAVA</a:t>
            </a:r>
            <a:endParaRPr lang="it-IT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8403792-0BE6-370F-C081-CB6FCBF15395}"/>
              </a:ext>
            </a:extLst>
          </p:cNvPr>
          <p:cNvSpPr txBox="1"/>
          <p:nvPr/>
        </p:nvSpPr>
        <p:spPr>
          <a:xfrm>
            <a:off x="282039" y="910785"/>
            <a:ext cx="3114304" cy="328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sz="1500" b="1" dirty="0">
                <a:solidFill>
                  <a:srgbClr val="050E17"/>
                </a:solidFill>
                <a:latin typeface="-apple-system"/>
              </a:rPr>
              <a:t>Le applicazioni che realizzeremo</a:t>
            </a:r>
            <a:endParaRPr lang="it-IT" sz="1500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7CA0C1C-F6C1-0314-1E6F-5FC6412EBA28}"/>
              </a:ext>
            </a:extLst>
          </p:cNvPr>
          <p:cNvSpPr txBox="1"/>
          <p:nvPr/>
        </p:nvSpPr>
        <p:spPr>
          <a:xfrm>
            <a:off x="3597213" y="406003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Applicazioni a finestra</a:t>
            </a:r>
          </a:p>
        </p:txBody>
      </p:sp>
    </p:spTree>
    <p:extLst>
      <p:ext uri="{BB962C8B-B14F-4D97-AF65-F5344CB8AC3E}">
        <p14:creationId xmlns:p14="http://schemas.microsoft.com/office/powerpoint/2010/main" val="5410180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8AA1A50-49AA-D09F-83AC-77847539105F}"/>
              </a:ext>
            </a:extLst>
          </p:cNvPr>
          <p:cNvSpPr txBox="1"/>
          <p:nvPr/>
        </p:nvSpPr>
        <p:spPr>
          <a:xfrm>
            <a:off x="3048719" y="2397948"/>
            <a:ext cx="609456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3200" b="0" i="0" dirty="0">
                <a:solidFill>
                  <a:srgbClr val="050E17"/>
                </a:solidFill>
                <a:effectLst/>
                <a:latin typeface="-apple-system"/>
              </a:rPr>
              <a:t>Le finestre sono elementi grafici dell'interfaccia utente che possono contenere bottoni, caselle di testo, menu, elenchi e altri controlli. 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A618A72-719C-0BC8-0F2E-6DF0E9CA968B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dirty="0">
                <a:solidFill>
                  <a:srgbClr val="050E17"/>
                </a:solidFill>
                <a:latin typeface="-apple-system"/>
              </a:rPr>
              <a:t>Tipi di applicazioni JAVA</a:t>
            </a:r>
            <a:endParaRPr lang="it-IT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8403792-0BE6-370F-C081-CB6FCBF15395}"/>
              </a:ext>
            </a:extLst>
          </p:cNvPr>
          <p:cNvSpPr txBox="1"/>
          <p:nvPr/>
        </p:nvSpPr>
        <p:spPr>
          <a:xfrm>
            <a:off x="282039" y="910785"/>
            <a:ext cx="3114304" cy="328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sz="1500" b="1" dirty="0">
                <a:solidFill>
                  <a:srgbClr val="050E17"/>
                </a:solidFill>
                <a:latin typeface="-apple-system"/>
              </a:rPr>
              <a:t>Le applicazioni che realizzeremo</a:t>
            </a:r>
            <a:endParaRPr lang="it-IT" sz="1500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7CA0C1C-F6C1-0314-1E6F-5FC6412EBA28}"/>
              </a:ext>
            </a:extLst>
          </p:cNvPr>
          <p:cNvSpPr txBox="1"/>
          <p:nvPr/>
        </p:nvSpPr>
        <p:spPr>
          <a:xfrm>
            <a:off x="3597213" y="406003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Applicazioni a finestra</a:t>
            </a:r>
          </a:p>
        </p:txBody>
      </p:sp>
    </p:spTree>
    <p:extLst>
      <p:ext uri="{BB962C8B-B14F-4D97-AF65-F5344CB8AC3E}">
        <p14:creationId xmlns:p14="http://schemas.microsoft.com/office/powerpoint/2010/main" val="32613053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8AA1A50-49AA-D09F-83AC-77847539105F}"/>
              </a:ext>
            </a:extLst>
          </p:cNvPr>
          <p:cNvSpPr txBox="1"/>
          <p:nvPr/>
        </p:nvSpPr>
        <p:spPr>
          <a:xfrm>
            <a:off x="3048719" y="2397948"/>
            <a:ext cx="609456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3200" b="0" i="0" dirty="0">
                <a:solidFill>
                  <a:srgbClr val="050E17"/>
                </a:solidFill>
                <a:effectLst/>
                <a:latin typeface="-apple-system"/>
              </a:rPr>
              <a:t>Gli utenti possono interagire con questi controlli per inserire dati, visualizzare informazioni e avviare azioni.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A618A72-719C-0BC8-0F2E-6DF0E9CA968B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dirty="0">
                <a:solidFill>
                  <a:srgbClr val="050E17"/>
                </a:solidFill>
                <a:latin typeface="-apple-system"/>
              </a:rPr>
              <a:t>Tipi di applicazioni JAVA</a:t>
            </a:r>
            <a:endParaRPr lang="it-IT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8403792-0BE6-370F-C081-CB6FCBF15395}"/>
              </a:ext>
            </a:extLst>
          </p:cNvPr>
          <p:cNvSpPr txBox="1"/>
          <p:nvPr/>
        </p:nvSpPr>
        <p:spPr>
          <a:xfrm>
            <a:off x="282039" y="910785"/>
            <a:ext cx="3114304" cy="328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sz="1500" b="1" dirty="0">
                <a:solidFill>
                  <a:srgbClr val="050E17"/>
                </a:solidFill>
                <a:latin typeface="-apple-system"/>
              </a:rPr>
              <a:t>Le applicazioni che realizzeremo</a:t>
            </a:r>
            <a:endParaRPr lang="it-IT" sz="1500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7CA0C1C-F6C1-0314-1E6F-5FC6412EBA28}"/>
              </a:ext>
            </a:extLst>
          </p:cNvPr>
          <p:cNvSpPr txBox="1"/>
          <p:nvPr/>
        </p:nvSpPr>
        <p:spPr>
          <a:xfrm>
            <a:off x="3597213" y="406003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Applicazioni a finestra</a:t>
            </a:r>
          </a:p>
        </p:txBody>
      </p:sp>
    </p:spTree>
    <p:extLst>
      <p:ext uri="{BB962C8B-B14F-4D97-AF65-F5344CB8AC3E}">
        <p14:creationId xmlns:p14="http://schemas.microsoft.com/office/powerpoint/2010/main" val="17338977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8AA1A50-49AA-D09F-83AC-77847539105F}"/>
              </a:ext>
            </a:extLst>
          </p:cNvPr>
          <p:cNvSpPr txBox="1"/>
          <p:nvPr/>
        </p:nvSpPr>
        <p:spPr>
          <a:xfrm>
            <a:off x="3048719" y="2397948"/>
            <a:ext cx="609456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3200" b="0" i="0" dirty="0">
                <a:solidFill>
                  <a:srgbClr val="050E17"/>
                </a:solidFill>
                <a:effectLst/>
                <a:latin typeface="-apple-system"/>
              </a:rPr>
              <a:t>Java fornisce numerosi componenti per la creazione di finestre e altri elementi dell'interfaccia utente, attraverso il framework Swing. 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A618A72-719C-0BC8-0F2E-6DF0E9CA968B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dirty="0">
                <a:solidFill>
                  <a:srgbClr val="050E17"/>
                </a:solidFill>
                <a:latin typeface="-apple-system"/>
              </a:rPr>
              <a:t>Tipi di applicazioni JAVA</a:t>
            </a:r>
            <a:endParaRPr lang="it-IT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8403792-0BE6-370F-C081-CB6FCBF15395}"/>
              </a:ext>
            </a:extLst>
          </p:cNvPr>
          <p:cNvSpPr txBox="1"/>
          <p:nvPr/>
        </p:nvSpPr>
        <p:spPr>
          <a:xfrm>
            <a:off x="282039" y="910785"/>
            <a:ext cx="3114304" cy="328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sz="1500" b="1" dirty="0">
                <a:solidFill>
                  <a:srgbClr val="050E17"/>
                </a:solidFill>
                <a:latin typeface="-apple-system"/>
              </a:rPr>
              <a:t>Le applicazioni che realizzeremo</a:t>
            </a:r>
            <a:endParaRPr lang="it-IT" sz="1500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7CA0C1C-F6C1-0314-1E6F-5FC6412EBA28}"/>
              </a:ext>
            </a:extLst>
          </p:cNvPr>
          <p:cNvSpPr txBox="1"/>
          <p:nvPr/>
        </p:nvSpPr>
        <p:spPr>
          <a:xfrm>
            <a:off x="3597213" y="406003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Applicazioni a finestra</a:t>
            </a:r>
          </a:p>
        </p:txBody>
      </p:sp>
    </p:spTree>
    <p:extLst>
      <p:ext uri="{BB962C8B-B14F-4D97-AF65-F5344CB8AC3E}">
        <p14:creationId xmlns:p14="http://schemas.microsoft.com/office/powerpoint/2010/main" val="13396360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8AA1A50-49AA-D09F-83AC-77847539105F}"/>
              </a:ext>
            </a:extLst>
          </p:cNvPr>
          <p:cNvSpPr txBox="1"/>
          <p:nvPr/>
        </p:nvSpPr>
        <p:spPr>
          <a:xfrm>
            <a:off x="3048719" y="2644170"/>
            <a:ext cx="609456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3200" b="0" i="0" dirty="0">
                <a:solidFill>
                  <a:srgbClr val="050E17"/>
                </a:solidFill>
                <a:effectLst/>
                <a:latin typeface="-apple-system"/>
              </a:rPr>
              <a:t>Gli sviluppatori possono utilizzare Swing per creare applicazioni a finestra personalizzate e flessibili.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A618A72-719C-0BC8-0F2E-6DF0E9CA968B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dirty="0">
                <a:solidFill>
                  <a:srgbClr val="050E17"/>
                </a:solidFill>
                <a:latin typeface="-apple-system"/>
              </a:rPr>
              <a:t>Tipi di applicazioni JAVA</a:t>
            </a:r>
            <a:endParaRPr lang="it-IT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8403792-0BE6-370F-C081-CB6FCBF15395}"/>
              </a:ext>
            </a:extLst>
          </p:cNvPr>
          <p:cNvSpPr txBox="1"/>
          <p:nvPr/>
        </p:nvSpPr>
        <p:spPr>
          <a:xfrm>
            <a:off x="282039" y="910785"/>
            <a:ext cx="3114304" cy="328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sz="1500" b="1" dirty="0">
                <a:solidFill>
                  <a:srgbClr val="050E17"/>
                </a:solidFill>
                <a:latin typeface="-apple-system"/>
              </a:rPr>
              <a:t>Le applicazioni che realizzeremo</a:t>
            </a:r>
            <a:endParaRPr lang="it-IT" sz="1500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7CA0C1C-F6C1-0314-1E6F-5FC6412EBA28}"/>
              </a:ext>
            </a:extLst>
          </p:cNvPr>
          <p:cNvSpPr txBox="1"/>
          <p:nvPr/>
        </p:nvSpPr>
        <p:spPr>
          <a:xfrm>
            <a:off x="3597213" y="406003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Applicazioni a finestra</a:t>
            </a:r>
          </a:p>
        </p:txBody>
      </p:sp>
    </p:spTree>
    <p:extLst>
      <p:ext uri="{BB962C8B-B14F-4D97-AF65-F5344CB8AC3E}">
        <p14:creationId xmlns:p14="http://schemas.microsoft.com/office/powerpoint/2010/main" val="24399978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8AA1A50-49AA-D09F-83AC-77847539105F}"/>
              </a:ext>
            </a:extLst>
          </p:cNvPr>
          <p:cNvSpPr txBox="1"/>
          <p:nvPr/>
        </p:nvSpPr>
        <p:spPr>
          <a:xfrm>
            <a:off x="3048719" y="2151727"/>
            <a:ext cx="609456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3200" b="0" i="0" dirty="0">
                <a:solidFill>
                  <a:srgbClr val="050E17"/>
                </a:solidFill>
                <a:effectLst/>
                <a:latin typeface="-apple-system"/>
              </a:rPr>
              <a:t>Le applicazioni a finestra in Java possono essere eseguite su diverse piattaforme, inclusi Windows, Linux e </a:t>
            </a:r>
            <a:r>
              <a:rPr lang="it-IT" sz="3200" b="0" i="0" dirty="0" err="1">
                <a:solidFill>
                  <a:srgbClr val="050E17"/>
                </a:solidFill>
                <a:effectLst/>
                <a:latin typeface="-apple-system"/>
              </a:rPr>
              <a:t>macOS</a:t>
            </a:r>
            <a:r>
              <a:rPr lang="it-IT" sz="3200" b="0" i="0" dirty="0">
                <a:solidFill>
                  <a:srgbClr val="050E17"/>
                </a:solidFill>
                <a:effectLst/>
                <a:latin typeface="-apple-system"/>
              </a:rPr>
              <a:t>, senza dover modificare il codice sorgente. 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A618A72-719C-0BC8-0F2E-6DF0E9CA968B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dirty="0">
                <a:solidFill>
                  <a:srgbClr val="050E17"/>
                </a:solidFill>
                <a:latin typeface="-apple-system"/>
              </a:rPr>
              <a:t>Tipi di applicazioni JAVA</a:t>
            </a:r>
            <a:endParaRPr lang="it-IT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8403792-0BE6-370F-C081-CB6FCBF15395}"/>
              </a:ext>
            </a:extLst>
          </p:cNvPr>
          <p:cNvSpPr txBox="1"/>
          <p:nvPr/>
        </p:nvSpPr>
        <p:spPr>
          <a:xfrm>
            <a:off x="282039" y="910785"/>
            <a:ext cx="3114304" cy="328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sz="1500" b="1" dirty="0">
                <a:solidFill>
                  <a:srgbClr val="050E17"/>
                </a:solidFill>
                <a:latin typeface="-apple-system"/>
              </a:rPr>
              <a:t>Le applicazioni che realizzeremo</a:t>
            </a:r>
            <a:endParaRPr lang="it-IT" sz="1500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7CA0C1C-F6C1-0314-1E6F-5FC6412EBA28}"/>
              </a:ext>
            </a:extLst>
          </p:cNvPr>
          <p:cNvSpPr txBox="1"/>
          <p:nvPr/>
        </p:nvSpPr>
        <p:spPr>
          <a:xfrm>
            <a:off x="3597213" y="406003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Applicazioni a finestra</a:t>
            </a:r>
          </a:p>
        </p:txBody>
      </p:sp>
    </p:spTree>
    <p:extLst>
      <p:ext uri="{BB962C8B-B14F-4D97-AF65-F5344CB8AC3E}">
        <p14:creationId xmlns:p14="http://schemas.microsoft.com/office/powerpoint/2010/main" val="6919513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8AA1A50-49AA-D09F-83AC-77847539105F}"/>
              </a:ext>
            </a:extLst>
          </p:cNvPr>
          <p:cNvSpPr txBox="1"/>
          <p:nvPr/>
        </p:nvSpPr>
        <p:spPr>
          <a:xfrm>
            <a:off x="3048719" y="1905506"/>
            <a:ext cx="609456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3200" b="0" i="0" dirty="0">
                <a:solidFill>
                  <a:srgbClr val="050E17"/>
                </a:solidFill>
                <a:effectLst/>
                <a:latin typeface="-apple-system"/>
              </a:rPr>
              <a:t>Inoltre, Java fornisce un elevato livello di portabilità del codice, il che significa che gli sviluppatori possono scrivere un'applicazione una volta e farla funzionare su diverse piattaforme.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A618A72-719C-0BC8-0F2E-6DF0E9CA968B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dirty="0">
                <a:solidFill>
                  <a:srgbClr val="050E17"/>
                </a:solidFill>
                <a:latin typeface="-apple-system"/>
              </a:rPr>
              <a:t>Tipi di applicazioni JAVA</a:t>
            </a:r>
            <a:endParaRPr lang="it-IT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8403792-0BE6-370F-C081-CB6FCBF15395}"/>
              </a:ext>
            </a:extLst>
          </p:cNvPr>
          <p:cNvSpPr txBox="1"/>
          <p:nvPr/>
        </p:nvSpPr>
        <p:spPr>
          <a:xfrm>
            <a:off x="282039" y="910785"/>
            <a:ext cx="3114304" cy="328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sz="1500" b="1" dirty="0">
                <a:solidFill>
                  <a:srgbClr val="050E17"/>
                </a:solidFill>
                <a:latin typeface="-apple-system"/>
              </a:rPr>
              <a:t>Le applicazioni che realizzeremo</a:t>
            </a:r>
            <a:endParaRPr lang="it-IT" sz="1500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7CA0C1C-F6C1-0314-1E6F-5FC6412EBA28}"/>
              </a:ext>
            </a:extLst>
          </p:cNvPr>
          <p:cNvSpPr txBox="1"/>
          <p:nvPr/>
        </p:nvSpPr>
        <p:spPr>
          <a:xfrm>
            <a:off x="3597213" y="406003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Applicazioni a finestra</a:t>
            </a:r>
          </a:p>
        </p:txBody>
      </p:sp>
    </p:spTree>
    <p:extLst>
      <p:ext uri="{BB962C8B-B14F-4D97-AF65-F5344CB8AC3E}">
        <p14:creationId xmlns:p14="http://schemas.microsoft.com/office/powerpoint/2010/main" val="23334778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8AA1A50-49AA-D09F-83AC-77847539105F}"/>
              </a:ext>
            </a:extLst>
          </p:cNvPr>
          <p:cNvSpPr txBox="1"/>
          <p:nvPr/>
        </p:nvSpPr>
        <p:spPr>
          <a:xfrm>
            <a:off x="3048719" y="2151727"/>
            <a:ext cx="609456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3200" b="0" i="0" dirty="0">
                <a:solidFill>
                  <a:srgbClr val="050E17"/>
                </a:solidFill>
                <a:effectLst/>
                <a:latin typeface="-apple-system"/>
              </a:rPr>
              <a:t>Le applicazioni a finestra in Java sono utilizzate in una vasta gamma di applicazioni, tra cui applicazioni desktop, applicazioni web e applicazioni mobili.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A618A72-719C-0BC8-0F2E-6DF0E9CA968B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dirty="0">
                <a:solidFill>
                  <a:srgbClr val="050E17"/>
                </a:solidFill>
                <a:latin typeface="-apple-system"/>
              </a:rPr>
              <a:t>Tipi di applicazioni JAVA</a:t>
            </a:r>
            <a:endParaRPr lang="it-IT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8403792-0BE6-370F-C081-CB6FCBF15395}"/>
              </a:ext>
            </a:extLst>
          </p:cNvPr>
          <p:cNvSpPr txBox="1"/>
          <p:nvPr/>
        </p:nvSpPr>
        <p:spPr>
          <a:xfrm>
            <a:off x="282039" y="910785"/>
            <a:ext cx="3114304" cy="328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sz="1500" b="1" dirty="0">
                <a:solidFill>
                  <a:srgbClr val="050E17"/>
                </a:solidFill>
                <a:latin typeface="-apple-system"/>
              </a:rPr>
              <a:t>Le applicazioni che realizzeremo</a:t>
            </a:r>
            <a:endParaRPr lang="it-IT" sz="1500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7CA0C1C-F6C1-0314-1E6F-5FC6412EBA28}"/>
              </a:ext>
            </a:extLst>
          </p:cNvPr>
          <p:cNvSpPr txBox="1"/>
          <p:nvPr/>
        </p:nvSpPr>
        <p:spPr>
          <a:xfrm>
            <a:off x="3597213" y="406003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Applicazioni a finestra</a:t>
            </a:r>
          </a:p>
        </p:txBody>
      </p:sp>
    </p:spTree>
    <p:extLst>
      <p:ext uri="{BB962C8B-B14F-4D97-AF65-F5344CB8AC3E}">
        <p14:creationId xmlns:p14="http://schemas.microsoft.com/office/powerpoint/2010/main" val="31007650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8AA1A50-49AA-D09F-83AC-77847539105F}"/>
              </a:ext>
            </a:extLst>
          </p:cNvPr>
          <p:cNvSpPr txBox="1"/>
          <p:nvPr/>
        </p:nvSpPr>
        <p:spPr>
          <a:xfrm>
            <a:off x="3048719" y="2459504"/>
            <a:ext cx="609456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3000" b="0" i="0" dirty="0">
                <a:solidFill>
                  <a:srgbClr val="050E17"/>
                </a:solidFill>
                <a:effectLst/>
                <a:latin typeface="-apple-system"/>
              </a:rPr>
              <a:t>Le applicazioni server in Java sono programmi che forniscono servizi o risorse a client o altre applicazioni attraverso una rete.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A618A72-719C-0BC8-0F2E-6DF0E9CA968B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dirty="0">
                <a:solidFill>
                  <a:srgbClr val="050E17"/>
                </a:solidFill>
                <a:latin typeface="-apple-system"/>
              </a:rPr>
              <a:t>Tipi di applicazioni JAVA</a:t>
            </a:r>
            <a:endParaRPr lang="it-IT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8403792-0BE6-370F-C081-CB6FCBF15395}"/>
              </a:ext>
            </a:extLst>
          </p:cNvPr>
          <p:cNvSpPr txBox="1"/>
          <p:nvPr/>
        </p:nvSpPr>
        <p:spPr>
          <a:xfrm>
            <a:off x="282039" y="910785"/>
            <a:ext cx="3114304" cy="328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sz="1500" b="1" dirty="0">
                <a:solidFill>
                  <a:srgbClr val="050E17"/>
                </a:solidFill>
                <a:latin typeface="-apple-system"/>
              </a:rPr>
              <a:t>Le applicazioni che realizzeremo</a:t>
            </a:r>
            <a:endParaRPr lang="it-IT" sz="1500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7CA0C1C-F6C1-0314-1E6F-5FC6412EBA28}"/>
              </a:ext>
            </a:extLst>
          </p:cNvPr>
          <p:cNvSpPr txBox="1"/>
          <p:nvPr/>
        </p:nvSpPr>
        <p:spPr>
          <a:xfrm>
            <a:off x="3597213" y="406003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Applicazioni Server</a:t>
            </a:r>
          </a:p>
        </p:txBody>
      </p:sp>
    </p:spTree>
    <p:extLst>
      <p:ext uri="{BB962C8B-B14F-4D97-AF65-F5344CB8AC3E}">
        <p14:creationId xmlns:p14="http://schemas.microsoft.com/office/powerpoint/2010/main" val="1805623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8AA1A50-49AA-D09F-83AC-77847539105F}"/>
              </a:ext>
            </a:extLst>
          </p:cNvPr>
          <p:cNvSpPr txBox="1"/>
          <p:nvPr/>
        </p:nvSpPr>
        <p:spPr>
          <a:xfrm>
            <a:off x="3048719" y="1767006"/>
            <a:ext cx="6094562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3000" b="0" i="0" dirty="0">
                <a:solidFill>
                  <a:srgbClr val="050E17"/>
                </a:solidFill>
                <a:effectLst/>
                <a:latin typeface="-apple-system"/>
              </a:rPr>
              <a:t>Un'applicazione server in Java può gestire diverse richieste dai client contemporaneamente e può eseguire operazioni complesse come l'elaborazione di dati, il recupero di informazioni da un database o la gestione di connessioni di rete.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A618A72-719C-0BC8-0F2E-6DF0E9CA968B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dirty="0">
                <a:solidFill>
                  <a:srgbClr val="050E17"/>
                </a:solidFill>
                <a:latin typeface="-apple-system"/>
              </a:rPr>
              <a:t>Tipi di applicazioni JAVA</a:t>
            </a:r>
            <a:endParaRPr lang="it-IT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8403792-0BE6-370F-C081-CB6FCBF15395}"/>
              </a:ext>
            </a:extLst>
          </p:cNvPr>
          <p:cNvSpPr txBox="1"/>
          <p:nvPr/>
        </p:nvSpPr>
        <p:spPr>
          <a:xfrm>
            <a:off x="282039" y="910785"/>
            <a:ext cx="3114304" cy="328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sz="1500" b="1" dirty="0">
                <a:solidFill>
                  <a:srgbClr val="050E17"/>
                </a:solidFill>
                <a:latin typeface="-apple-system"/>
              </a:rPr>
              <a:t>Le applicazioni che realizzeremo</a:t>
            </a:r>
            <a:endParaRPr lang="it-IT" sz="1500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7CA0C1C-F6C1-0314-1E6F-5FC6412EBA28}"/>
              </a:ext>
            </a:extLst>
          </p:cNvPr>
          <p:cNvSpPr txBox="1"/>
          <p:nvPr/>
        </p:nvSpPr>
        <p:spPr>
          <a:xfrm>
            <a:off x="3597213" y="406003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Applicazioni Server</a:t>
            </a:r>
          </a:p>
        </p:txBody>
      </p:sp>
    </p:spTree>
    <p:extLst>
      <p:ext uri="{BB962C8B-B14F-4D97-AF65-F5344CB8AC3E}">
        <p14:creationId xmlns:p14="http://schemas.microsoft.com/office/powerpoint/2010/main" val="21223983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8AA1A50-49AA-D09F-83AC-77847539105F}"/>
              </a:ext>
            </a:extLst>
          </p:cNvPr>
          <p:cNvSpPr txBox="1"/>
          <p:nvPr/>
        </p:nvSpPr>
        <p:spPr>
          <a:xfrm>
            <a:off x="3048719" y="1767006"/>
            <a:ext cx="6094562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3000" b="0" i="0" dirty="0">
                <a:solidFill>
                  <a:srgbClr val="050E17"/>
                </a:solidFill>
                <a:effectLst/>
                <a:latin typeface="-apple-system"/>
              </a:rPr>
              <a:t>Un'applicazione server in Java può essere implementata utilizzando il framework Java EE (Java Enterprise Edition), che fornisce una vasta gamma di API e componenti per la gestione delle richieste dei client e la gestione delle risorse del server.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A618A72-719C-0BC8-0F2E-6DF0E9CA968B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dirty="0">
                <a:solidFill>
                  <a:srgbClr val="050E17"/>
                </a:solidFill>
                <a:latin typeface="-apple-system"/>
              </a:rPr>
              <a:t>Tipi di applicazioni JAVA</a:t>
            </a:r>
            <a:endParaRPr lang="it-IT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8403792-0BE6-370F-C081-CB6FCBF15395}"/>
              </a:ext>
            </a:extLst>
          </p:cNvPr>
          <p:cNvSpPr txBox="1"/>
          <p:nvPr/>
        </p:nvSpPr>
        <p:spPr>
          <a:xfrm>
            <a:off x="282039" y="910785"/>
            <a:ext cx="3114304" cy="328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sz="1500" b="1" dirty="0">
                <a:solidFill>
                  <a:srgbClr val="050E17"/>
                </a:solidFill>
                <a:latin typeface="-apple-system"/>
              </a:rPr>
              <a:t>Le applicazioni che realizzeremo</a:t>
            </a:r>
            <a:endParaRPr lang="it-IT" sz="1500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7CA0C1C-F6C1-0314-1E6F-5FC6412EBA28}"/>
              </a:ext>
            </a:extLst>
          </p:cNvPr>
          <p:cNvSpPr txBox="1"/>
          <p:nvPr/>
        </p:nvSpPr>
        <p:spPr>
          <a:xfrm>
            <a:off x="3597213" y="406003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Applicazioni Server</a:t>
            </a:r>
          </a:p>
        </p:txBody>
      </p:sp>
    </p:spTree>
    <p:extLst>
      <p:ext uri="{BB962C8B-B14F-4D97-AF65-F5344CB8AC3E}">
        <p14:creationId xmlns:p14="http://schemas.microsoft.com/office/powerpoint/2010/main" val="15119240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8AA1A50-49AA-D09F-83AC-77847539105F}"/>
              </a:ext>
            </a:extLst>
          </p:cNvPr>
          <p:cNvSpPr txBox="1"/>
          <p:nvPr/>
        </p:nvSpPr>
        <p:spPr>
          <a:xfrm>
            <a:off x="221654" y="1382286"/>
            <a:ext cx="103506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b="0" i="0" dirty="0">
                <a:solidFill>
                  <a:srgbClr val="050E17"/>
                </a:solidFill>
                <a:effectLst/>
                <a:latin typeface="-apple-system"/>
              </a:rPr>
              <a:t>Le applicazioni server in Java possono essere utilizzate in una vasta gamma di applicazioni, tra cui: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A618A72-719C-0BC8-0F2E-6DF0E9CA968B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dirty="0">
                <a:solidFill>
                  <a:srgbClr val="050E17"/>
                </a:solidFill>
                <a:latin typeface="-apple-system"/>
              </a:rPr>
              <a:t>Tipi di applicazioni JAVA</a:t>
            </a:r>
            <a:endParaRPr lang="it-IT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8403792-0BE6-370F-C081-CB6FCBF15395}"/>
              </a:ext>
            </a:extLst>
          </p:cNvPr>
          <p:cNvSpPr txBox="1"/>
          <p:nvPr/>
        </p:nvSpPr>
        <p:spPr>
          <a:xfrm>
            <a:off x="282039" y="910785"/>
            <a:ext cx="3114304" cy="328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sz="1500" b="1" dirty="0">
                <a:solidFill>
                  <a:srgbClr val="050E17"/>
                </a:solidFill>
                <a:latin typeface="-apple-system"/>
              </a:rPr>
              <a:t>Le applicazioni che realizzeremo</a:t>
            </a:r>
            <a:endParaRPr lang="it-IT" sz="1500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7CA0C1C-F6C1-0314-1E6F-5FC6412EBA28}"/>
              </a:ext>
            </a:extLst>
          </p:cNvPr>
          <p:cNvSpPr txBox="1"/>
          <p:nvPr/>
        </p:nvSpPr>
        <p:spPr>
          <a:xfrm>
            <a:off x="3597213" y="406003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Applicazioni Server</a:t>
            </a:r>
          </a:p>
        </p:txBody>
      </p:sp>
    </p:spTree>
    <p:extLst>
      <p:ext uri="{BB962C8B-B14F-4D97-AF65-F5344CB8AC3E}">
        <p14:creationId xmlns:p14="http://schemas.microsoft.com/office/powerpoint/2010/main" val="2255626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8AA1A50-49AA-D09F-83AC-77847539105F}"/>
              </a:ext>
            </a:extLst>
          </p:cNvPr>
          <p:cNvSpPr txBox="1"/>
          <p:nvPr/>
        </p:nvSpPr>
        <p:spPr>
          <a:xfrm>
            <a:off x="221654" y="1382286"/>
            <a:ext cx="1035061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b="0" i="0" dirty="0">
                <a:solidFill>
                  <a:srgbClr val="050E17"/>
                </a:solidFill>
                <a:effectLst/>
                <a:latin typeface="-apple-system"/>
              </a:rPr>
              <a:t>Le applicazioni server in Java possono essere utilizzate in una vasta gamma di applicazioni, tra cui: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it-IT" sz="2000" b="0" i="0" dirty="0">
                <a:solidFill>
                  <a:srgbClr val="050E17"/>
                </a:solidFill>
                <a:effectLst/>
                <a:latin typeface="-apple-system"/>
              </a:rPr>
              <a:t>Applicazioni web: le applicazioni server in Java possono fornire servizi web attraverso protocolli come HTTP e HTTPS. In questo modo, le applicazioni web possono interagire con i client attraverso un browser web e fornire servizi come la visualizzazione di pagine web dinamiche o l'elaborazione di formulari.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A618A72-719C-0BC8-0F2E-6DF0E9CA968B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dirty="0">
                <a:solidFill>
                  <a:srgbClr val="050E17"/>
                </a:solidFill>
                <a:latin typeface="-apple-system"/>
              </a:rPr>
              <a:t>Tipi di applicazioni JAVA</a:t>
            </a:r>
            <a:endParaRPr lang="it-IT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8403792-0BE6-370F-C081-CB6FCBF15395}"/>
              </a:ext>
            </a:extLst>
          </p:cNvPr>
          <p:cNvSpPr txBox="1"/>
          <p:nvPr/>
        </p:nvSpPr>
        <p:spPr>
          <a:xfrm>
            <a:off x="282039" y="910785"/>
            <a:ext cx="3114304" cy="328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sz="1500" b="1" dirty="0">
                <a:solidFill>
                  <a:srgbClr val="050E17"/>
                </a:solidFill>
                <a:latin typeface="-apple-system"/>
              </a:rPr>
              <a:t>Le applicazioni che realizzeremo</a:t>
            </a:r>
            <a:endParaRPr lang="it-IT" sz="1500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7CA0C1C-F6C1-0314-1E6F-5FC6412EBA28}"/>
              </a:ext>
            </a:extLst>
          </p:cNvPr>
          <p:cNvSpPr txBox="1"/>
          <p:nvPr/>
        </p:nvSpPr>
        <p:spPr>
          <a:xfrm>
            <a:off x="3597213" y="406003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Applicazioni Server</a:t>
            </a:r>
          </a:p>
        </p:txBody>
      </p:sp>
    </p:spTree>
    <p:extLst>
      <p:ext uri="{BB962C8B-B14F-4D97-AF65-F5344CB8AC3E}">
        <p14:creationId xmlns:p14="http://schemas.microsoft.com/office/powerpoint/2010/main" val="32013650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8AA1A50-49AA-D09F-83AC-77847539105F}"/>
              </a:ext>
            </a:extLst>
          </p:cNvPr>
          <p:cNvSpPr txBox="1"/>
          <p:nvPr/>
        </p:nvSpPr>
        <p:spPr>
          <a:xfrm>
            <a:off x="221654" y="1382286"/>
            <a:ext cx="1035061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b="0" i="0" dirty="0">
                <a:solidFill>
                  <a:srgbClr val="050E17"/>
                </a:solidFill>
                <a:effectLst/>
                <a:latin typeface="-apple-system"/>
              </a:rPr>
              <a:t>Le applicazioni server in Java possono essere utilizzate in una vasta gamma di applicazioni, tra cui: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it-IT" sz="2000" b="0" i="0" dirty="0">
                <a:solidFill>
                  <a:srgbClr val="050E17"/>
                </a:solidFill>
                <a:effectLst/>
                <a:latin typeface="-apple-system"/>
              </a:rPr>
              <a:t>Applicazioni web: le applicazioni server in Java possono fornire servizi web attraverso protocolli come HTTP e HTTPS. In questo modo, le applicazioni web possono interagire con i client attraverso un browser web e fornire servizi come la visualizzazione di pagine web dinamiche o l'elaborazione di formulari.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it-IT" sz="2000" b="0" i="0" dirty="0">
                <a:solidFill>
                  <a:srgbClr val="050E17"/>
                </a:solidFill>
                <a:effectLst/>
                <a:latin typeface="-apple-system"/>
              </a:rPr>
              <a:t>Applicazioni di business: le applicazioni server in Java possono essere utilizzate per gestire processi aziendali complessi, come la gestione dell'inventario, la gestione delle risorse umane o la gestione della produzione.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A618A72-719C-0BC8-0F2E-6DF0E9CA968B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dirty="0">
                <a:solidFill>
                  <a:srgbClr val="050E17"/>
                </a:solidFill>
                <a:latin typeface="-apple-system"/>
              </a:rPr>
              <a:t>Tipi di applicazioni JAVA</a:t>
            </a:r>
            <a:endParaRPr lang="it-IT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8403792-0BE6-370F-C081-CB6FCBF15395}"/>
              </a:ext>
            </a:extLst>
          </p:cNvPr>
          <p:cNvSpPr txBox="1"/>
          <p:nvPr/>
        </p:nvSpPr>
        <p:spPr>
          <a:xfrm>
            <a:off x="282039" y="910785"/>
            <a:ext cx="3114304" cy="328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sz="1500" b="1" dirty="0">
                <a:solidFill>
                  <a:srgbClr val="050E17"/>
                </a:solidFill>
                <a:latin typeface="-apple-system"/>
              </a:rPr>
              <a:t>Le applicazioni che realizzeremo</a:t>
            </a:r>
            <a:endParaRPr lang="it-IT" sz="1500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7CA0C1C-F6C1-0314-1E6F-5FC6412EBA28}"/>
              </a:ext>
            </a:extLst>
          </p:cNvPr>
          <p:cNvSpPr txBox="1"/>
          <p:nvPr/>
        </p:nvSpPr>
        <p:spPr>
          <a:xfrm>
            <a:off x="3597213" y="406003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Applicazioni Server</a:t>
            </a:r>
          </a:p>
        </p:txBody>
      </p:sp>
    </p:spTree>
    <p:extLst>
      <p:ext uri="{BB962C8B-B14F-4D97-AF65-F5344CB8AC3E}">
        <p14:creationId xmlns:p14="http://schemas.microsoft.com/office/powerpoint/2010/main" val="13690755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8AA1A50-49AA-D09F-83AC-77847539105F}"/>
              </a:ext>
            </a:extLst>
          </p:cNvPr>
          <p:cNvSpPr txBox="1"/>
          <p:nvPr/>
        </p:nvSpPr>
        <p:spPr>
          <a:xfrm>
            <a:off x="221654" y="1382286"/>
            <a:ext cx="10350616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b="0" i="0" dirty="0">
                <a:solidFill>
                  <a:srgbClr val="050E17"/>
                </a:solidFill>
                <a:effectLst/>
                <a:latin typeface="-apple-system"/>
              </a:rPr>
              <a:t>Le applicazioni server in Java possono essere utilizzate in una vasta gamma di applicazioni, tra cui: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it-IT" sz="2000" b="0" i="0" dirty="0">
                <a:solidFill>
                  <a:srgbClr val="050E17"/>
                </a:solidFill>
                <a:effectLst/>
                <a:latin typeface="-apple-system"/>
              </a:rPr>
              <a:t>Applicazioni web: le applicazioni server in Java possono fornire servizi web attraverso protocolli come HTTP e HTTPS. In questo modo, le applicazioni web possono interagire con i client attraverso un browser web e fornire servizi come la visualizzazione di pagine web dinamiche o l'elaborazione di formulari.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it-IT" sz="2000" b="0" i="0" dirty="0">
                <a:solidFill>
                  <a:srgbClr val="050E17"/>
                </a:solidFill>
                <a:effectLst/>
                <a:latin typeface="-apple-system"/>
              </a:rPr>
              <a:t>Applicazioni di business: le applicazioni server in Java possono essere utilizzate per gestire processi aziendali complessi, come la gestione dell'inventario, la gestione delle risorse umane o la gestione della produzione.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it-IT" sz="2000" b="0" i="0" dirty="0">
                <a:solidFill>
                  <a:srgbClr val="050E17"/>
                </a:solidFill>
                <a:effectLst/>
                <a:latin typeface="-apple-system"/>
              </a:rPr>
              <a:t>Applicazioni di e-commerce: le applicazioni server in Java possono essere utilizzate per fornire servizi di e-commerce, come il pagamento online, la gestione degli ordini e la gestione delle spedizioni.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A618A72-719C-0BC8-0F2E-6DF0E9CA968B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dirty="0">
                <a:solidFill>
                  <a:srgbClr val="050E17"/>
                </a:solidFill>
                <a:latin typeface="-apple-system"/>
              </a:rPr>
              <a:t>Tipi di applicazioni JAVA</a:t>
            </a:r>
            <a:endParaRPr lang="it-IT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8403792-0BE6-370F-C081-CB6FCBF15395}"/>
              </a:ext>
            </a:extLst>
          </p:cNvPr>
          <p:cNvSpPr txBox="1"/>
          <p:nvPr/>
        </p:nvSpPr>
        <p:spPr>
          <a:xfrm>
            <a:off x="282039" y="910785"/>
            <a:ext cx="3114304" cy="328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sz="1500" b="1" dirty="0">
                <a:solidFill>
                  <a:srgbClr val="050E17"/>
                </a:solidFill>
                <a:latin typeface="-apple-system"/>
              </a:rPr>
              <a:t>Le applicazioni che realizzeremo</a:t>
            </a:r>
            <a:endParaRPr lang="it-IT" sz="1500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7CA0C1C-F6C1-0314-1E6F-5FC6412EBA28}"/>
              </a:ext>
            </a:extLst>
          </p:cNvPr>
          <p:cNvSpPr txBox="1"/>
          <p:nvPr/>
        </p:nvSpPr>
        <p:spPr>
          <a:xfrm>
            <a:off x="3597213" y="406003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Applicazioni Server</a:t>
            </a:r>
          </a:p>
        </p:txBody>
      </p:sp>
    </p:spTree>
    <p:extLst>
      <p:ext uri="{BB962C8B-B14F-4D97-AF65-F5344CB8AC3E}">
        <p14:creationId xmlns:p14="http://schemas.microsoft.com/office/powerpoint/2010/main" val="31894573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8AA1A50-49AA-D09F-83AC-77847539105F}"/>
              </a:ext>
            </a:extLst>
          </p:cNvPr>
          <p:cNvSpPr txBox="1"/>
          <p:nvPr/>
        </p:nvSpPr>
        <p:spPr>
          <a:xfrm>
            <a:off x="221654" y="1382286"/>
            <a:ext cx="10350616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b="0" i="0" dirty="0">
                <a:solidFill>
                  <a:srgbClr val="050E17"/>
                </a:solidFill>
                <a:effectLst/>
                <a:latin typeface="-apple-system"/>
              </a:rPr>
              <a:t>Le applicazioni server in Java possono essere utilizzate in una vasta gamma di applicazioni, tra cui: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it-IT" sz="2000" b="0" i="0" dirty="0">
                <a:solidFill>
                  <a:srgbClr val="050E17"/>
                </a:solidFill>
                <a:effectLst/>
                <a:latin typeface="-apple-system"/>
              </a:rPr>
              <a:t>Applicazioni web: le applicazioni server in Java possono fornire servizi web attraverso protocolli come HTTP e HTTPS. In questo modo, le applicazioni web possono interagire con i client attraverso un browser web e fornire servizi come la visualizzazione di pagine web dinamiche o l'elaborazione di formulari.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it-IT" sz="2000" b="0" i="0" dirty="0">
                <a:solidFill>
                  <a:srgbClr val="050E17"/>
                </a:solidFill>
                <a:effectLst/>
                <a:latin typeface="-apple-system"/>
              </a:rPr>
              <a:t>Applicazioni di business: le applicazioni server in Java possono essere utilizzate per gestire processi aziendali complessi, come la gestione dell'inventario, la gestione delle risorse umane o la gestione della produzione.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it-IT" sz="2000" b="0" i="0" dirty="0">
                <a:solidFill>
                  <a:srgbClr val="050E17"/>
                </a:solidFill>
                <a:effectLst/>
                <a:latin typeface="-apple-system"/>
              </a:rPr>
              <a:t>Applicazioni di e-commerce: le applicazioni server in Java possono essere utilizzate per fornire servizi di e-commerce, come il pagamento online, la gestione degli ordini e la gestione delle spedizioni.</a:t>
            </a:r>
          </a:p>
          <a:p>
            <a:pPr algn="l"/>
            <a:r>
              <a:rPr lang="it-IT" sz="2000" b="0" i="0" dirty="0">
                <a:solidFill>
                  <a:srgbClr val="050E17"/>
                </a:solidFill>
                <a:effectLst/>
                <a:latin typeface="-apple-system"/>
              </a:rPr>
              <a:t>Le applicazioni server in Java possono essere eseguite su diverse piattaforme, inclusi Windows, Linux e </a:t>
            </a:r>
            <a:r>
              <a:rPr lang="it-IT" sz="2000" b="0" i="0" dirty="0" err="1">
                <a:solidFill>
                  <a:srgbClr val="050E17"/>
                </a:solidFill>
                <a:effectLst/>
                <a:latin typeface="-apple-system"/>
              </a:rPr>
              <a:t>macOS</a:t>
            </a:r>
            <a:r>
              <a:rPr lang="it-IT" sz="2000" b="0" i="0" dirty="0">
                <a:solidFill>
                  <a:srgbClr val="050E17"/>
                </a:solidFill>
                <a:effectLst/>
                <a:latin typeface="-apple-system"/>
              </a:rPr>
              <a:t>, e possono essere scalate per gestire grandi volumi di traffico o richieste dei client.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A618A72-719C-0BC8-0F2E-6DF0E9CA968B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dirty="0">
                <a:solidFill>
                  <a:srgbClr val="050E17"/>
                </a:solidFill>
                <a:latin typeface="-apple-system"/>
              </a:rPr>
              <a:t>Tipi di applicazioni JAVA</a:t>
            </a:r>
            <a:endParaRPr lang="it-IT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8403792-0BE6-370F-C081-CB6FCBF15395}"/>
              </a:ext>
            </a:extLst>
          </p:cNvPr>
          <p:cNvSpPr txBox="1"/>
          <p:nvPr/>
        </p:nvSpPr>
        <p:spPr>
          <a:xfrm>
            <a:off x="282039" y="910785"/>
            <a:ext cx="3114304" cy="328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sz="1500" b="1" dirty="0">
                <a:solidFill>
                  <a:srgbClr val="050E17"/>
                </a:solidFill>
                <a:latin typeface="-apple-system"/>
              </a:rPr>
              <a:t>Le applicazioni che realizzeremo</a:t>
            </a:r>
            <a:endParaRPr lang="it-IT" sz="1500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7CA0C1C-F6C1-0314-1E6F-5FC6412EBA28}"/>
              </a:ext>
            </a:extLst>
          </p:cNvPr>
          <p:cNvSpPr txBox="1"/>
          <p:nvPr/>
        </p:nvSpPr>
        <p:spPr>
          <a:xfrm>
            <a:off x="3597213" y="406003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Applicazioni Server</a:t>
            </a:r>
          </a:p>
        </p:txBody>
      </p:sp>
    </p:spTree>
    <p:extLst>
      <p:ext uri="{BB962C8B-B14F-4D97-AF65-F5344CB8AC3E}">
        <p14:creationId xmlns:p14="http://schemas.microsoft.com/office/powerpoint/2010/main" val="22530774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8AA1A50-49AA-D09F-83AC-77847539105F}"/>
              </a:ext>
            </a:extLst>
          </p:cNvPr>
          <p:cNvSpPr txBox="1"/>
          <p:nvPr/>
        </p:nvSpPr>
        <p:spPr>
          <a:xfrm>
            <a:off x="3523171" y="978535"/>
            <a:ext cx="6094562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3000" b="0" i="0" dirty="0">
                <a:solidFill>
                  <a:srgbClr val="050E17"/>
                </a:solidFill>
                <a:effectLst/>
                <a:latin typeface="-apple-system"/>
              </a:rPr>
              <a:t>In JAVA è possibile sviluppare qualunque tipo di applicazione, tra quelle elencate.</a:t>
            </a:r>
          </a:p>
          <a:p>
            <a:pPr algn="l"/>
            <a:r>
              <a:rPr lang="it-IT" sz="3000" dirty="0">
                <a:solidFill>
                  <a:srgbClr val="050E17"/>
                </a:solidFill>
                <a:latin typeface="-apple-system"/>
              </a:rPr>
              <a:t>Inizialmente, la maniera migliore per apprendere in modo proficuo il linguaggio JAVA è iniziare sviluppando applicazioni console.</a:t>
            </a:r>
          </a:p>
          <a:p>
            <a:pPr algn="l"/>
            <a:r>
              <a:rPr lang="it-IT" sz="3000" b="0" i="0" dirty="0">
                <a:solidFill>
                  <a:srgbClr val="050E17"/>
                </a:solidFill>
                <a:effectLst/>
                <a:latin typeface="-apple-system"/>
              </a:rPr>
              <a:t>Successivamente è p</a:t>
            </a:r>
            <a:r>
              <a:rPr lang="it-IT" sz="3000" dirty="0">
                <a:solidFill>
                  <a:srgbClr val="050E17"/>
                </a:solidFill>
                <a:latin typeface="-apple-system"/>
              </a:rPr>
              <a:t>ossibile proseguire con altre metodologie e tipi di applicazioni.</a:t>
            </a:r>
          </a:p>
          <a:p>
            <a:pPr algn="l"/>
            <a:r>
              <a:rPr lang="it-IT" sz="3000" b="0" i="0" dirty="0">
                <a:solidFill>
                  <a:srgbClr val="050E17"/>
                </a:solidFill>
                <a:effectLst/>
                <a:latin typeface="-apple-system"/>
              </a:rPr>
              <a:t>Noi quind</a:t>
            </a:r>
            <a:r>
              <a:rPr lang="it-IT" sz="3000" dirty="0">
                <a:solidFill>
                  <a:srgbClr val="050E17"/>
                </a:solidFill>
                <a:latin typeface="-apple-system"/>
              </a:rPr>
              <a:t>i inizieremo da quelle.</a:t>
            </a:r>
            <a:endParaRPr lang="it-IT" sz="3000" b="0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A618A72-719C-0BC8-0F2E-6DF0E9CA968B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dirty="0">
                <a:solidFill>
                  <a:srgbClr val="050E17"/>
                </a:solidFill>
                <a:latin typeface="-apple-system"/>
              </a:rPr>
              <a:t>Tipi di applicazioni JAVA</a:t>
            </a:r>
            <a:endParaRPr lang="it-IT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8403792-0BE6-370F-C081-CB6FCBF15395}"/>
              </a:ext>
            </a:extLst>
          </p:cNvPr>
          <p:cNvSpPr txBox="1"/>
          <p:nvPr/>
        </p:nvSpPr>
        <p:spPr>
          <a:xfrm>
            <a:off x="282039" y="910785"/>
            <a:ext cx="3114304" cy="328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sz="1500" b="1" dirty="0">
                <a:solidFill>
                  <a:srgbClr val="050E17"/>
                </a:solidFill>
                <a:latin typeface="-apple-system"/>
              </a:rPr>
              <a:t>Le applicazioni che realizzeremo</a:t>
            </a:r>
            <a:endParaRPr lang="it-IT" sz="1500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7CA0C1C-F6C1-0314-1E6F-5FC6412EBA28}"/>
              </a:ext>
            </a:extLst>
          </p:cNvPr>
          <p:cNvSpPr txBox="1"/>
          <p:nvPr/>
        </p:nvSpPr>
        <p:spPr>
          <a:xfrm>
            <a:off x="3597213" y="406003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SI MA NOI? COSA REALIZZEREMO?</a:t>
            </a:r>
          </a:p>
        </p:txBody>
      </p:sp>
    </p:spTree>
    <p:extLst>
      <p:ext uri="{BB962C8B-B14F-4D97-AF65-F5344CB8AC3E}">
        <p14:creationId xmlns:p14="http://schemas.microsoft.com/office/powerpoint/2010/main" val="11777588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8AA1A50-49AA-D09F-83AC-77847539105F}"/>
              </a:ext>
            </a:extLst>
          </p:cNvPr>
          <p:cNvSpPr txBox="1"/>
          <p:nvPr/>
        </p:nvSpPr>
        <p:spPr>
          <a:xfrm>
            <a:off x="3523171" y="978535"/>
            <a:ext cx="60945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b="0" i="0" dirty="0">
                <a:solidFill>
                  <a:srgbClr val="050E17"/>
                </a:solidFill>
                <a:effectLst/>
                <a:latin typeface="-apple-system"/>
              </a:rPr>
              <a:t>Da un punto di vista generale, noi 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A618A72-719C-0BC8-0F2E-6DF0E9CA968B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dirty="0">
                <a:solidFill>
                  <a:srgbClr val="050E17"/>
                </a:solidFill>
                <a:latin typeface="-apple-system"/>
              </a:rPr>
              <a:t>Tipi di applicazioni JAVA</a:t>
            </a:r>
            <a:endParaRPr lang="it-IT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8403792-0BE6-370F-C081-CB6FCBF15395}"/>
              </a:ext>
            </a:extLst>
          </p:cNvPr>
          <p:cNvSpPr txBox="1"/>
          <p:nvPr/>
        </p:nvSpPr>
        <p:spPr>
          <a:xfrm>
            <a:off x="282039" y="910785"/>
            <a:ext cx="3114304" cy="328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sz="1500" b="1" dirty="0">
                <a:solidFill>
                  <a:srgbClr val="050E17"/>
                </a:solidFill>
                <a:latin typeface="-apple-system"/>
              </a:rPr>
              <a:t>Le applicazioni che realizzeremo</a:t>
            </a:r>
            <a:endParaRPr lang="it-IT" sz="1500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7CA0C1C-F6C1-0314-1E6F-5FC6412EBA28}"/>
              </a:ext>
            </a:extLst>
          </p:cNvPr>
          <p:cNvSpPr txBox="1"/>
          <p:nvPr/>
        </p:nvSpPr>
        <p:spPr>
          <a:xfrm>
            <a:off x="3597213" y="406003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b="1" dirty="0">
                <a:solidFill>
                  <a:srgbClr val="050E17"/>
                </a:solidFill>
                <a:latin typeface="-apple-system"/>
              </a:rPr>
              <a:t>Da un punto di vista generale</a:t>
            </a:r>
            <a:endParaRPr lang="it-IT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40333764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8AA1A50-49AA-D09F-83AC-77847539105F}"/>
              </a:ext>
            </a:extLst>
          </p:cNvPr>
          <p:cNvSpPr txBox="1"/>
          <p:nvPr/>
        </p:nvSpPr>
        <p:spPr>
          <a:xfrm>
            <a:off x="3523171" y="978535"/>
            <a:ext cx="609456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b="0" i="0" dirty="0">
                <a:solidFill>
                  <a:srgbClr val="050E17"/>
                </a:solidFill>
                <a:effectLst/>
                <a:latin typeface="-apple-system"/>
              </a:rPr>
              <a:t>Da un punto di vista generale, noi </a:t>
            </a:r>
          </a:p>
          <a:p>
            <a:pPr marL="342900" indent="-342900" algn="l">
              <a:buFontTx/>
              <a:buChar char="-"/>
            </a:pPr>
            <a:r>
              <a:rPr lang="it-IT" sz="2000" dirty="0">
                <a:solidFill>
                  <a:srgbClr val="050E17"/>
                </a:solidFill>
                <a:latin typeface="-apple-system"/>
              </a:rPr>
              <a:t>Scriveremo del codice dentro dei file, che chiameremo con nomi terminanti con estensioni ".java"</a:t>
            </a:r>
            <a:endParaRPr lang="it-IT" sz="2000" b="0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A618A72-719C-0BC8-0F2E-6DF0E9CA968B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dirty="0">
                <a:solidFill>
                  <a:srgbClr val="050E17"/>
                </a:solidFill>
                <a:latin typeface="-apple-system"/>
              </a:rPr>
              <a:t>Tipi di applicazioni JAVA</a:t>
            </a:r>
            <a:endParaRPr lang="it-IT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8403792-0BE6-370F-C081-CB6FCBF15395}"/>
              </a:ext>
            </a:extLst>
          </p:cNvPr>
          <p:cNvSpPr txBox="1"/>
          <p:nvPr/>
        </p:nvSpPr>
        <p:spPr>
          <a:xfrm>
            <a:off x="282039" y="910785"/>
            <a:ext cx="3114304" cy="328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sz="1500" b="1" dirty="0">
                <a:solidFill>
                  <a:srgbClr val="050E17"/>
                </a:solidFill>
                <a:latin typeface="-apple-system"/>
              </a:rPr>
              <a:t>Le applicazioni che realizzeremo</a:t>
            </a:r>
            <a:endParaRPr lang="it-IT" sz="1500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7CA0C1C-F6C1-0314-1E6F-5FC6412EBA28}"/>
              </a:ext>
            </a:extLst>
          </p:cNvPr>
          <p:cNvSpPr txBox="1"/>
          <p:nvPr/>
        </p:nvSpPr>
        <p:spPr>
          <a:xfrm>
            <a:off x="3597213" y="406003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b="1" dirty="0">
                <a:solidFill>
                  <a:srgbClr val="050E17"/>
                </a:solidFill>
                <a:latin typeface="-apple-system"/>
              </a:rPr>
              <a:t>Da un punto di vista generale</a:t>
            </a:r>
            <a:endParaRPr lang="it-IT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6881871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8AA1A50-49AA-D09F-83AC-77847539105F}"/>
              </a:ext>
            </a:extLst>
          </p:cNvPr>
          <p:cNvSpPr txBox="1"/>
          <p:nvPr/>
        </p:nvSpPr>
        <p:spPr>
          <a:xfrm>
            <a:off x="3523171" y="978535"/>
            <a:ext cx="609456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b="0" i="0" dirty="0">
                <a:solidFill>
                  <a:srgbClr val="050E17"/>
                </a:solidFill>
                <a:effectLst/>
                <a:latin typeface="-apple-system"/>
              </a:rPr>
              <a:t>Da un punto di vista generale, noi </a:t>
            </a:r>
          </a:p>
          <a:p>
            <a:pPr marL="342900" indent="-342900" algn="l">
              <a:buFontTx/>
              <a:buChar char="-"/>
            </a:pPr>
            <a:r>
              <a:rPr lang="it-IT" sz="2000" dirty="0">
                <a:solidFill>
                  <a:srgbClr val="050E17"/>
                </a:solidFill>
                <a:latin typeface="-apple-system"/>
              </a:rPr>
              <a:t>Scriveremo del codice dentro dei file, che chiameremo con nomi terminanti con estensioni ".java" </a:t>
            </a:r>
          </a:p>
          <a:p>
            <a:pPr marL="342900" indent="-342900" algn="l">
              <a:buFontTx/>
              <a:buChar char="-"/>
            </a:pPr>
            <a:r>
              <a:rPr lang="it-IT" sz="2000" b="0" i="0" dirty="0">
                <a:solidFill>
                  <a:srgbClr val="050E17"/>
                </a:solidFill>
                <a:effectLst/>
                <a:latin typeface="-apple-system"/>
              </a:rPr>
              <a:t>Useremo un programmino messo a disposizione dal KIT di sviluppo di JAVA per trasformare (compilare) questi file in dei file ".class" 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A618A72-719C-0BC8-0F2E-6DF0E9CA968B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dirty="0">
                <a:solidFill>
                  <a:srgbClr val="050E17"/>
                </a:solidFill>
                <a:latin typeface="-apple-system"/>
              </a:rPr>
              <a:t>Tipi di applicazioni JAVA</a:t>
            </a:r>
            <a:endParaRPr lang="it-IT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8403792-0BE6-370F-C081-CB6FCBF15395}"/>
              </a:ext>
            </a:extLst>
          </p:cNvPr>
          <p:cNvSpPr txBox="1"/>
          <p:nvPr/>
        </p:nvSpPr>
        <p:spPr>
          <a:xfrm>
            <a:off x="282039" y="910785"/>
            <a:ext cx="3114304" cy="328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sz="1500" b="1" dirty="0">
                <a:solidFill>
                  <a:srgbClr val="050E17"/>
                </a:solidFill>
                <a:latin typeface="-apple-system"/>
              </a:rPr>
              <a:t>Le applicazioni che realizzeremo</a:t>
            </a:r>
            <a:endParaRPr lang="it-IT" sz="1500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7CA0C1C-F6C1-0314-1E6F-5FC6412EBA28}"/>
              </a:ext>
            </a:extLst>
          </p:cNvPr>
          <p:cNvSpPr txBox="1"/>
          <p:nvPr/>
        </p:nvSpPr>
        <p:spPr>
          <a:xfrm>
            <a:off x="3597213" y="406003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b="1" dirty="0">
                <a:solidFill>
                  <a:srgbClr val="050E17"/>
                </a:solidFill>
                <a:latin typeface="-apple-system"/>
              </a:rPr>
              <a:t>Da un punto di vista generale</a:t>
            </a:r>
            <a:endParaRPr lang="it-IT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7963060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8AA1A50-49AA-D09F-83AC-77847539105F}"/>
              </a:ext>
            </a:extLst>
          </p:cNvPr>
          <p:cNvSpPr txBox="1"/>
          <p:nvPr/>
        </p:nvSpPr>
        <p:spPr>
          <a:xfrm>
            <a:off x="3523171" y="978535"/>
            <a:ext cx="6094562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b="0" i="0" dirty="0">
                <a:solidFill>
                  <a:srgbClr val="050E17"/>
                </a:solidFill>
                <a:effectLst/>
                <a:latin typeface="-apple-system"/>
              </a:rPr>
              <a:t>Da un punto di vista generale, noi </a:t>
            </a:r>
          </a:p>
          <a:p>
            <a:pPr marL="342900" indent="-342900" algn="l">
              <a:buFontTx/>
              <a:buChar char="-"/>
            </a:pPr>
            <a:r>
              <a:rPr lang="it-IT" sz="2000" dirty="0">
                <a:solidFill>
                  <a:srgbClr val="050E17"/>
                </a:solidFill>
                <a:latin typeface="-apple-system"/>
              </a:rPr>
              <a:t>Scriveremo del codice dentro dei file, che chiameremo con nomi terminanti con estensioni ".java" </a:t>
            </a:r>
          </a:p>
          <a:p>
            <a:pPr marL="342900" indent="-342900" algn="l">
              <a:buFontTx/>
              <a:buChar char="-"/>
            </a:pPr>
            <a:r>
              <a:rPr lang="it-IT" sz="2000" b="0" i="0" dirty="0">
                <a:solidFill>
                  <a:srgbClr val="050E17"/>
                </a:solidFill>
                <a:effectLst/>
                <a:latin typeface="-apple-system"/>
              </a:rPr>
              <a:t>Useremo un programmino messo a disposizione dal KIT di sviluppo di JAVA per trasformare (compilare) questi file in dei file ".class" </a:t>
            </a:r>
          </a:p>
          <a:p>
            <a:pPr marL="342900" indent="-342900" algn="l">
              <a:buFontTx/>
              <a:buChar char="-"/>
            </a:pPr>
            <a:r>
              <a:rPr lang="it-IT" sz="2000" dirty="0">
                <a:solidFill>
                  <a:srgbClr val="050E17"/>
                </a:solidFill>
                <a:latin typeface="-apple-system"/>
              </a:rPr>
              <a:t>Alcuni di quei file, a seconda di come avremo scritto il codice, potranno essere file eseguibili (applicazioni) mentre altri saranno solo file di supporto (necessari, magari, all’esecuzione ma non eseguibili)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A618A72-719C-0BC8-0F2E-6DF0E9CA968B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dirty="0">
                <a:solidFill>
                  <a:srgbClr val="050E17"/>
                </a:solidFill>
                <a:latin typeface="-apple-system"/>
              </a:rPr>
              <a:t>Tipi di applicazioni JAVA</a:t>
            </a:r>
            <a:endParaRPr lang="it-IT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8403792-0BE6-370F-C081-CB6FCBF15395}"/>
              </a:ext>
            </a:extLst>
          </p:cNvPr>
          <p:cNvSpPr txBox="1"/>
          <p:nvPr/>
        </p:nvSpPr>
        <p:spPr>
          <a:xfrm>
            <a:off x="282039" y="910785"/>
            <a:ext cx="3114304" cy="328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sz="1500" b="1" dirty="0">
                <a:solidFill>
                  <a:srgbClr val="050E17"/>
                </a:solidFill>
                <a:latin typeface="-apple-system"/>
              </a:rPr>
              <a:t>Le applicazioni che realizzeremo</a:t>
            </a:r>
            <a:endParaRPr lang="it-IT" sz="1500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7CA0C1C-F6C1-0314-1E6F-5FC6412EBA28}"/>
              </a:ext>
            </a:extLst>
          </p:cNvPr>
          <p:cNvSpPr txBox="1"/>
          <p:nvPr/>
        </p:nvSpPr>
        <p:spPr>
          <a:xfrm>
            <a:off x="3597213" y="406003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b="1" dirty="0">
                <a:solidFill>
                  <a:srgbClr val="050E17"/>
                </a:solidFill>
                <a:latin typeface="-apple-system"/>
              </a:rPr>
              <a:t>Da un punto di vista generale</a:t>
            </a:r>
            <a:endParaRPr lang="it-IT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2745813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8AA1A50-49AA-D09F-83AC-77847539105F}"/>
              </a:ext>
            </a:extLst>
          </p:cNvPr>
          <p:cNvSpPr txBox="1"/>
          <p:nvPr/>
        </p:nvSpPr>
        <p:spPr>
          <a:xfrm>
            <a:off x="3523171" y="978535"/>
            <a:ext cx="609456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b="0" i="0" dirty="0">
                <a:solidFill>
                  <a:srgbClr val="050E17"/>
                </a:solidFill>
                <a:effectLst/>
                <a:latin typeface="-apple-system"/>
              </a:rPr>
              <a:t>Da un punto di vista generale, noi </a:t>
            </a:r>
          </a:p>
          <a:p>
            <a:pPr marL="342900" indent="-342900" algn="l">
              <a:buFontTx/>
              <a:buChar char="-"/>
            </a:pPr>
            <a:r>
              <a:rPr lang="it-IT" sz="2000" dirty="0">
                <a:solidFill>
                  <a:srgbClr val="050E17"/>
                </a:solidFill>
                <a:latin typeface="-apple-system"/>
              </a:rPr>
              <a:t>Scriveremo del codice dentro dei file, che chiameremo con nomi terminanti con estensioni ".java" </a:t>
            </a:r>
          </a:p>
          <a:p>
            <a:pPr marL="342900" indent="-342900" algn="l">
              <a:buFontTx/>
              <a:buChar char="-"/>
            </a:pPr>
            <a:r>
              <a:rPr lang="it-IT" sz="2000" b="0" i="0" dirty="0">
                <a:solidFill>
                  <a:srgbClr val="050E17"/>
                </a:solidFill>
                <a:effectLst/>
                <a:latin typeface="-apple-system"/>
              </a:rPr>
              <a:t>Useremo un programmino messo a disposizione dal KIT di sviluppo di JAVA per trasformare (compilare) questi file in dei file ".class" </a:t>
            </a:r>
          </a:p>
          <a:p>
            <a:pPr marL="342900" indent="-342900" algn="l">
              <a:buFontTx/>
              <a:buChar char="-"/>
            </a:pPr>
            <a:r>
              <a:rPr lang="it-IT" sz="2000" dirty="0">
                <a:solidFill>
                  <a:srgbClr val="050E17"/>
                </a:solidFill>
                <a:latin typeface="-apple-system"/>
              </a:rPr>
              <a:t>Alcuni di quei file, a seconda di come avremo scritto il codice, potranno essere file eseguibili (applicazioni) mentre altri saranno solo file di supporto (necessari, magari, all’esecuzione ma non eseguibili)</a:t>
            </a:r>
          </a:p>
          <a:p>
            <a:pPr marL="342900" indent="-342900" algn="l">
              <a:buFontTx/>
              <a:buChar char="-"/>
            </a:pPr>
            <a:r>
              <a:rPr lang="it-IT" sz="2000" b="0" i="0" dirty="0">
                <a:solidFill>
                  <a:srgbClr val="050E17"/>
                </a:solidFill>
                <a:effectLst/>
                <a:latin typeface="-apple-system"/>
              </a:rPr>
              <a:t>E per eseguire le applicazioni useremo la JVM</a:t>
            </a:r>
            <a:r>
              <a:rPr lang="it-IT" sz="2000" dirty="0">
                <a:solidFill>
                  <a:srgbClr val="050E17"/>
                </a:solidFill>
                <a:latin typeface="-apple-system"/>
              </a:rPr>
              <a:t> (in vari modi, ma in linea generale alla JVM sarà passato il file ".class" da eseguire</a:t>
            </a:r>
            <a:endParaRPr lang="it-IT" sz="2000" b="0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A618A72-719C-0BC8-0F2E-6DF0E9CA968B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dirty="0">
                <a:solidFill>
                  <a:srgbClr val="050E17"/>
                </a:solidFill>
                <a:latin typeface="-apple-system"/>
              </a:rPr>
              <a:t>Tipi di applicazioni JAVA</a:t>
            </a:r>
            <a:endParaRPr lang="it-IT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8403792-0BE6-370F-C081-CB6FCBF15395}"/>
              </a:ext>
            </a:extLst>
          </p:cNvPr>
          <p:cNvSpPr txBox="1"/>
          <p:nvPr/>
        </p:nvSpPr>
        <p:spPr>
          <a:xfrm>
            <a:off x="282039" y="910785"/>
            <a:ext cx="3114304" cy="328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sz="1500" b="1" dirty="0">
                <a:solidFill>
                  <a:srgbClr val="050E17"/>
                </a:solidFill>
                <a:latin typeface="-apple-system"/>
              </a:rPr>
              <a:t>Le applicazioni che realizzeremo</a:t>
            </a:r>
            <a:endParaRPr lang="it-IT" sz="1500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7CA0C1C-F6C1-0314-1E6F-5FC6412EBA28}"/>
              </a:ext>
            </a:extLst>
          </p:cNvPr>
          <p:cNvSpPr txBox="1"/>
          <p:nvPr/>
        </p:nvSpPr>
        <p:spPr>
          <a:xfrm>
            <a:off x="3597213" y="406003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b="1" dirty="0">
                <a:solidFill>
                  <a:srgbClr val="050E17"/>
                </a:solidFill>
                <a:latin typeface="-apple-system"/>
              </a:rPr>
              <a:t>Da un punto di vista generale</a:t>
            </a:r>
            <a:endParaRPr lang="it-IT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2243176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8AA1A50-49AA-D09F-83AC-77847539105F}"/>
              </a:ext>
            </a:extLst>
          </p:cNvPr>
          <p:cNvSpPr txBox="1"/>
          <p:nvPr/>
        </p:nvSpPr>
        <p:spPr>
          <a:xfrm>
            <a:off x="3523171" y="978535"/>
            <a:ext cx="60945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b="0" i="0" dirty="0">
                <a:solidFill>
                  <a:srgbClr val="050E17"/>
                </a:solidFill>
                <a:effectLst/>
                <a:latin typeface="-apple-system"/>
              </a:rPr>
              <a:t>Java è case sensitive, ovvero fa distinzione tra lettere maiuscole e minuscole. 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A618A72-719C-0BC8-0F2E-6DF0E9CA968B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dirty="0">
                <a:solidFill>
                  <a:srgbClr val="050E17"/>
                </a:solidFill>
                <a:latin typeface="-apple-system"/>
              </a:rPr>
              <a:t>ATTENZIONE</a:t>
            </a:r>
            <a:endParaRPr lang="it-IT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8403792-0BE6-370F-C081-CB6FCBF15395}"/>
              </a:ext>
            </a:extLst>
          </p:cNvPr>
          <p:cNvSpPr txBox="1"/>
          <p:nvPr/>
        </p:nvSpPr>
        <p:spPr>
          <a:xfrm>
            <a:off x="282039" y="910785"/>
            <a:ext cx="3114304" cy="328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sz="1500" b="1" dirty="0">
                <a:solidFill>
                  <a:srgbClr val="050E17"/>
                </a:solidFill>
                <a:latin typeface="-apple-system"/>
              </a:rPr>
              <a:t>Maiuscole e minuscole</a:t>
            </a:r>
            <a:endParaRPr lang="it-IT" sz="1500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7CA0C1C-F6C1-0314-1E6F-5FC6412EBA28}"/>
              </a:ext>
            </a:extLst>
          </p:cNvPr>
          <p:cNvSpPr txBox="1"/>
          <p:nvPr/>
        </p:nvSpPr>
        <p:spPr>
          <a:xfrm>
            <a:off x="3597213" y="406003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b="1" dirty="0">
                <a:solidFill>
                  <a:srgbClr val="050E17"/>
                </a:solidFill>
                <a:latin typeface="-apple-system"/>
              </a:rPr>
              <a:t>ATTENZIONE JAVA E’ CASE SENSITIVE</a:t>
            </a:r>
            <a:endParaRPr lang="it-IT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4812041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8AA1A50-49AA-D09F-83AC-77847539105F}"/>
              </a:ext>
            </a:extLst>
          </p:cNvPr>
          <p:cNvSpPr txBox="1"/>
          <p:nvPr/>
        </p:nvSpPr>
        <p:spPr>
          <a:xfrm>
            <a:off x="3523171" y="978535"/>
            <a:ext cx="609456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b="0" i="0" dirty="0">
                <a:solidFill>
                  <a:srgbClr val="050E17"/>
                </a:solidFill>
                <a:effectLst/>
                <a:latin typeface="-apple-system"/>
              </a:rPr>
              <a:t>Java è case sensitive, ovvero fa distinzione tra lettere maiuscole e minuscole. </a:t>
            </a:r>
          </a:p>
          <a:p>
            <a:pPr algn="l"/>
            <a:r>
              <a:rPr lang="it-IT" sz="2000" b="0" i="0" dirty="0">
                <a:solidFill>
                  <a:srgbClr val="050E17"/>
                </a:solidFill>
                <a:effectLst/>
                <a:latin typeface="-apple-system"/>
              </a:rPr>
              <a:t>Ciò significa che se si scrive del codice, ad esempio si dichiara una variabile con il nome "numero", e poi si cerca di richiamarla con il </a:t>
            </a:r>
            <a:r>
              <a:rPr lang="it-IT" sz="2000" dirty="0">
                <a:solidFill>
                  <a:srgbClr val="050E17"/>
                </a:solidFill>
                <a:latin typeface="-apple-system"/>
              </a:rPr>
              <a:t>codice </a:t>
            </a:r>
            <a:r>
              <a:rPr lang="it-IT" sz="2000" b="0" i="0" dirty="0">
                <a:solidFill>
                  <a:srgbClr val="050E17"/>
                </a:solidFill>
                <a:effectLst/>
                <a:latin typeface="-apple-system"/>
              </a:rPr>
              <a:t>"Numero" o "NUMERO", il programma darà errore perché non riconosce la variabile come quella precedentemente dichiarata. 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A618A72-719C-0BC8-0F2E-6DF0E9CA968B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dirty="0">
                <a:solidFill>
                  <a:srgbClr val="050E17"/>
                </a:solidFill>
                <a:latin typeface="-apple-system"/>
              </a:rPr>
              <a:t>ATTENZIONE</a:t>
            </a:r>
            <a:endParaRPr lang="it-IT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8403792-0BE6-370F-C081-CB6FCBF15395}"/>
              </a:ext>
            </a:extLst>
          </p:cNvPr>
          <p:cNvSpPr txBox="1"/>
          <p:nvPr/>
        </p:nvSpPr>
        <p:spPr>
          <a:xfrm>
            <a:off x="282039" y="910785"/>
            <a:ext cx="3114304" cy="328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sz="1500" b="1" dirty="0">
                <a:solidFill>
                  <a:srgbClr val="050E17"/>
                </a:solidFill>
                <a:latin typeface="-apple-system"/>
              </a:rPr>
              <a:t>Maiuscole e minuscole</a:t>
            </a:r>
            <a:endParaRPr lang="it-IT" sz="1500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7CA0C1C-F6C1-0314-1E6F-5FC6412EBA28}"/>
              </a:ext>
            </a:extLst>
          </p:cNvPr>
          <p:cNvSpPr txBox="1"/>
          <p:nvPr/>
        </p:nvSpPr>
        <p:spPr>
          <a:xfrm>
            <a:off x="3597213" y="406003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b="1" dirty="0">
                <a:solidFill>
                  <a:srgbClr val="050E17"/>
                </a:solidFill>
                <a:latin typeface="-apple-system"/>
              </a:rPr>
              <a:t>ATTENZIONE JAVA E’ CASE SENSITIVE</a:t>
            </a:r>
            <a:endParaRPr lang="it-IT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522510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8AA1A50-49AA-D09F-83AC-77847539105F}"/>
              </a:ext>
            </a:extLst>
          </p:cNvPr>
          <p:cNvSpPr txBox="1"/>
          <p:nvPr/>
        </p:nvSpPr>
        <p:spPr>
          <a:xfrm>
            <a:off x="3523171" y="978535"/>
            <a:ext cx="609456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b="0" i="0" dirty="0">
                <a:solidFill>
                  <a:srgbClr val="050E17"/>
                </a:solidFill>
                <a:effectLst/>
                <a:latin typeface="-apple-system"/>
              </a:rPr>
              <a:t>Java è case sensitive, ovvero fa distinzione tra lettere maiuscole e minuscole. </a:t>
            </a:r>
          </a:p>
          <a:p>
            <a:pPr algn="l"/>
            <a:r>
              <a:rPr lang="it-IT" sz="2000" b="0" i="0" dirty="0">
                <a:solidFill>
                  <a:srgbClr val="050E17"/>
                </a:solidFill>
                <a:effectLst/>
                <a:latin typeface="-apple-system"/>
              </a:rPr>
              <a:t>Ciò significa che se si scrive del codice, ad esempio si dichiara una variabile con il nome "numero", e poi si cerca di richiamarla con il </a:t>
            </a:r>
            <a:r>
              <a:rPr lang="it-IT" sz="2000" dirty="0">
                <a:solidFill>
                  <a:srgbClr val="050E17"/>
                </a:solidFill>
                <a:latin typeface="-apple-system"/>
              </a:rPr>
              <a:t>codice </a:t>
            </a:r>
            <a:r>
              <a:rPr lang="it-IT" sz="2000" b="0" i="0" dirty="0">
                <a:solidFill>
                  <a:srgbClr val="050E17"/>
                </a:solidFill>
                <a:effectLst/>
                <a:latin typeface="-apple-system"/>
              </a:rPr>
              <a:t>"Numero" o "NUMERO", il programma darà errore perché non riconosce la variabile come quella precedentemente dichiarata. </a:t>
            </a:r>
          </a:p>
          <a:p>
            <a:pPr algn="l"/>
            <a:endParaRPr lang="it-IT" sz="2000" dirty="0">
              <a:solidFill>
                <a:srgbClr val="050E17"/>
              </a:solidFill>
              <a:latin typeface="-apple-system"/>
            </a:endParaRPr>
          </a:p>
          <a:p>
            <a:pPr algn="l"/>
            <a:r>
              <a:rPr lang="it-IT" sz="2000" dirty="0">
                <a:solidFill>
                  <a:srgbClr val="050E17"/>
                </a:solidFill>
                <a:latin typeface="-apple-system"/>
              </a:rPr>
              <a:t>Per lui</a:t>
            </a:r>
          </a:p>
          <a:p>
            <a:pPr algn="l"/>
            <a:endParaRPr lang="it-IT" sz="2000" dirty="0">
              <a:solidFill>
                <a:srgbClr val="050E17"/>
              </a:solidFill>
              <a:latin typeface="-apple-system"/>
            </a:endParaRPr>
          </a:p>
          <a:p>
            <a:pPr algn="l"/>
            <a:r>
              <a:rPr lang="it-IT" sz="2000" dirty="0">
                <a:solidFill>
                  <a:schemeClr val="accent5">
                    <a:lumMod val="75000"/>
                  </a:schemeClr>
                </a:solidFill>
                <a:latin typeface="-apple-system"/>
              </a:rPr>
              <a:t>numero</a:t>
            </a:r>
            <a:r>
              <a:rPr lang="it-IT" sz="2000" dirty="0">
                <a:solidFill>
                  <a:srgbClr val="050E17"/>
                </a:solidFill>
                <a:latin typeface="-apple-system"/>
              </a:rPr>
              <a:t>  |  </a:t>
            </a:r>
            <a:r>
              <a:rPr lang="it-IT" sz="2000" dirty="0">
                <a:solidFill>
                  <a:schemeClr val="accent5">
                    <a:lumMod val="75000"/>
                  </a:schemeClr>
                </a:solidFill>
                <a:latin typeface="-apple-system"/>
              </a:rPr>
              <a:t>Numero</a:t>
            </a:r>
            <a:r>
              <a:rPr lang="it-IT" sz="2000" dirty="0">
                <a:solidFill>
                  <a:srgbClr val="050E17"/>
                </a:solidFill>
                <a:latin typeface="-apple-system"/>
              </a:rPr>
              <a:t>  |</a:t>
            </a:r>
            <a:r>
              <a:rPr lang="it-IT" sz="2000" dirty="0">
                <a:solidFill>
                  <a:schemeClr val="accent5">
                    <a:lumMod val="75000"/>
                  </a:schemeClr>
                </a:solidFill>
                <a:latin typeface="-apple-system"/>
              </a:rPr>
              <a:t>NUMERO</a:t>
            </a:r>
          </a:p>
          <a:p>
            <a:pPr algn="l"/>
            <a:endParaRPr lang="it-IT" sz="2000" dirty="0">
              <a:solidFill>
                <a:srgbClr val="050E17"/>
              </a:solidFill>
              <a:latin typeface="-apple-system"/>
            </a:endParaRPr>
          </a:p>
          <a:p>
            <a:pPr algn="l"/>
            <a:r>
              <a:rPr lang="it-IT" sz="2000" dirty="0">
                <a:solidFill>
                  <a:srgbClr val="050E17"/>
                </a:solidFill>
                <a:latin typeface="-apple-system"/>
              </a:rPr>
              <a:t>Sono cose diverse!!!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A618A72-719C-0BC8-0F2E-6DF0E9CA968B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dirty="0">
                <a:solidFill>
                  <a:srgbClr val="050E17"/>
                </a:solidFill>
                <a:latin typeface="-apple-system"/>
              </a:rPr>
              <a:t>ATTENZIONE</a:t>
            </a:r>
            <a:endParaRPr lang="it-IT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8403792-0BE6-370F-C081-CB6FCBF15395}"/>
              </a:ext>
            </a:extLst>
          </p:cNvPr>
          <p:cNvSpPr txBox="1"/>
          <p:nvPr/>
        </p:nvSpPr>
        <p:spPr>
          <a:xfrm>
            <a:off x="282039" y="910785"/>
            <a:ext cx="3114304" cy="328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sz="1500" b="1" dirty="0">
                <a:solidFill>
                  <a:srgbClr val="050E17"/>
                </a:solidFill>
                <a:latin typeface="-apple-system"/>
              </a:rPr>
              <a:t>Maiuscole e minuscole</a:t>
            </a:r>
            <a:endParaRPr lang="it-IT" sz="1500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7CA0C1C-F6C1-0314-1E6F-5FC6412EBA28}"/>
              </a:ext>
            </a:extLst>
          </p:cNvPr>
          <p:cNvSpPr txBox="1"/>
          <p:nvPr/>
        </p:nvSpPr>
        <p:spPr>
          <a:xfrm>
            <a:off x="3597213" y="406003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b="1" dirty="0">
                <a:solidFill>
                  <a:srgbClr val="050E17"/>
                </a:solidFill>
                <a:latin typeface="-apple-system"/>
              </a:rPr>
              <a:t>ATTENZIONE JAVA E’ CASE SENSITIVE</a:t>
            </a:r>
            <a:endParaRPr lang="it-IT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1779816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8AA1A50-49AA-D09F-83AC-77847539105F}"/>
              </a:ext>
            </a:extLst>
          </p:cNvPr>
          <p:cNvSpPr txBox="1"/>
          <p:nvPr/>
        </p:nvSpPr>
        <p:spPr>
          <a:xfrm>
            <a:off x="3523171" y="978535"/>
            <a:ext cx="609456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b="0" i="0" dirty="0">
                <a:solidFill>
                  <a:srgbClr val="050E17"/>
                </a:solidFill>
                <a:effectLst/>
                <a:latin typeface="-apple-system"/>
              </a:rPr>
              <a:t>Java è case sensitive, ovvero fa distinzione tra lettere maiuscole e minuscole. </a:t>
            </a:r>
          </a:p>
          <a:p>
            <a:pPr algn="l"/>
            <a:r>
              <a:rPr lang="it-IT" sz="2000" b="0" i="0" dirty="0">
                <a:solidFill>
                  <a:srgbClr val="050E17"/>
                </a:solidFill>
                <a:effectLst/>
                <a:latin typeface="-apple-system"/>
              </a:rPr>
              <a:t>Ciò significa che se si scrive del codice, ad esempio si dichiara una variabile con il nome "numero", e poi si cerca di richiamarla con il </a:t>
            </a:r>
            <a:r>
              <a:rPr lang="it-IT" sz="2000" dirty="0">
                <a:solidFill>
                  <a:srgbClr val="050E17"/>
                </a:solidFill>
                <a:latin typeface="-apple-system"/>
              </a:rPr>
              <a:t>codice </a:t>
            </a:r>
            <a:r>
              <a:rPr lang="it-IT" sz="2000" b="0" i="0" dirty="0">
                <a:solidFill>
                  <a:srgbClr val="050E17"/>
                </a:solidFill>
                <a:effectLst/>
                <a:latin typeface="-apple-system"/>
              </a:rPr>
              <a:t>"Numero" o "NUMERO", il programma darà errore perché non riconosce la variabile come quella precedentemente dichiarata. </a:t>
            </a:r>
          </a:p>
          <a:p>
            <a:pPr algn="l"/>
            <a:endParaRPr lang="it-IT" sz="2000" dirty="0">
              <a:solidFill>
                <a:srgbClr val="050E17"/>
              </a:solidFill>
              <a:latin typeface="-apple-system"/>
            </a:endParaRPr>
          </a:p>
          <a:p>
            <a:pPr algn="l"/>
            <a:r>
              <a:rPr lang="it-IT" sz="2000" dirty="0">
                <a:solidFill>
                  <a:srgbClr val="050E17"/>
                </a:solidFill>
                <a:latin typeface="-apple-system"/>
              </a:rPr>
              <a:t>Per lui</a:t>
            </a:r>
          </a:p>
          <a:p>
            <a:pPr algn="l"/>
            <a:endParaRPr lang="it-IT" sz="2000" dirty="0">
              <a:solidFill>
                <a:srgbClr val="050E17"/>
              </a:solidFill>
              <a:latin typeface="-apple-system"/>
            </a:endParaRPr>
          </a:p>
          <a:p>
            <a:pPr algn="l"/>
            <a:r>
              <a:rPr lang="it-IT" sz="2000" dirty="0">
                <a:solidFill>
                  <a:schemeClr val="accent5">
                    <a:lumMod val="75000"/>
                  </a:schemeClr>
                </a:solidFill>
                <a:latin typeface="-apple-system"/>
              </a:rPr>
              <a:t>numero</a:t>
            </a:r>
            <a:r>
              <a:rPr lang="it-IT" sz="2000" dirty="0">
                <a:solidFill>
                  <a:srgbClr val="050E17"/>
                </a:solidFill>
                <a:latin typeface="-apple-system"/>
              </a:rPr>
              <a:t>  |  </a:t>
            </a:r>
            <a:r>
              <a:rPr lang="it-IT" sz="2000" dirty="0">
                <a:solidFill>
                  <a:schemeClr val="accent5">
                    <a:lumMod val="75000"/>
                  </a:schemeClr>
                </a:solidFill>
                <a:latin typeface="-apple-system"/>
              </a:rPr>
              <a:t>Numero</a:t>
            </a:r>
            <a:r>
              <a:rPr lang="it-IT" sz="2000" dirty="0">
                <a:solidFill>
                  <a:srgbClr val="050E17"/>
                </a:solidFill>
                <a:latin typeface="-apple-system"/>
              </a:rPr>
              <a:t>  |</a:t>
            </a:r>
            <a:r>
              <a:rPr lang="it-IT" sz="2000" dirty="0">
                <a:solidFill>
                  <a:schemeClr val="accent5">
                    <a:lumMod val="75000"/>
                  </a:schemeClr>
                </a:solidFill>
                <a:latin typeface="-apple-system"/>
              </a:rPr>
              <a:t>NUMERO</a:t>
            </a:r>
          </a:p>
          <a:p>
            <a:pPr algn="l"/>
            <a:endParaRPr lang="it-IT" sz="2000" dirty="0">
              <a:solidFill>
                <a:srgbClr val="050E17"/>
              </a:solidFill>
              <a:latin typeface="-apple-system"/>
            </a:endParaRPr>
          </a:p>
          <a:p>
            <a:pPr algn="l"/>
            <a:r>
              <a:rPr lang="it-IT" sz="2000" dirty="0">
                <a:solidFill>
                  <a:srgbClr val="050E17"/>
                </a:solidFill>
                <a:latin typeface="-apple-system"/>
              </a:rPr>
              <a:t>Sono cose diverse!!!</a:t>
            </a:r>
          </a:p>
          <a:p>
            <a:pPr algn="l"/>
            <a:endParaRPr lang="it-IT" sz="2000" dirty="0">
              <a:solidFill>
                <a:srgbClr val="050E17"/>
              </a:solidFill>
              <a:latin typeface="-apple-system"/>
            </a:endParaRPr>
          </a:p>
          <a:p>
            <a:pPr algn="l"/>
            <a:r>
              <a:rPr lang="it-IT" sz="2000" b="0" i="0" dirty="0">
                <a:solidFill>
                  <a:srgbClr val="050E17"/>
                </a:solidFill>
                <a:effectLst/>
                <a:latin typeface="-apple-system"/>
              </a:rPr>
              <a:t>Lo stesso vale per i nomi dei metodi e delle classi.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A618A72-719C-0BC8-0F2E-6DF0E9CA968B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dirty="0">
                <a:solidFill>
                  <a:srgbClr val="050E17"/>
                </a:solidFill>
                <a:latin typeface="-apple-system"/>
              </a:rPr>
              <a:t>ATTENZIONE</a:t>
            </a:r>
            <a:endParaRPr lang="it-IT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8403792-0BE6-370F-C081-CB6FCBF15395}"/>
              </a:ext>
            </a:extLst>
          </p:cNvPr>
          <p:cNvSpPr txBox="1"/>
          <p:nvPr/>
        </p:nvSpPr>
        <p:spPr>
          <a:xfrm>
            <a:off x="282039" y="910785"/>
            <a:ext cx="3114304" cy="328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sz="1500" b="1" dirty="0">
                <a:solidFill>
                  <a:srgbClr val="050E17"/>
                </a:solidFill>
                <a:latin typeface="-apple-system"/>
              </a:rPr>
              <a:t>Maiuscole e minuscole</a:t>
            </a:r>
            <a:endParaRPr lang="it-IT" sz="1500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7CA0C1C-F6C1-0314-1E6F-5FC6412EBA28}"/>
              </a:ext>
            </a:extLst>
          </p:cNvPr>
          <p:cNvSpPr txBox="1"/>
          <p:nvPr/>
        </p:nvSpPr>
        <p:spPr>
          <a:xfrm>
            <a:off x="3597213" y="406003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b="1" dirty="0">
                <a:solidFill>
                  <a:srgbClr val="050E17"/>
                </a:solidFill>
                <a:latin typeface="-apple-system"/>
              </a:rPr>
              <a:t>ATTENZIONE JAVA E’ CASE SENSITIVE</a:t>
            </a:r>
            <a:endParaRPr lang="it-IT" b="1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7187057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Struttura di una applicazione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In generale, possiamo dire che i programmi JAVA sono file che definiamo classi:</a:t>
            </a:r>
          </a:p>
          <a:p>
            <a:r>
              <a:rPr lang="it-IT" dirty="0"/>
              <a:t>Ogni classe è prodotta generando un file testuale con la sintassi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08CBE74-C9CD-A445-0DD2-358B8F73135E}"/>
              </a:ext>
            </a:extLst>
          </p:cNvPr>
          <p:cNvSpPr txBox="1"/>
          <p:nvPr/>
        </p:nvSpPr>
        <p:spPr>
          <a:xfrm>
            <a:off x="3702132" y="1718977"/>
            <a:ext cx="8006937" cy="9233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class 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nomeClasse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		…</a:t>
            </a:r>
          </a:p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}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2D6CABD-94C7-1C07-489A-77FE69E55453}"/>
              </a:ext>
            </a:extLst>
          </p:cNvPr>
          <p:cNvSpPr txBox="1"/>
          <p:nvPr/>
        </p:nvSpPr>
        <p:spPr>
          <a:xfrm>
            <a:off x="282039" y="1121847"/>
            <a:ext cx="2863446" cy="286232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Le parentesi graffe, in JAVA, sono delimitatori di blocchi di codice: un programma od una sua sezione, così come una stessa classe è definita in un blocco, quindi tra parentesi. Non esiste metodo o classe che non siano racchiuse tra parentesi.</a:t>
            </a:r>
          </a:p>
        </p:txBody>
      </p:sp>
    </p:spTree>
    <p:extLst>
      <p:ext uri="{BB962C8B-B14F-4D97-AF65-F5344CB8AC3E}">
        <p14:creationId xmlns:p14="http://schemas.microsoft.com/office/powerpoint/2010/main" val="41329854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Struttura di una applicazione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In generale, possiamo dire che i programmi JAVA sono file che definiamo classi:</a:t>
            </a:r>
          </a:p>
          <a:p>
            <a:r>
              <a:rPr lang="it-IT" dirty="0"/>
              <a:t>Ogni classe è prodotta generando un file testuale con la sintassi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08CBE74-C9CD-A445-0DD2-358B8F73135E}"/>
              </a:ext>
            </a:extLst>
          </p:cNvPr>
          <p:cNvSpPr txBox="1"/>
          <p:nvPr/>
        </p:nvSpPr>
        <p:spPr>
          <a:xfrm>
            <a:off x="3702132" y="1718977"/>
            <a:ext cx="8006937" cy="9233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class 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nomeClasse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		…</a:t>
            </a:r>
          </a:p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}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0A273FB6-278A-4AEA-1A48-4A3E3FE3B436}"/>
              </a:ext>
            </a:extLst>
          </p:cNvPr>
          <p:cNvSpPr txBox="1"/>
          <p:nvPr/>
        </p:nvSpPr>
        <p:spPr>
          <a:xfrm>
            <a:off x="3681164" y="2782669"/>
            <a:ext cx="800693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Dove per </a:t>
            </a:r>
            <a:r>
              <a:rPr lang="it-IT" dirty="0" err="1"/>
              <a:t>nomeClasse</a:t>
            </a:r>
            <a:r>
              <a:rPr lang="it-IT" dirty="0"/>
              <a:t> intendiamo proprio il nome che decidiamo di darle.</a:t>
            </a:r>
          </a:p>
          <a:p>
            <a:r>
              <a:rPr lang="it-IT" dirty="0"/>
              <a:t>Come vedremo, ci sono classi eseguibili e classi non eseguibili, utili a fornire supporto a quelle eseguibili.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B5D51957-EE94-D8A3-EB0C-07E4D1662B26}"/>
              </a:ext>
            </a:extLst>
          </p:cNvPr>
          <p:cNvSpPr txBox="1"/>
          <p:nvPr/>
        </p:nvSpPr>
        <p:spPr>
          <a:xfrm>
            <a:off x="282039" y="1121847"/>
            <a:ext cx="2863446" cy="286232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Le parentesi graffe, in JAVA, sono delimitatori di blocchi di codice: un programma od una sua sezione, così come una stessa classe è definita in un blocco, quindi tra parentesi. Non esiste metodo o classe che non siano racchiuse tra parentesi.</a:t>
            </a:r>
          </a:p>
        </p:txBody>
      </p:sp>
    </p:spTree>
    <p:extLst>
      <p:ext uri="{BB962C8B-B14F-4D97-AF65-F5344CB8AC3E}">
        <p14:creationId xmlns:p14="http://schemas.microsoft.com/office/powerpoint/2010/main" val="11193506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Struttura di una applicazione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In generale, possiamo dire che i programmi JAVA sono file che definiamo classi:</a:t>
            </a:r>
          </a:p>
          <a:p>
            <a:r>
              <a:rPr lang="it-IT" dirty="0"/>
              <a:t>Ogni classe è prodotta generando un file testuale con la sintassi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08CBE74-C9CD-A445-0DD2-358B8F73135E}"/>
              </a:ext>
            </a:extLst>
          </p:cNvPr>
          <p:cNvSpPr txBox="1"/>
          <p:nvPr/>
        </p:nvSpPr>
        <p:spPr>
          <a:xfrm>
            <a:off x="3702132" y="1718977"/>
            <a:ext cx="8006937" cy="9233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class 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nomeClasse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		…</a:t>
            </a:r>
          </a:p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}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0A273FB6-278A-4AEA-1A48-4A3E3FE3B436}"/>
              </a:ext>
            </a:extLst>
          </p:cNvPr>
          <p:cNvSpPr txBox="1"/>
          <p:nvPr/>
        </p:nvSpPr>
        <p:spPr>
          <a:xfrm>
            <a:off x="3681164" y="2782669"/>
            <a:ext cx="800693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Dove per </a:t>
            </a:r>
            <a:r>
              <a:rPr lang="it-IT" dirty="0" err="1"/>
              <a:t>nomeClasse</a:t>
            </a:r>
            <a:r>
              <a:rPr lang="it-IT" dirty="0"/>
              <a:t> intendiamo proprio il nome che decidiamo di darle.</a:t>
            </a:r>
          </a:p>
          <a:p>
            <a:r>
              <a:rPr lang="it-IT" dirty="0"/>
              <a:t>Come vedremo, ci sono classi eseguibili e classi non eseguibili, utili a fornire supporto a quelle eseguibili.</a:t>
            </a:r>
          </a:p>
          <a:p>
            <a:r>
              <a:rPr lang="it-IT" dirty="0"/>
              <a:t>Le classi, tutte, possono avere delle funzionalità richiamabili: i metodi.</a:t>
            </a:r>
          </a:p>
          <a:p>
            <a:r>
              <a:rPr lang="it-IT" dirty="0"/>
              <a:t>I metodi sono comandi che eseguono qualcosa o restituiscono valori, proprio come fanno comandi java primari, ma sono richiamabili (ovviamente) facendo riferimento alla classe specifica che li contiene. 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1BA67A5-37DE-D00B-2393-157542C207A0}"/>
              </a:ext>
            </a:extLst>
          </p:cNvPr>
          <p:cNvSpPr txBox="1"/>
          <p:nvPr/>
        </p:nvSpPr>
        <p:spPr>
          <a:xfrm>
            <a:off x="282039" y="1121847"/>
            <a:ext cx="2863446" cy="286232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Le parentesi graffe, in JAVA, sono delimitatori di blocchi di codice: un programma od una sua sezione, così come una stessa classe è definita in un blocco, quindi tra parentesi. Non esiste metodo o classe che non siano racchiuse tra parentesi.</a:t>
            </a:r>
          </a:p>
        </p:txBody>
      </p:sp>
    </p:spTree>
    <p:extLst>
      <p:ext uri="{BB962C8B-B14F-4D97-AF65-F5344CB8AC3E}">
        <p14:creationId xmlns:p14="http://schemas.microsoft.com/office/powerpoint/2010/main" val="27786898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Struttura di una applicazione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In generale, possiamo dire che i programmi JAVA sono file che definiamo classi:</a:t>
            </a:r>
          </a:p>
          <a:p>
            <a:r>
              <a:rPr lang="it-IT" dirty="0"/>
              <a:t>Ogni classe è prodotta generando un file testuale con la sintassi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08CBE74-C9CD-A445-0DD2-358B8F73135E}"/>
              </a:ext>
            </a:extLst>
          </p:cNvPr>
          <p:cNvSpPr txBox="1"/>
          <p:nvPr/>
        </p:nvSpPr>
        <p:spPr>
          <a:xfrm>
            <a:off x="3702132" y="1718977"/>
            <a:ext cx="8006937" cy="9233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class 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nomeClasse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		…</a:t>
            </a:r>
          </a:p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}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0A273FB6-278A-4AEA-1A48-4A3E3FE3B436}"/>
              </a:ext>
            </a:extLst>
          </p:cNvPr>
          <p:cNvSpPr txBox="1"/>
          <p:nvPr/>
        </p:nvSpPr>
        <p:spPr>
          <a:xfrm>
            <a:off x="3681164" y="2782669"/>
            <a:ext cx="800693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Dove per </a:t>
            </a:r>
            <a:r>
              <a:rPr lang="it-IT" dirty="0" err="1"/>
              <a:t>nomeClasse</a:t>
            </a:r>
            <a:r>
              <a:rPr lang="it-IT" dirty="0"/>
              <a:t> intendiamo proprio il nome che decidiamo di darle.</a:t>
            </a:r>
          </a:p>
          <a:p>
            <a:r>
              <a:rPr lang="it-IT" dirty="0"/>
              <a:t>Come vedremo, ci sono classi eseguibili e classi non eseguibili, utili a fornire supporto a quelle eseguibili.</a:t>
            </a:r>
          </a:p>
          <a:p>
            <a:r>
              <a:rPr lang="it-IT" dirty="0"/>
              <a:t>Le classi, tutte, possono avere delle funzionalità richiamabili: i metodi.</a:t>
            </a:r>
          </a:p>
          <a:p>
            <a:r>
              <a:rPr lang="it-IT" dirty="0"/>
              <a:t>I metodi sono comandi che eseguono qualcosa o restituiscono valori, proprio come fanno comandi java primari, ma sono richiamabili (ovviamente) facendo riferimento alla classe specifica che li contiene. </a:t>
            </a:r>
          </a:p>
          <a:p>
            <a:r>
              <a:rPr lang="it-IT" dirty="0"/>
              <a:t>Le classi eseguibili posseggono un metodo eseguibile, viene chiamato metodo </a:t>
            </a:r>
            <a:r>
              <a:rPr lang="it-IT" dirty="0" err="1"/>
              <a:t>main</a:t>
            </a:r>
            <a:r>
              <a:rPr lang="it-IT" dirty="0"/>
              <a:t>: noi possiamo scrivere il codice per produrre tale metodo. 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A8FAE93-C77C-9B64-47A0-7F4F4BFD2E50}"/>
              </a:ext>
            </a:extLst>
          </p:cNvPr>
          <p:cNvSpPr txBox="1"/>
          <p:nvPr/>
        </p:nvSpPr>
        <p:spPr>
          <a:xfrm>
            <a:off x="282039" y="1121847"/>
            <a:ext cx="2863446" cy="286232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Le parentesi graffe, in JAVA, sono delimitatori di blocchi di codice: un programma od una sua sezione, così come una stessa classe è definita in un blocco, quindi tra parentesi. Non esiste metodo o classe che non siano racchiuse tra parentesi.</a:t>
            </a:r>
          </a:p>
        </p:txBody>
      </p:sp>
    </p:spTree>
    <p:extLst>
      <p:ext uri="{BB962C8B-B14F-4D97-AF65-F5344CB8AC3E}">
        <p14:creationId xmlns:p14="http://schemas.microsoft.com/office/powerpoint/2010/main" val="329191739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Struttura di una applicazione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In generale, possiamo dire che i programmi JAVA sono file che definiamo classi:</a:t>
            </a:r>
          </a:p>
          <a:p>
            <a:r>
              <a:rPr lang="it-IT" dirty="0"/>
              <a:t>Ogni classe è prodotta generando un file testuale con la sintassi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08CBE74-C9CD-A445-0DD2-358B8F73135E}"/>
              </a:ext>
            </a:extLst>
          </p:cNvPr>
          <p:cNvSpPr txBox="1"/>
          <p:nvPr/>
        </p:nvSpPr>
        <p:spPr>
          <a:xfrm>
            <a:off x="3702132" y="1718977"/>
            <a:ext cx="8006937" cy="9233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class 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nomeClasse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		…</a:t>
            </a:r>
          </a:p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}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0A273FB6-278A-4AEA-1A48-4A3E3FE3B436}"/>
              </a:ext>
            </a:extLst>
          </p:cNvPr>
          <p:cNvSpPr txBox="1"/>
          <p:nvPr/>
        </p:nvSpPr>
        <p:spPr>
          <a:xfrm>
            <a:off x="3681164" y="2782669"/>
            <a:ext cx="800693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Dove per </a:t>
            </a:r>
            <a:r>
              <a:rPr lang="it-IT" dirty="0" err="1"/>
              <a:t>nomeClasse</a:t>
            </a:r>
            <a:r>
              <a:rPr lang="it-IT" dirty="0"/>
              <a:t> intendiamo proprio il nome che decidiamo di darle.</a:t>
            </a:r>
          </a:p>
          <a:p>
            <a:r>
              <a:rPr lang="it-IT" dirty="0"/>
              <a:t>Come vedremo, ci sono classi eseguibili e classi non eseguibili, utili a fornire supporto a quelle eseguibili.</a:t>
            </a:r>
          </a:p>
          <a:p>
            <a:r>
              <a:rPr lang="it-IT" dirty="0"/>
              <a:t>Le classi, tutte, possono avere delle funzionalità richiamabili: i metodi.</a:t>
            </a:r>
          </a:p>
          <a:p>
            <a:r>
              <a:rPr lang="it-IT" dirty="0"/>
              <a:t>I metodi sono comandi che eseguono qualcosa o restituiscono valori, proprio come fanno comandi java primari, ma sono richiamabili (ovviamente) facendo riferimento alla classe specifica che li contiene. </a:t>
            </a:r>
          </a:p>
          <a:p>
            <a:r>
              <a:rPr lang="it-IT" dirty="0"/>
              <a:t>Le classi eseguibili posseggono un metodo eseguibile, viene chiamato metodo </a:t>
            </a:r>
            <a:r>
              <a:rPr lang="it-IT" dirty="0" err="1"/>
              <a:t>main</a:t>
            </a:r>
            <a:r>
              <a:rPr lang="it-IT" dirty="0"/>
              <a:t>: noi possiamo scrivere il codice per produrre tale metodo. da li è possibile scrivere codice JAVA o fare riferimento ad altre classi esterne e richiamare i loro metodi.</a:t>
            </a:r>
          </a:p>
          <a:p>
            <a:r>
              <a:rPr lang="it-IT" dirty="0"/>
              <a:t>Noi potremo sia utilizzare classi fornite da terze parti che produrre classi nostre.</a:t>
            </a:r>
          </a:p>
          <a:p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6DD71061-EC98-86E7-AF8B-C91F18144A09}"/>
              </a:ext>
            </a:extLst>
          </p:cNvPr>
          <p:cNvSpPr txBox="1"/>
          <p:nvPr/>
        </p:nvSpPr>
        <p:spPr>
          <a:xfrm>
            <a:off x="282039" y="1121847"/>
            <a:ext cx="2863446" cy="286232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Le parentesi graffe, in JAVA, sono delimitatori di blocchi di codice: un programma od una sua sezione, così come una stessa classe è definita in un blocco, quindi tra parentesi. Non esiste metodo o classe che non siano racchiuse tra parentesi.</a:t>
            </a:r>
          </a:p>
        </p:txBody>
      </p:sp>
    </p:spTree>
    <p:extLst>
      <p:ext uri="{BB962C8B-B14F-4D97-AF65-F5344CB8AC3E}">
        <p14:creationId xmlns:p14="http://schemas.microsoft.com/office/powerpoint/2010/main" val="25537128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Struttura di una applicazione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>
              <a:effectLst/>
            </a:endParaRPr>
          </a:p>
          <a:p>
            <a:r>
              <a:rPr lang="it-IT" dirty="0"/>
              <a:t>La struttura di base di una classe Java eseguibile, che contiene il metodo "</a:t>
            </a:r>
            <a:r>
              <a:rPr lang="it-IT" dirty="0" err="1"/>
              <a:t>main</a:t>
            </a:r>
            <a:r>
              <a:rPr lang="it-IT" dirty="0"/>
              <a:t>" che viene eseguito all'avvio dell'applicazione, è la seguente: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08CBE74-C9CD-A445-0DD2-358B8F73135E}"/>
              </a:ext>
            </a:extLst>
          </p:cNvPr>
          <p:cNvSpPr txBox="1"/>
          <p:nvPr/>
        </p:nvSpPr>
        <p:spPr>
          <a:xfrm>
            <a:off x="3702132" y="1718977"/>
            <a:ext cx="8006937" cy="147732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class 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it-IT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corpo del metodo "</a:t>
            </a:r>
            <a:r>
              <a:rPr lang="it-IT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it-IT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"</a:t>
            </a:r>
            <a:endParaRPr lang="it-IT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}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7707A09-6F69-C84F-8DA6-1BB5BE7D6064}"/>
              </a:ext>
            </a:extLst>
          </p:cNvPr>
          <p:cNvSpPr txBox="1"/>
          <p:nvPr/>
        </p:nvSpPr>
        <p:spPr>
          <a:xfrm>
            <a:off x="282039" y="1121847"/>
            <a:ext cx="2863446" cy="286232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Le parentesi graffe, in JAVA, sono delimitatori di blocchi di codice: un programma od una sua sezione, così come una stessa classe è definita in un blocco, quindi tra parentesi. Non esiste metodo o classe che non siano racchiuse tra parentesi.</a:t>
            </a:r>
          </a:p>
        </p:txBody>
      </p:sp>
    </p:spTree>
    <p:extLst>
      <p:ext uri="{BB962C8B-B14F-4D97-AF65-F5344CB8AC3E}">
        <p14:creationId xmlns:p14="http://schemas.microsoft.com/office/powerpoint/2010/main" val="1017336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Struttura di una applicazione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>
              <a:effectLst/>
            </a:endParaRPr>
          </a:p>
          <a:p>
            <a:r>
              <a:rPr lang="it-IT" dirty="0"/>
              <a:t>La struttura di base di una classe Java eseguibile, che contiene il metodo "</a:t>
            </a:r>
            <a:r>
              <a:rPr lang="it-IT" dirty="0" err="1"/>
              <a:t>main</a:t>
            </a:r>
            <a:r>
              <a:rPr lang="it-IT" dirty="0"/>
              <a:t>" che viene eseguito all'avvio dell'applicazione, è la seguente: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08CBE74-C9CD-A445-0DD2-358B8F73135E}"/>
              </a:ext>
            </a:extLst>
          </p:cNvPr>
          <p:cNvSpPr txBox="1"/>
          <p:nvPr/>
        </p:nvSpPr>
        <p:spPr>
          <a:xfrm>
            <a:off x="3702132" y="1718977"/>
            <a:ext cx="8006937" cy="147732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class 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it-IT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corpo del metodo "</a:t>
            </a:r>
            <a:r>
              <a:rPr lang="it-IT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it-IT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"</a:t>
            </a:r>
            <a:endParaRPr lang="it-IT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}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6753200-6CE1-E801-1BA3-FA72BD413F85}"/>
              </a:ext>
            </a:extLst>
          </p:cNvPr>
          <p:cNvSpPr txBox="1"/>
          <p:nvPr/>
        </p:nvSpPr>
        <p:spPr>
          <a:xfrm>
            <a:off x="3702132" y="3319177"/>
            <a:ext cx="60979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In questa struttura, "</a:t>
            </a:r>
            <a:r>
              <a:rPr lang="it-IT" dirty="0" err="1"/>
              <a:t>Main</a:t>
            </a:r>
            <a:r>
              <a:rPr lang="it-IT" dirty="0"/>
              <a:t>" è il nome della classe Java e deve corrispondere al nome del file sorgente. Il metodo "</a:t>
            </a:r>
            <a:r>
              <a:rPr lang="it-IT" dirty="0" err="1"/>
              <a:t>main</a:t>
            </a:r>
            <a:r>
              <a:rPr lang="it-IT" dirty="0"/>
              <a:t>" è il punto di ingresso dell'applicazione, cioè il primo metodo che viene eseguito quando l'applicazione viene avviata.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DC19D91D-A126-9744-F959-16EE0C1E5285}"/>
              </a:ext>
            </a:extLst>
          </p:cNvPr>
          <p:cNvSpPr txBox="1"/>
          <p:nvPr/>
        </p:nvSpPr>
        <p:spPr>
          <a:xfrm>
            <a:off x="282039" y="1121847"/>
            <a:ext cx="2863446" cy="286232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Le parentesi graffe, in JAVA, sono delimitatori di blocchi di codice: un programma od una sua sezione, così come una stessa classe è definita in un blocco, quindi tra parentesi. Non esiste metodo o classe che non siano racchiuse tra parentesi.</a:t>
            </a:r>
          </a:p>
        </p:txBody>
      </p:sp>
    </p:spTree>
    <p:extLst>
      <p:ext uri="{BB962C8B-B14F-4D97-AF65-F5344CB8AC3E}">
        <p14:creationId xmlns:p14="http://schemas.microsoft.com/office/powerpoint/2010/main" val="370908864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Struttura di una applicazione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>
              <a:effectLst/>
            </a:endParaRPr>
          </a:p>
          <a:p>
            <a:r>
              <a:rPr lang="it-IT" dirty="0"/>
              <a:t>La struttura di base di una classe Java eseguibile, che contiene il metodo "</a:t>
            </a:r>
            <a:r>
              <a:rPr lang="it-IT" dirty="0" err="1"/>
              <a:t>main</a:t>
            </a:r>
            <a:r>
              <a:rPr lang="it-IT" dirty="0"/>
              <a:t>" che viene eseguito all'avvio dell'applicazione, è la seguente: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08CBE74-C9CD-A445-0DD2-358B8F73135E}"/>
              </a:ext>
            </a:extLst>
          </p:cNvPr>
          <p:cNvSpPr txBox="1"/>
          <p:nvPr/>
        </p:nvSpPr>
        <p:spPr>
          <a:xfrm>
            <a:off x="3702132" y="1718977"/>
            <a:ext cx="8006937" cy="147732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class 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it-IT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corpo del metodo "</a:t>
            </a:r>
            <a:r>
              <a:rPr lang="it-IT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it-IT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"</a:t>
            </a:r>
            <a:endParaRPr lang="it-IT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}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6753200-6CE1-E801-1BA3-FA72BD413F85}"/>
              </a:ext>
            </a:extLst>
          </p:cNvPr>
          <p:cNvSpPr txBox="1"/>
          <p:nvPr/>
        </p:nvSpPr>
        <p:spPr>
          <a:xfrm>
            <a:off x="3702132" y="3319177"/>
            <a:ext cx="609797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In questa struttura, "</a:t>
            </a:r>
            <a:r>
              <a:rPr lang="it-IT" dirty="0" err="1"/>
              <a:t>Main</a:t>
            </a:r>
            <a:r>
              <a:rPr lang="it-IT" dirty="0"/>
              <a:t>" è il nome della classe Java e deve corrispondere al nome del file sorgente. Il metodo "</a:t>
            </a:r>
            <a:r>
              <a:rPr lang="it-IT" dirty="0" err="1"/>
              <a:t>main</a:t>
            </a:r>
            <a:r>
              <a:rPr lang="it-IT" dirty="0"/>
              <a:t>" è il punto di ingresso dell'applicazione, cioè il primo metodo che viene eseguito quando l'applicazione viene avviata.</a:t>
            </a:r>
          </a:p>
          <a:p>
            <a:r>
              <a:rPr lang="it-IT" dirty="0"/>
              <a:t>Il metodo "</a:t>
            </a:r>
            <a:r>
              <a:rPr lang="it-IT" dirty="0" err="1"/>
              <a:t>main</a:t>
            </a:r>
            <a:r>
              <a:rPr lang="it-IT" dirty="0"/>
              <a:t>" deve essere definito come "public", "</a:t>
            </a:r>
            <a:r>
              <a:rPr lang="it-IT" dirty="0" err="1"/>
              <a:t>static</a:t>
            </a:r>
            <a:r>
              <a:rPr lang="it-IT" dirty="0"/>
              <a:t>" e "</a:t>
            </a:r>
            <a:r>
              <a:rPr lang="it-IT" dirty="0" err="1"/>
              <a:t>void</a:t>
            </a:r>
            <a:r>
              <a:rPr lang="it-IT" dirty="0"/>
              <a:t>", con un parametro di tipo "</a:t>
            </a:r>
            <a:r>
              <a:rPr lang="it-IT" dirty="0" err="1"/>
              <a:t>String</a:t>
            </a:r>
            <a:r>
              <a:rPr lang="it-IT" dirty="0"/>
              <a:t>[]" che rappresenta gli argomenti passati all'applicazione da riga di comando.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2EC5ADD3-7317-8EC0-22EF-EA9EEDFB7262}"/>
              </a:ext>
            </a:extLst>
          </p:cNvPr>
          <p:cNvSpPr txBox="1"/>
          <p:nvPr/>
        </p:nvSpPr>
        <p:spPr>
          <a:xfrm>
            <a:off x="282039" y="1121847"/>
            <a:ext cx="2863446" cy="286232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Le parentesi graffe, in JAVA, sono delimitatori di blocchi di codice: un programma od una sua sezione, così come una stessa classe è definita in un blocco, quindi tra parentesi. Non esiste metodo o classe che non siano racchiuse tra parentesi.</a:t>
            </a:r>
          </a:p>
        </p:txBody>
      </p:sp>
    </p:spTree>
    <p:extLst>
      <p:ext uri="{BB962C8B-B14F-4D97-AF65-F5344CB8AC3E}">
        <p14:creationId xmlns:p14="http://schemas.microsoft.com/office/powerpoint/2010/main" val="175684884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Struttura di una applicazione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>
              <a:effectLst/>
            </a:endParaRPr>
          </a:p>
          <a:p>
            <a:r>
              <a:rPr lang="it-IT" dirty="0"/>
              <a:t>La struttura di base di una classe Java eseguibile, che contiene il metodo "</a:t>
            </a:r>
            <a:r>
              <a:rPr lang="it-IT" dirty="0" err="1"/>
              <a:t>main</a:t>
            </a:r>
            <a:r>
              <a:rPr lang="it-IT" dirty="0"/>
              <a:t>" che viene eseguito all'avvio dell'applicazione, è la seguente: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08CBE74-C9CD-A445-0DD2-358B8F73135E}"/>
              </a:ext>
            </a:extLst>
          </p:cNvPr>
          <p:cNvSpPr txBox="1"/>
          <p:nvPr/>
        </p:nvSpPr>
        <p:spPr>
          <a:xfrm>
            <a:off x="3702132" y="1718977"/>
            <a:ext cx="8006937" cy="147732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class 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it-IT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corpo del metodo "</a:t>
            </a:r>
            <a:r>
              <a:rPr lang="it-IT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it-IT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"</a:t>
            </a:r>
            <a:endParaRPr lang="it-IT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}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6753200-6CE1-E801-1BA3-FA72BD413F85}"/>
              </a:ext>
            </a:extLst>
          </p:cNvPr>
          <p:cNvSpPr txBox="1"/>
          <p:nvPr/>
        </p:nvSpPr>
        <p:spPr>
          <a:xfrm>
            <a:off x="3702132" y="3319177"/>
            <a:ext cx="609797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In questa struttura, "</a:t>
            </a:r>
            <a:r>
              <a:rPr lang="it-IT" dirty="0" err="1"/>
              <a:t>Main</a:t>
            </a:r>
            <a:r>
              <a:rPr lang="it-IT" dirty="0"/>
              <a:t>" è il nome della classe Java e deve corrispondere al nome del file sorgente. Il metodo "</a:t>
            </a:r>
            <a:r>
              <a:rPr lang="it-IT" dirty="0" err="1"/>
              <a:t>main</a:t>
            </a:r>
            <a:r>
              <a:rPr lang="it-IT" dirty="0"/>
              <a:t>" è il punto di ingresso dell'applicazione, cioè il primo metodo che viene eseguito quando l'applicazione viene avviata.</a:t>
            </a:r>
          </a:p>
          <a:p>
            <a:r>
              <a:rPr lang="it-IT" dirty="0"/>
              <a:t>Il metodo "</a:t>
            </a:r>
            <a:r>
              <a:rPr lang="it-IT" dirty="0" err="1"/>
              <a:t>main</a:t>
            </a:r>
            <a:r>
              <a:rPr lang="it-IT" dirty="0"/>
              <a:t>" deve essere definito come "public", "</a:t>
            </a:r>
            <a:r>
              <a:rPr lang="it-IT" dirty="0" err="1"/>
              <a:t>static</a:t>
            </a:r>
            <a:r>
              <a:rPr lang="it-IT" dirty="0"/>
              <a:t>" e "</a:t>
            </a:r>
            <a:r>
              <a:rPr lang="it-IT" dirty="0" err="1"/>
              <a:t>void</a:t>
            </a:r>
            <a:r>
              <a:rPr lang="it-IT" dirty="0"/>
              <a:t>", con un parametro di tipo "</a:t>
            </a:r>
            <a:r>
              <a:rPr lang="it-IT" dirty="0" err="1"/>
              <a:t>String</a:t>
            </a:r>
            <a:r>
              <a:rPr lang="it-IT" dirty="0"/>
              <a:t>[]" che rappresenta gli argomenti passati all'applicazione da riga di comando.</a:t>
            </a:r>
          </a:p>
          <a:p>
            <a:r>
              <a:rPr lang="it-IT" dirty="0"/>
              <a:t>Il corpo del metodo "</a:t>
            </a:r>
            <a:r>
              <a:rPr lang="it-IT" dirty="0" err="1"/>
              <a:t>main</a:t>
            </a:r>
            <a:r>
              <a:rPr lang="it-IT" dirty="0"/>
              <a:t>" contiene il codice che verrà eseguito all'avvio dell'applicazione. In questo blocco di codice, è possibile definire variabili, chiamare altri metodi e utilizzare gli operatori e le espressioni di Java per eseguire le operazioni desiderate.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004D7605-D7D5-F7DF-28F6-5AC2EF18B5B4}"/>
              </a:ext>
            </a:extLst>
          </p:cNvPr>
          <p:cNvSpPr txBox="1"/>
          <p:nvPr/>
        </p:nvSpPr>
        <p:spPr>
          <a:xfrm>
            <a:off x="282039" y="1121847"/>
            <a:ext cx="2863446" cy="286232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Le parentesi graffe, in JAVA, sono delimitatori di blocchi di codice: un programma od una sua sezione, così come una stessa classe è definita in un blocco, quindi tra parentesi. Non esiste metodo o classe che non siano racchiuse tra parentesi.</a:t>
            </a:r>
          </a:p>
        </p:txBody>
      </p:sp>
    </p:spTree>
    <p:extLst>
      <p:ext uri="{BB962C8B-B14F-4D97-AF65-F5344CB8AC3E}">
        <p14:creationId xmlns:p14="http://schemas.microsoft.com/office/powerpoint/2010/main" val="190985605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Struttura di una applicazione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Per esempio, se volessimo creare una classe eseguibile che visualizzi la classica scritta "Ciao Mondo" a video, il codice potrebbe essere il seguente: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08CBE74-C9CD-A445-0DD2-358B8F73135E}"/>
              </a:ext>
            </a:extLst>
          </p:cNvPr>
          <p:cNvSpPr txBox="1"/>
          <p:nvPr/>
        </p:nvSpPr>
        <p:spPr>
          <a:xfrm>
            <a:off x="3702132" y="1718977"/>
            <a:ext cx="8006937" cy="147732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class 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System.out.println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"Ciao Mondo"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}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F928E039-5F28-FF0D-BB32-84A32DE5480D}"/>
              </a:ext>
            </a:extLst>
          </p:cNvPr>
          <p:cNvSpPr txBox="1"/>
          <p:nvPr/>
        </p:nvSpPr>
        <p:spPr>
          <a:xfrm>
            <a:off x="282039" y="1121847"/>
            <a:ext cx="2863446" cy="286232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Le parentesi graffe, in JAVA, sono delimitatori di blocchi di codice: un programma od una sua sezione, così come una stessa classe è definita in un blocco, quindi tra parentesi. Non esiste metodo o classe che non siano racchiuse tra parentesi.</a:t>
            </a:r>
          </a:p>
        </p:txBody>
      </p:sp>
    </p:spTree>
    <p:extLst>
      <p:ext uri="{BB962C8B-B14F-4D97-AF65-F5344CB8AC3E}">
        <p14:creationId xmlns:p14="http://schemas.microsoft.com/office/powerpoint/2010/main" val="46188652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Struttura di una applicazione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Per esempio, se volessimo creare una classe eseguibile che visualizzi la classica scritta "Ciao Mondo" a video, il codice potrebbe essere il seguente: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08CBE74-C9CD-A445-0DD2-358B8F73135E}"/>
              </a:ext>
            </a:extLst>
          </p:cNvPr>
          <p:cNvSpPr txBox="1"/>
          <p:nvPr/>
        </p:nvSpPr>
        <p:spPr>
          <a:xfrm>
            <a:off x="3702132" y="1718977"/>
            <a:ext cx="8006937" cy="147732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class 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System.out.println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"Ciao Mondo"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}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9044A54-C462-E81B-88C1-68A0B17EB871}"/>
              </a:ext>
            </a:extLst>
          </p:cNvPr>
          <p:cNvSpPr txBox="1"/>
          <p:nvPr/>
        </p:nvSpPr>
        <p:spPr>
          <a:xfrm>
            <a:off x="3702132" y="3846362"/>
            <a:ext cx="6097978" cy="3693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System.out.println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"Ciao Mondo"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283DBD8B-0A41-470D-8C99-DAF6168A7C38}"/>
              </a:ext>
            </a:extLst>
          </p:cNvPr>
          <p:cNvSpPr txBox="1"/>
          <p:nvPr/>
        </p:nvSpPr>
        <p:spPr>
          <a:xfrm>
            <a:off x="3702133" y="3388264"/>
            <a:ext cx="83513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Si noti l’utilizzo di 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C05882D7-1E40-3ED0-7285-7859887BF482}"/>
              </a:ext>
            </a:extLst>
          </p:cNvPr>
          <p:cNvSpPr txBox="1"/>
          <p:nvPr/>
        </p:nvSpPr>
        <p:spPr>
          <a:xfrm>
            <a:off x="282039" y="1121847"/>
            <a:ext cx="2863446" cy="286232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Le parentesi graffe, in JAVA, sono delimitatori di blocchi di codice: un programma od una sua sezione, così come una stessa classe è definita in un blocco, quindi tra parentesi. Non esiste metodo o classe che non siano racchiuse tra parentesi.</a:t>
            </a:r>
          </a:p>
        </p:txBody>
      </p:sp>
    </p:spTree>
    <p:extLst>
      <p:ext uri="{BB962C8B-B14F-4D97-AF65-F5344CB8AC3E}">
        <p14:creationId xmlns:p14="http://schemas.microsoft.com/office/powerpoint/2010/main" val="137254301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Struttura di una applicazione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Per esempio, se volessimo creare una classe eseguibile che visualizzi la classica scritta "Ciao Mondo" a video, il codice potrebbe essere il seguente: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08CBE74-C9CD-A445-0DD2-358B8F73135E}"/>
              </a:ext>
            </a:extLst>
          </p:cNvPr>
          <p:cNvSpPr txBox="1"/>
          <p:nvPr/>
        </p:nvSpPr>
        <p:spPr>
          <a:xfrm>
            <a:off x="3702132" y="1718977"/>
            <a:ext cx="8006937" cy="147732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class 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System.out.println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"Ciao Mondo"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}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9044A54-C462-E81B-88C1-68A0B17EB871}"/>
              </a:ext>
            </a:extLst>
          </p:cNvPr>
          <p:cNvSpPr txBox="1"/>
          <p:nvPr/>
        </p:nvSpPr>
        <p:spPr>
          <a:xfrm>
            <a:off x="3702132" y="3846362"/>
            <a:ext cx="6097978" cy="3693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System.out.println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"Ciao Mondo"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283DBD8B-0A41-470D-8C99-DAF6168A7C38}"/>
              </a:ext>
            </a:extLst>
          </p:cNvPr>
          <p:cNvSpPr txBox="1"/>
          <p:nvPr/>
        </p:nvSpPr>
        <p:spPr>
          <a:xfrm>
            <a:off x="3702133" y="3388264"/>
            <a:ext cx="83513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Si noti l’utilizzo di 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470C241D-FD42-F81A-F4D9-CCE4BBCA039C}"/>
              </a:ext>
            </a:extLst>
          </p:cNvPr>
          <p:cNvSpPr txBox="1"/>
          <p:nvPr/>
        </p:nvSpPr>
        <p:spPr>
          <a:xfrm>
            <a:off x="3702132" y="4304460"/>
            <a:ext cx="83513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/>
              <a:t>System.out.println</a:t>
            </a:r>
            <a:r>
              <a:rPr lang="it-IT" dirty="0"/>
              <a:t> , come approfondiremo poi, è null’altro che un metodo per la scrittura sul video. Ciò che viene passato tra le parentesi viene scritto.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91961AC7-71A5-817D-DE6B-F5BA54B241FE}"/>
              </a:ext>
            </a:extLst>
          </p:cNvPr>
          <p:cNvSpPr txBox="1"/>
          <p:nvPr/>
        </p:nvSpPr>
        <p:spPr>
          <a:xfrm>
            <a:off x="282039" y="1121847"/>
            <a:ext cx="2863446" cy="286232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Le parentesi graffe, in JAVA, sono delimitatori di blocchi di codice: un programma od una sua sezione, così come una stessa classe è definita in un blocco, quindi tra parentesi. Non esiste metodo o classe che non siano racchiuse tra parentesi.</a:t>
            </a:r>
          </a:p>
        </p:txBody>
      </p:sp>
    </p:spTree>
    <p:extLst>
      <p:ext uri="{BB962C8B-B14F-4D97-AF65-F5344CB8AC3E}">
        <p14:creationId xmlns:p14="http://schemas.microsoft.com/office/powerpoint/2010/main" val="391630913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Struttura di una applicazione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Per esempio, se volessimo creare una classe eseguibile che visualizzi la classica scritta "Ciao Mondo" a video, il codice potrebbe essere il seguente: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08CBE74-C9CD-A445-0DD2-358B8F73135E}"/>
              </a:ext>
            </a:extLst>
          </p:cNvPr>
          <p:cNvSpPr txBox="1"/>
          <p:nvPr/>
        </p:nvSpPr>
        <p:spPr>
          <a:xfrm>
            <a:off x="3702132" y="1718977"/>
            <a:ext cx="8006937" cy="147732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class 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System.out.println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"Ciao Mondo"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}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9044A54-C462-E81B-88C1-68A0B17EB871}"/>
              </a:ext>
            </a:extLst>
          </p:cNvPr>
          <p:cNvSpPr txBox="1"/>
          <p:nvPr/>
        </p:nvSpPr>
        <p:spPr>
          <a:xfrm>
            <a:off x="3702132" y="3846362"/>
            <a:ext cx="6097978" cy="3693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System.out.println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"Ciao Mondo"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283DBD8B-0A41-470D-8C99-DAF6168A7C38}"/>
              </a:ext>
            </a:extLst>
          </p:cNvPr>
          <p:cNvSpPr txBox="1"/>
          <p:nvPr/>
        </p:nvSpPr>
        <p:spPr>
          <a:xfrm>
            <a:off x="3702133" y="3388264"/>
            <a:ext cx="83513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Si noti l’utilizzo di 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470C241D-FD42-F81A-F4D9-CCE4BBCA039C}"/>
              </a:ext>
            </a:extLst>
          </p:cNvPr>
          <p:cNvSpPr txBox="1"/>
          <p:nvPr/>
        </p:nvSpPr>
        <p:spPr>
          <a:xfrm>
            <a:off x="3702132" y="4304460"/>
            <a:ext cx="83513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/>
              <a:t>System.out.println</a:t>
            </a:r>
            <a:r>
              <a:rPr lang="it-IT" dirty="0"/>
              <a:t> , come approfondiremo poi, è null’altro che un metodo per la scrittura sul video. Ciò che viene passato tra le parentesi viene scritto.</a:t>
            </a:r>
            <a:br>
              <a:rPr lang="it-IT" dirty="0"/>
            </a:br>
            <a:endParaRPr lang="it-IT" dirty="0"/>
          </a:p>
          <a:p>
            <a:r>
              <a:rPr lang="it-IT" dirty="0"/>
              <a:t>Attenzione, ciò che viene scritto è il valore di ciò che viene passato tra le parentesi.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0AADD05B-A0B7-6EDD-A849-AB8B4A897B5F}"/>
              </a:ext>
            </a:extLst>
          </p:cNvPr>
          <p:cNvSpPr txBox="1"/>
          <p:nvPr/>
        </p:nvSpPr>
        <p:spPr>
          <a:xfrm>
            <a:off x="282039" y="1121847"/>
            <a:ext cx="2863446" cy="286232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Le parentesi graffe, in JAVA, sono delimitatori di blocchi di codice: un programma od una sua sezione, così come una stessa classe è definita in un blocco, quindi tra parentesi. Non esiste metodo o classe che non siano racchiuse tra parentesi.</a:t>
            </a:r>
          </a:p>
        </p:txBody>
      </p:sp>
    </p:spTree>
    <p:extLst>
      <p:ext uri="{BB962C8B-B14F-4D97-AF65-F5344CB8AC3E}">
        <p14:creationId xmlns:p14="http://schemas.microsoft.com/office/powerpoint/2010/main" val="267266524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Struttura di una applicazione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Per esempio, se volessimo creare una classe eseguibile che visualizzi la classica scritta "Ciao Mondo" a video, il codice potrebbe essere il seguente: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08CBE74-C9CD-A445-0DD2-358B8F73135E}"/>
              </a:ext>
            </a:extLst>
          </p:cNvPr>
          <p:cNvSpPr txBox="1"/>
          <p:nvPr/>
        </p:nvSpPr>
        <p:spPr>
          <a:xfrm>
            <a:off x="3702132" y="1718977"/>
            <a:ext cx="8006937" cy="147732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class 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System.out.println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"Ciao Mondo"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}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9044A54-C462-E81B-88C1-68A0B17EB871}"/>
              </a:ext>
            </a:extLst>
          </p:cNvPr>
          <p:cNvSpPr txBox="1"/>
          <p:nvPr/>
        </p:nvSpPr>
        <p:spPr>
          <a:xfrm>
            <a:off x="3702132" y="3846362"/>
            <a:ext cx="6097978" cy="3693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System.out.println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"Ciao Mondo"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283DBD8B-0A41-470D-8C99-DAF6168A7C38}"/>
              </a:ext>
            </a:extLst>
          </p:cNvPr>
          <p:cNvSpPr txBox="1"/>
          <p:nvPr/>
        </p:nvSpPr>
        <p:spPr>
          <a:xfrm>
            <a:off x="3702133" y="3388264"/>
            <a:ext cx="83513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Si noti l’utilizzo di 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470C241D-FD42-F81A-F4D9-CCE4BBCA039C}"/>
              </a:ext>
            </a:extLst>
          </p:cNvPr>
          <p:cNvSpPr txBox="1"/>
          <p:nvPr/>
        </p:nvSpPr>
        <p:spPr>
          <a:xfrm>
            <a:off x="3702132" y="4304460"/>
            <a:ext cx="835132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/>
              <a:t>System.out.println</a:t>
            </a:r>
            <a:r>
              <a:rPr lang="it-IT" dirty="0"/>
              <a:t> , come approfondiremo poi, è null’altro che un metodo per la scrittura sul video. Ciò che viene passato tra le parentesi viene scritto.</a:t>
            </a:r>
            <a:br>
              <a:rPr lang="it-IT" dirty="0"/>
            </a:br>
            <a:endParaRPr lang="it-IT" dirty="0"/>
          </a:p>
          <a:p>
            <a:r>
              <a:rPr lang="it-IT" dirty="0"/>
              <a:t>Attenzione, ciò che viene scritto è il valore di ciò che viene passato tra le parentesi.</a:t>
            </a:r>
          </a:p>
          <a:p>
            <a:endParaRPr lang="it-IT" dirty="0"/>
          </a:p>
          <a:p>
            <a:r>
              <a:rPr lang="it-IT" dirty="0"/>
              <a:t>Pertanto se è un numero o una stringa saranno il numero stesso o la stringa stessa.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DD67789C-0158-65EB-32B6-D16B6339215F}"/>
              </a:ext>
            </a:extLst>
          </p:cNvPr>
          <p:cNvSpPr txBox="1"/>
          <p:nvPr/>
        </p:nvSpPr>
        <p:spPr>
          <a:xfrm>
            <a:off x="282039" y="1121847"/>
            <a:ext cx="2863446" cy="286232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Le parentesi graffe, in JAVA, sono delimitatori di blocchi di codice: un programma od una sua sezione, così come una stessa classe è definita in un blocco, quindi tra parentesi. Non esiste metodo o classe che non siano racchiuse tra parentesi.</a:t>
            </a:r>
          </a:p>
        </p:txBody>
      </p:sp>
    </p:spTree>
    <p:extLst>
      <p:ext uri="{BB962C8B-B14F-4D97-AF65-F5344CB8AC3E}">
        <p14:creationId xmlns:p14="http://schemas.microsoft.com/office/powerpoint/2010/main" val="361590517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Struttura di una applicazione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Per esempio, se volessimo creare una classe eseguibile che visualizzi la classica scritta "Ciao Mondo" a video, il codice potrebbe essere il seguente: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08CBE74-C9CD-A445-0DD2-358B8F73135E}"/>
              </a:ext>
            </a:extLst>
          </p:cNvPr>
          <p:cNvSpPr txBox="1"/>
          <p:nvPr/>
        </p:nvSpPr>
        <p:spPr>
          <a:xfrm>
            <a:off x="3702132" y="1718977"/>
            <a:ext cx="8006937" cy="147732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class 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System.out.println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"Ciao Mondo"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}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9044A54-C462-E81B-88C1-68A0B17EB871}"/>
              </a:ext>
            </a:extLst>
          </p:cNvPr>
          <p:cNvSpPr txBox="1"/>
          <p:nvPr/>
        </p:nvSpPr>
        <p:spPr>
          <a:xfrm>
            <a:off x="3702132" y="3846362"/>
            <a:ext cx="6097978" cy="3693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System.out.println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"Ciao Mondo"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283DBD8B-0A41-470D-8C99-DAF6168A7C38}"/>
              </a:ext>
            </a:extLst>
          </p:cNvPr>
          <p:cNvSpPr txBox="1"/>
          <p:nvPr/>
        </p:nvSpPr>
        <p:spPr>
          <a:xfrm>
            <a:off x="3702133" y="3388264"/>
            <a:ext cx="83513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Si noti l’utilizzo di 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470C241D-FD42-F81A-F4D9-CCE4BBCA039C}"/>
              </a:ext>
            </a:extLst>
          </p:cNvPr>
          <p:cNvSpPr txBox="1"/>
          <p:nvPr/>
        </p:nvSpPr>
        <p:spPr>
          <a:xfrm>
            <a:off x="3702132" y="4304460"/>
            <a:ext cx="835132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/>
              <a:t>System.out.println</a:t>
            </a:r>
            <a:r>
              <a:rPr lang="it-IT" dirty="0"/>
              <a:t> , come approfondiremo poi, è null’altro che un metodo per la scrittura sul video. Ciò che viene passato tra le parentesi viene scritto.</a:t>
            </a:r>
            <a:br>
              <a:rPr lang="it-IT" dirty="0"/>
            </a:br>
            <a:endParaRPr lang="it-IT" dirty="0"/>
          </a:p>
          <a:p>
            <a:r>
              <a:rPr lang="it-IT" dirty="0"/>
              <a:t>Attenzione, ciò che viene scritto è il valore di ciò che viene passato tra le parentesi.</a:t>
            </a:r>
          </a:p>
          <a:p>
            <a:endParaRPr lang="it-IT" dirty="0"/>
          </a:p>
          <a:p>
            <a:r>
              <a:rPr lang="it-IT" dirty="0"/>
              <a:t>Pertanto se è un numero o una stringa saranno il numero stesso o la stringa stessa.</a:t>
            </a:r>
          </a:p>
          <a:p>
            <a:r>
              <a:rPr lang="it-IT" dirty="0"/>
              <a:t>Se fosse una espressione algebrica, ne sarebbe scritto il risultato.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325F4EB6-522C-6ED0-E21E-9CC5677EAE9D}"/>
              </a:ext>
            </a:extLst>
          </p:cNvPr>
          <p:cNvSpPr txBox="1"/>
          <p:nvPr/>
        </p:nvSpPr>
        <p:spPr>
          <a:xfrm>
            <a:off x="282039" y="1121847"/>
            <a:ext cx="2863446" cy="286232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Le parentesi graffe, in JAVA, sono delimitatori di blocchi di codice: un programma od una sua sezione, così come una stessa classe è definita in un blocco, quindi tra parentesi. Non esiste metodo o classe che non siano racchiuse tra parentesi.</a:t>
            </a:r>
          </a:p>
        </p:txBody>
      </p:sp>
    </p:spTree>
    <p:extLst>
      <p:ext uri="{BB962C8B-B14F-4D97-AF65-F5344CB8AC3E}">
        <p14:creationId xmlns:p14="http://schemas.microsoft.com/office/powerpoint/2010/main" val="110512511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Struttura di una applicazione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Per esempio, se volessimo creare una classe eseguibile che visualizzi la classica scritta "Ciao Mondo" a video, il codice potrebbe essere il seguente: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08CBE74-C9CD-A445-0DD2-358B8F73135E}"/>
              </a:ext>
            </a:extLst>
          </p:cNvPr>
          <p:cNvSpPr txBox="1"/>
          <p:nvPr/>
        </p:nvSpPr>
        <p:spPr>
          <a:xfrm>
            <a:off x="3702132" y="1718977"/>
            <a:ext cx="8006937" cy="147732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class 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System.out.println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"Ciao Mondo"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}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9044A54-C462-E81B-88C1-68A0B17EB871}"/>
              </a:ext>
            </a:extLst>
          </p:cNvPr>
          <p:cNvSpPr txBox="1"/>
          <p:nvPr/>
        </p:nvSpPr>
        <p:spPr>
          <a:xfrm>
            <a:off x="3702132" y="3846362"/>
            <a:ext cx="6097978" cy="3693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it-IT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System.out.println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"Ciao Mondo"</a:t>
            </a:r>
            <a:r>
              <a:rPr lang="it-IT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it-IT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283DBD8B-0A41-470D-8C99-DAF6168A7C38}"/>
              </a:ext>
            </a:extLst>
          </p:cNvPr>
          <p:cNvSpPr txBox="1"/>
          <p:nvPr/>
        </p:nvSpPr>
        <p:spPr>
          <a:xfrm>
            <a:off x="3702133" y="3388264"/>
            <a:ext cx="83513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Si noti l’utilizzo di 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470C241D-FD42-F81A-F4D9-CCE4BBCA039C}"/>
              </a:ext>
            </a:extLst>
          </p:cNvPr>
          <p:cNvSpPr txBox="1"/>
          <p:nvPr/>
        </p:nvSpPr>
        <p:spPr>
          <a:xfrm>
            <a:off x="3702132" y="4304460"/>
            <a:ext cx="835132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/>
              <a:t>System.out.println</a:t>
            </a:r>
            <a:r>
              <a:rPr lang="it-IT" dirty="0"/>
              <a:t> , come approfondiremo poi, è null’altro che un metodo per la scrittura sul video. Ciò che viene passato tra le parentesi viene scritto.</a:t>
            </a:r>
            <a:br>
              <a:rPr lang="it-IT" dirty="0"/>
            </a:br>
            <a:endParaRPr lang="it-IT" dirty="0"/>
          </a:p>
          <a:p>
            <a:r>
              <a:rPr lang="it-IT" dirty="0"/>
              <a:t>Attenzione, ciò che viene scritto è il valore di ciò che viene passato tra le parentesi.</a:t>
            </a:r>
          </a:p>
          <a:p>
            <a:endParaRPr lang="it-IT" dirty="0"/>
          </a:p>
          <a:p>
            <a:r>
              <a:rPr lang="it-IT" dirty="0"/>
              <a:t>Pertanto se è un numero o una stringa saranno il numero stesso o la stringa stessa.</a:t>
            </a:r>
          </a:p>
          <a:p>
            <a:r>
              <a:rPr lang="it-IT" dirty="0"/>
              <a:t>Se fosse una espressione algebrica, ne sarebbe scritto il risultato.</a:t>
            </a:r>
          </a:p>
          <a:p>
            <a:r>
              <a:rPr lang="it-IT" dirty="0"/>
              <a:t>Se sarà una variabile, come vedremo più in avanti trattandole, sarà il loro valore.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0B51240D-9EF6-71AF-D812-096A2ED581D4}"/>
              </a:ext>
            </a:extLst>
          </p:cNvPr>
          <p:cNvSpPr txBox="1"/>
          <p:nvPr/>
        </p:nvSpPr>
        <p:spPr>
          <a:xfrm>
            <a:off x="282039" y="1121847"/>
            <a:ext cx="2863446" cy="286232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Le parentesi graffe, in JAVA, sono delimitatori di blocchi di codice: un programma od una sua sezione, così come una stessa classe è definita in un blocco, quindi tra parentesi. Non esiste metodo o classe che non siano racchiuse tra parentesi.</a:t>
            </a:r>
          </a:p>
        </p:txBody>
      </p:sp>
    </p:spTree>
    <p:extLst>
      <p:ext uri="{BB962C8B-B14F-4D97-AF65-F5344CB8AC3E}">
        <p14:creationId xmlns:p14="http://schemas.microsoft.com/office/powerpoint/2010/main" val="25332531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Eseguiamo il programma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Per eseguire un programma così sviluppato, anche per questo semplicissimo programma, è necessario compilarlo.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D31ECFC-168D-4155-E321-A215A6766BC4}"/>
              </a:ext>
            </a:extLst>
          </p:cNvPr>
          <p:cNvSpPr txBox="1"/>
          <p:nvPr/>
        </p:nvSpPr>
        <p:spPr>
          <a:xfrm>
            <a:off x="282039" y="931966"/>
            <a:ext cx="3114304" cy="6719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Dal codice JAVA al file class compilato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0AA3C93-A3DE-1E35-C7AA-88742B85AD3C}"/>
              </a:ext>
            </a:extLst>
          </p:cNvPr>
          <p:cNvSpPr txBox="1"/>
          <p:nvPr/>
        </p:nvSpPr>
        <p:spPr>
          <a:xfrm>
            <a:off x="3705548" y="382012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La compilazione</a:t>
            </a:r>
          </a:p>
        </p:txBody>
      </p:sp>
    </p:spTree>
    <p:extLst>
      <p:ext uri="{BB962C8B-B14F-4D97-AF65-F5344CB8AC3E}">
        <p14:creationId xmlns:p14="http://schemas.microsoft.com/office/powerpoint/2010/main" val="85810442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Eseguiamo il programma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Per eseguire un programma così sviluppato, anche per questo semplicissimo programma, è necessario compilarlo.</a:t>
            </a:r>
          </a:p>
          <a:p>
            <a:r>
              <a:rPr lang="it-IT" dirty="0"/>
              <a:t>Il file contenente il codice, infatti, non è eseguibile come un programma finito.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D31ECFC-168D-4155-E321-A215A6766BC4}"/>
              </a:ext>
            </a:extLst>
          </p:cNvPr>
          <p:cNvSpPr txBox="1"/>
          <p:nvPr/>
        </p:nvSpPr>
        <p:spPr>
          <a:xfrm>
            <a:off x="282039" y="931966"/>
            <a:ext cx="3114304" cy="6719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Dal codice JAVA al file class compilato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0AA3C93-A3DE-1E35-C7AA-88742B85AD3C}"/>
              </a:ext>
            </a:extLst>
          </p:cNvPr>
          <p:cNvSpPr txBox="1"/>
          <p:nvPr/>
        </p:nvSpPr>
        <p:spPr>
          <a:xfrm>
            <a:off x="3705548" y="382012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La compilazione</a:t>
            </a:r>
          </a:p>
        </p:txBody>
      </p:sp>
    </p:spTree>
    <p:extLst>
      <p:ext uri="{BB962C8B-B14F-4D97-AF65-F5344CB8AC3E}">
        <p14:creationId xmlns:p14="http://schemas.microsoft.com/office/powerpoint/2010/main" val="203242733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Eseguiamo il programma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Per eseguire un programma così sviluppato, anche per questo semplicissimo programma, è necessario compilarlo.</a:t>
            </a:r>
          </a:p>
          <a:p>
            <a:r>
              <a:rPr lang="it-IT" dirty="0"/>
              <a:t>Il file contenente il codice, infatti, non è eseguibile come un programma finito.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D31ECFC-168D-4155-E321-A215A6766BC4}"/>
              </a:ext>
            </a:extLst>
          </p:cNvPr>
          <p:cNvSpPr txBox="1"/>
          <p:nvPr/>
        </p:nvSpPr>
        <p:spPr>
          <a:xfrm>
            <a:off x="282039" y="931966"/>
            <a:ext cx="3114304" cy="6719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Dal codice JAVA al file class compilato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0AA3C93-A3DE-1E35-C7AA-88742B85AD3C}"/>
              </a:ext>
            </a:extLst>
          </p:cNvPr>
          <p:cNvSpPr txBox="1"/>
          <p:nvPr/>
        </p:nvSpPr>
        <p:spPr>
          <a:xfrm>
            <a:off x="3705548" y="382012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La compilazione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793CA1D-AEFB-1191-5C18-DF1FCB0D6C3A}"/>
              </a:ext>
            </a:extLst>
          </p:cNvPr>
          <p:cNvSpPr txBox="1"/>
          <p:nvPr/>
        </p:nvSpPr>
        <p:spPr>
          <a:xfrm>
            <a:off x="282039" y="1718977"/>
            <a:ext cx="10733893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500" dirty="0"/>
              <a:t>La macchina virtuale JAVA, infatti, è in grado di eseguire solo fine in </a:t>
            </a:r>
            <a:r>
              <a:rPr lang="it-IT" sz="1500" dirty="0" err="1"/>
              <a:t>bytcode</a:t>
            </a:r>
            <a:r>
              <a:rPr lang="it-IT" sz="1500" dirty="0"/>
              <a:t>, ossia nel «linguaggio macchina java», che differisce dal linguaggio di programmazione JAVA per il fatto che quest’ultimo è scrivibile e comprensibile dai programmatori JAVA, mentre il </a:t>
            </a:r>
            <a:r>
              <a:rPr lang="it-IT" sz="1500" dirty="0" err="1"/>
              <a:t>bytcode</a:t>
            </a:r>
            <a:r>
              <a:rPr lang="it-IT" sz="1500" dirty="0"/>
              <a:t> è esclusivamente per la macchina virtuale JAVA.</a:t>
            </a:r>
          </a:p>
        </p:txBody>
      </p:sp>
    </p:spTree>
    <p:extLst>
      <p:ext uri="{BB962C8B-B14F-4D97-AF65-F5344CB8AC3E}">
        <p14:creationId xmlns:p14="http://schemas.microsoft.com/office/powerpoint/2010/main" val="40682200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Eseguiamo il programma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Per eseguire un programma così sviluppato, anche per questo semplicissimo programma, è necessario compilarlo.</a:t>
            </a:r>
          </a:p>
          <a:p>
            <a:r>
              <a:rPr lang="it-IT" dirty="0"/>
              <a:t>Il file contenente il codice, infatti, non è eseguibile come un programma finito.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D31ECFC-168D-4155-E321-A215A6766BC4}"/>
              </a:ext>
            </a:extLst>
          </p:cNvPr>
          <p:cNvSpPr txBox="1"/>
          <p:nvPr/>
        </p:nvSpPr>
        <p:spPr>
          <a:xfrm>
            <a:off x="282039" y="931966"/>
            <a:ext cx="3114304" cy="6719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Dal codice JAVA al file class compilato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0AA3C93-A3DE-1E35-C7AA-88742B85AD3C}"/>
              </a:ext>
            </a:extLst>
          </p:cNvPr>
          <p:cNvSpPr txBox="1"/>
          <p:nvPr/>
        </p:nvSpPr>
        <p:spPr>
          <a:xfrm>
            <a:off x="3705548" y="382012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La compilazione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793CA1D-AEFB-1191-5C18-DF1FCB0D6C3A}"/>
              </a:ext>
            </a:extLst>
          </p:cNvPr>
          <p:cNvSpPr txBox="1"/>
          <p:nvPr/>
        </p:nvSpPr>
        <p:spPr>
          <a:xfrm>
            <a:off x="282039" y="1718977"/>
            <a:ext cx="10733893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500" dirty="0"/>
              <a:t>La macchina virtuale JAVA, infatti, è in grado di eseguire solo fine in </a:t>
            </a:r>
            <a:r>
              <a:rPr lang="it-IT" sz="1500" dirty="0" err="1"/>
              <a:t>bytcode</a:t>
            </a:r>
            <a:r>
              <a:rPr lang="it-IT" sz="1500" dirty="0"/>
              <a:t>, ossia nel «linguaggio macchina java», che differisce dal linguaggio di programmazione JAVA per il fatto che quest’ultimo è scrivibile e comprensibile dai programmatori JAVA, mentre il </a:t>
            </a:r>
            <a:r>
              <a:rPr lang="it-IT" sz="1500" dirty="0" err="1"/>
              <a:t>bytcode</a:t>
            </a:r>
            <a:r>
              <a:rPr lang="it-IT" sz="1500" dirty="0"/>
              <a:t> è esclusivamente per la macchina virtuale JAVA.</a:t>
            </a:r>
          </a:p>
          <a:p>
            <a:r>
              <a:rPr lang="it-IT" sz="1500" dirty="0"/>
              <a:t>JAVA esegue il </a:t>
            </a:r>
            <a:r>
              <a:rPr lang="it-IT" sz="1500" dirty="0" err="1"/>
              <a:t>bytecode</a:t>
            </a:r>
            <a:r>
              <a:rPr lang="it-IT" sz="1500" dirty="0"/>
              <a:t> e non il codice scritto dai programmatori: il </a:t>
            </a:r>
            <a:r>
              <a:rPr lang="it-IT" sz="1500" dirty="0" err="1"/>
              <a:t>bytecode</a:t>
            </a:r>
            <a:r>
              <a:rPr lang="it-IT" sz="1500" dirty="0"/>
              <a:t> viene generato da un tool fornito con il kit di programmazione JAVA, il compilatore, il quale traduce il codice scritto, produce una versione in codice macchina JAVA, la quale è il vero linguaggio della macchina JAVA ed, inoltre, è maggiormente ottimizzato (nel processo subentra il </a:t>
            </a:r>
            <a:r>
              <a:rPr lang="it-IT" sz="1500" dirty="0" err="1"/>
              <a:t>garbage</a:t>
            </a:r>
            <a:r>
              <a:rPr lang="it-IT" sz="1500" dirty="0"/>
              <a:t> </a:t>
            </a:r>
            <a:r>
              <a:rPr lang="it-IT" sz="1500" dirty="0" err="1"/>
              <a:t>collector</a:t>
            </a:r>
            <a:r>
              <a:rPr lang="it-IT" sz="1500" dirty="0"/>
              <a:t> ed una serie di sistemi ottimizzanti). </a:t>
            </a:r>
          </a:p>
        </p:txBody>
      </p:sp>
    </p:spTree>
    <p:extLst>
      <p:ext uri="{BB962C8B-B14F-4D97-AF65-F5344CB8AC3E}">
        <p14:creationId xmlns:p14="http://schemas.microsoft.com/office/powerpoint/2010/main" val="273157977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Eseguiamo il programma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Per eseguire un programma così sviluppato, anche per questo semplicissimo programma, è necessario compilarlo.</a:t>
            </a:r>
          </a:p>
          <a:p>
            <a:r>
              <a:rPr lang="it-IT" dirty="0"/>
              <a:t>Il file contenente il codice, infatti, non è eseguibile come un programma finito.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D31ECFC-168D-4155-E321-A215A6766BC4}"/>
              </a:ext>
            </a:extLst>
          </p:cNvPr>
          <p:cNvSpPr txBox="1"/>
          <p:nvPr/>
        </p:nvSpPr>
        <p:spPr>
          <a:xfrm>
            <a:off x="282039" y="931966"/>
            <a:ext cx="3114304" cy="6719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Dal codice JAVA al file class compilato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0AA3C93-A3DE-1E35-C7AA-88742B85AD3C}"/>
              </a:ext>
            </a:extLst>
          </p:cNvPr>
          <p:cNvSpPr txBox="1"/>
          <p:nvPr/>
        </p:nvSpPr>
        <p:spPr>
          <a:xfrm>
            <a:off x="3705548" y="382012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La compilazione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793CA1D-AEFB-1191-5C18-DF1FCB0D6C3A}"/>
              </a:ext>
            </a:extLst>
          </p:cNvPr>
          <p:cNvSpPr txBox="1"/>
          <p:nvPr/>
        </p:nvSpPr>
        <p:spPr>
          <a:xfrm>
            <a:off x="282039" y="1718977"/>
            <a:ext cx="10733893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500" dirty="0"/>
              <a:t>La macchina virtuale JAVA, infatti, è in grado di eseguire solo fine in </a:t>
            </a:r>
            <a:r>
              <a:rPr lang="it-IT" sz="1500" dirty="0" err="1"/>
              <a:t>bytcode</a:t>
            </a:r>
            <a:r>
              <a:rPr lang="it-IT" sz="1500" dirty="0"/>
              <a:t>, ossia nel «linguaggio macchina java», che differisce dal linguaggio di programmazione JAVA per il fatto che quest’ultimo è scrivibile e comprensibile dai programmatori JAVA, mentre il </a:t>
            </a:r>
            <a:r>
              <a:rPr lang="it-IT" sz="1500" dirty="0" err="1"/>
              <a:t>bytcode</a:t>
            </a:r>
            <a:r>
              <a:rPr lang="it-IT" sz="1500" dirty="0"/>
              <a:t> è esclusivamente per la macchina virtuale JAVA.</a:t>
            </a:r>
          </a:p>
          <a:p>
            <a:r>
              <a:rPr lang="it-IT" sz="1500" dirty="0"/>
              <a:t>JAVA esegue il </a:t>
            </a:r>
            <a:r>
              <a:rPr lang="it-IT" sz="1500" dirty="0" err="1"/>
              <a:t>bytecode</a:t>
            </a:r>
            <a:r>
              <a:rPr lang="it-IT" sz="1500" dirty="0"/>
              <a:t> e non il codice scritto dai programmatori: il </a:t>
            </a:r>
            <a:r>
              <a:rPr lang="it-IT" sz="1500" dirty="0" err="1"/>
              <a:t>bytecode</a:t>
            </a:r>
            <a:r>
              <a:rPr lang="it-IT" sz="1500" dirty="0"/>
              <a:t> viene generato da un tool fornito con il kit di programmazione JAVA, il compilatore, il quale traduce il codice scritto, produce una versione in codice macchina JAVA, la quale è il vero linguaggio della macchina JAVA ed, inoltre, è maggiormente ottimizzato (nel processo subentra il </a:t>
            </a:r>
            <a:r>
              <a:rPr lang="it-IT" sz="1500" dirty="0" err="1"/>
              <a:t>garbage</a:t>
            </a:r>
            <a:r>
              <a:rPr lang="it-IT" sz="1500" dirty="0"/>
              <a:t> </a:t>
            </a:r>
            <a:r>
              <a:rPr lang="it-IT" sz="1500" dirty="0" err="1"/>
              <a:t>collector</a:t>
            </a:r>
            <a:r>
              <a:rPr lang="it-IT" sz="1500" dirty="0"/>
              <a:t> ed una serie di sistemi ottimizzanti). Se proviamo a visualizzare il codice da noi scritto (per esempio nell’ultimo esercizio visto) ed il codice </a:t>
            </a:r>
            <a:r>
              <a:rPr lang="it-IT" sz="1500" dirty="0" err="1"/>
              <a:t>bytecode</a:t>
            </a:r>
            <a:r>
              <a:rPr lang="it-IT" sz="1500" dirty="0"/>
              <a:t> generato, possiamo osservare come il primo sia a noi comprensibile (se abbiamo le basi di JAVA) mentre pare ovvio che il secondo proprio non possa esserlo.</a:t>
            </a:r>
          </a:p>
        </p:txBody>
      </p:sp>
    </p:spTree>
    <p:extLst>
      <p:ext uri="{BB962C8B-B14F-4D97-AF65-F5344CB8AC3E}">
        <p14:creationId xmlns:p14="http://schemas.microsoft.com/office/powerpoint/2010/main" val="364710627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Eseguiamo il programma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Per eseguire un programma così sviluppato, anche per questo semplicissimo programma, è necessario compilarlo.</a:t>
            </a:r>
          </a:p>
          <a:p>
            <a:r>
              <a:rPr lang="it-IT" dirty="0"/>
              <a:t>Il file contenente il codice, infatti, non è eseguibile come un programma finito.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D31ECFC-168D-4155-E321-A215A6766BC4}"/>
              </a:ext>
            </a:extLst>
          </p:cNvPr>
          <p:cNvSpPr txBox="1"/>
          <p:nvPr/>
        </p:nvSpPr>
        <p:spPr>
          <a:xfrm>
            <a:off x="282039" y="931966"/>
            <a:ext cx="3114304" cy="6719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Dal codice JAVA al file class compilato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0AA3C93-A3DE-1E35-C7AA-88742B85AD3C}"/>
              </a:ext>
            </a:extLst>
          </p:cNvPr>
          <p:cNvSpPr txBox="1"/>
          <p:nvPr/>
        </p:nvSpPr>
        <p:spPr>
          <a:xfrm>
            <a:off x="3705548" y="382012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La compilazione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793CA1D-AEFB-1191-5C18-DF1FCB0D6C3A}"/>
              </a:ext>
            </a:extLst>
          </p:cNvPr>
          <p:cNvSpPr txBox="1"/>
          <p:nvPr/>
        </p:nvSpPr>
        <p:spPr>
          <a:xfrm>
            <a:off x="282039" y="1718977"/>
            <a:ext cx="10733893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500" dirty="0"/>
              <a:t>La macchina virtuale JAVA, infatti, è in grado di eseguire solo fine in </a:t>
            </a:r>
            <a:r>
              <a:rPr lang="it-IT" sz="1500" dirty="0" err="1"/>
              <a:t>bytcode</a:t>
            </a:r>
            <a:r>
              <a:rPr lang="it-IT" sz="1500" dirty="0"/>
              <a:t>, ossia nel «linguaggio macchina java», che differisce dal linguaggio di programmazione JAVA per il fatto che quest’ultimo è scrivibile e comprensibile dai programmatori JAVA, mentre il </a:t>
            </a:r>
            <a:r>
              <a:rPr lang="it-IT" sz="1500" dirty="0" err="1"/>
              <a:t>bytcode</a:t>
            </a:r>
            <a:r>
              <a:rPr lang="it-IT" sz="1500" dirty="0"/>
              <a:t> è esclusivamente per la macchina virtuale JAVA.</a:t>
            </a:r>
          </a:p>
          <a:p>
            <a:r>
              <a:rPr lang="it-IT" sz="1500" dirty="0"/>
              <a:t>JAVA esegue il </a:t>
            </a:r>
            <a:r>
              <a:rPr lang="it-IT" sz="1500" dirty="0" err="1"/>
              <a:t>bytecode</a:t>
            </a:r>
            <a:r>
              <a:rPr lang="it-IT" sz="1500" dirty="0"/>
              <a:t> e non il codice scritto dai programmatori: il </a:t>
            </a:r>
            <a:r>
              <a:rPr lang="it-IT" sz="1500" dirty="0" err="1"/>
              <a:t>bytecode</a:t>
            </a:r>
            <a:r>
              <a:rPr lang="it-IT" sz="1500" dirty="0"/>
              <a:t> viene generato da un tool fornito con il kit di programmazione JAVA, il compilatore, il quale traduce il codice scritto, produce una versione in codice macchina JAVA, la quale è il vero linguaggio della macchina JAVA ed, inoltre, è maggiormente ottimizzato (nel processo subentra il </a:t>
            </a:r>
            <a:r>
              <a:rPr lang="it-IT" sz="1500" dirty="0" err="1"/>
              <a:t>garbage</a:t>
            </a:r>
            <a:r>
              <a:rPr lang="it-IT" sz="1500" dirty="0"/>
              <a:t> </a:t>
            </a:r>
            <a:r>
              <a:rPr lang="it-IT" sz="1500" dirty="0" err="1"/>
              <a:t>collector</a:t>
            </a:r>
            <a:r>
              <a:rPr lang="it-IT" sz="1500" dirty="0"/>
              <a:t> ed una serie di sistemi ottimizzanti). Se proviamo a visualizzare il codice da noi scritto (per esempio nell’ultimo esercizio visto) ed il codice </a:t>
            </a:r>
            <a:r>
              <a:rPr lang="it-IT" sz="1500" dirty="0" err="1"/>
              <a:t>bytecode</a:t>
            </a:r>
            <a:r>
              <a:rPr lang="it-IT" sz="1500" dirty="0"/>
              <a:t> generato, possiamo osservare come il primo sia a noi comprensibile (se abbiamo le basi di JAVA) mentre pare ovvio che il secondo proprio non possa esserlo.</a:t>
            </a: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3A6ED95F-0A26-7284-9F51-186F78357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311" y="3865398"/>
            <a:ext cx="10653621" cy="287409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6674919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Eseguiamo il programma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1920339" y="2014852"/>
            <a:ext cx="835132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A seconda di quale ambiente usiamo per programmare JAVA, realizzare l’eseguibile compilato ed eseguire il tutto può essere più o meno semplice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D31ECFC-168D-4155-E321-A215A6766BC4}"/>
              </a:ext>
            </a:extLst>
          </p:cNvPr>
          <p:cNvSpPr txBox="1"/>
          <p:nvPr/>
        </p:nvSpPr>
        <p:spPr>
          <a:xfrm>
            <a:off x="282039" y="931966"/>
            <a:ext cx="3114304" cy="6719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Dal codice JAVA al file class compilato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0AA3C93-A3DE-1E35-C7AA-88742B85AD3C}"/>
              </a:ext>
            </a:extLst>
          </p:cNvPr>
          <p:cNvSpPr txBox="1"/>
          <p:nvPr/>
        </p:nvSpPr>
        <p:spPr>
          <a:xfrm>
            <a:off x="3705548" y="382012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La compilazione</a:t>
            </a:r>
          </a:p>
        </p:txBody>
      </p:sp>
    </p:spTree>
    <p:extLst>
      <p:ext uri="{BB962C8B-B14F-4D97-AF65-F5344CB8AC3E}">
        <p14:creationId xmlns:p14="http://schemas.microsoft.com/office/powerpoint/2010/main" val="216808444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Eseguiamo il programma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1920339" y="2014852"/>
            <a:ext cx="835132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A seconda di quale ambiente usiamo per programmare JAVA, realizzare l’eseguibile compilato ed eseguire il tutto può essere più o meno semplice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D31ECFC-168D-4155-E321-A215A6766BC4}"/>
              </a:ext>
            </a:extLst>
          </p:cNvPr>
          <p:cNvSpPr txBox="1"/>
          <p:nvPr/>
        </p:nvSpPr>
        <p:spPr>
          <a:xfrm>
            <a:off x="282039" y="931966"/>
            <a:ext cx="3114304" cy="6719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Dal codice JAVA al file class compilato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0AA3C93-A3DE-1E35-C7AA-88742B85AD3C}"/>
              </a:ext>
            </a:extLst>
          </p:cNvPr>
          <p:cNvSpPr txBox="1"/>
          <p:nvPr/>
        </p:nvSpPr>
        <p:spPr>
          <a:xfrm>
            <a:off x="3705548" y="382012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La compilazione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793CA1D-AEFB-1191-5C18-DF1FCB0D6C3A}"/>
              </a:ext>
            </a:extLst>
          </p:cNvPr>
          <p:cNvSpPr txBox="1"/>
          <p:nvPr/>
        </p:nvSpPr>
        <p:spPr>
          <a:xfrm>
            <a:off x="609161" y="3918713"/>
            <a:ext cx="1073389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3000" dirty="0"/>
              <a:t>Possiamo sviluppare un programma in JAVA con diversi editor, come già accennato, dal blocco note ad editor complessi e dedicati come Eclipse, </a:t>
            </a:r>
            <a:r>
              <a:rPr lang="it-IT" sz="3000" dirty="0" err="1"/>
              <a:t>intellij</a:t>
            </a:r>
            <a:r>
              <a:rPr lang="it-IT" sz="3000" dirty="0"/>
              <a:t> o </a:t>
            </a:r>
            <a:r>
              <a:rPr lang="it-IT" sz="3000" dirty="0" err="1"/>
              <a:t>VSCode</a:t>
            </a:r>
            <a:r>
              <a:rPr lang="it-IT" sz="3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8515456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Eseguiamo il programma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dirty="0"/>
              <a:t>Il caso generalmente più spartano è la programmazione avvenuta con il blocco note, o comunque un editor di file di testo non usato generalmente per la programmazione. In tal caso la compilazione avviene sul file prodotto e salvato da terminale/prompt dei comandi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D31ECFC-168D-4155-E321-A215A6766BC4}"/>
              </a:ext>
            </a:extLst>
          </p:cNvPr>
          <p:cNvSpPr txBox="1"/>
          <p:nvPr/>
        </p:nvSpPr>
        <p:spPr>
          <a:xfrm>
            <a:off x="282039" y="931966"/>
            <a:ext cx="3114304" cy="6719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Dal codice JAVA al file class compilato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0AA3C93-A3DE-1E35-C7AA-88742B85AD3C}"/>
              </a:ext>
            </a:extLst>
          </p:cNvPr>
          <p:cNvSpPr txBox="1"/>
          <p:nvPr/>
        </p:nvSpPr>
        <p:spPr>
          <a:xfrm>
            <a:off x="3705548" y="382012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La compilazione ed esecuzione da terminale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5B7C886-2BF0-23F7-E502-0DAE0F26EC08}"/>
              </a:ext>
            </a:extLst>
          </p:cNvPr>
          <p:cNvSpPr txBox="1"/>
          <p:nvPr/>
        </p:nvSpPr>
        <p:spPr>
          <a:xfrm>
            <a:off x="427129" y="1995976"/>
            <a:ext cx="11337742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Sarà necessario seguire i seguenti passaggi:</a:t>
            </a:r>
          </a:p>
          <a:p>
            <a:pPr algn="l">
              <a:buFont typeface="+mj-lt"/>
              <a:buAutoNum type="arabicPeriod"/>
            </a:pP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Aprire una finestra del prompt dei comandi (in Windows) o una finestra della shell (in Linux o 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macOS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24757320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Eseguiamo il programma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dirty="0"/>
              <a:t>Il caso generalmente più spartano è la programmazione avvenuta con il blocco note, o comunque un editor di file di testo non usato generalmente per la programmazione. In tal caso la compilazione avviene sul file prodotto e salvato da terminale/prompt dei comandi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D31ECFC-168D-4155-E321-A215A6766BC4}"/>
              </a:ext>
            </a:extLst>
          </p:cNvPr>
          <p:cNvSpPr txBox="1"/>
          <p:nvPr/>
        </p:nvSpPr>
        <p:spPr>
          <a:xfrm>
            <a:off x="282039" y="931966"/>
            <a:ext cx="3114304" cy="6719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Dal codice JAVA al file class compilato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0AA3C93-A3DE-1E35-C7AA-88742B85AD3C}"/>
              </a:ext>
            </a:extLst>
          </p:cNvPr>
          <p:cNvSpPr txBox="1"/>
          <p:nvPr/>
        </p:nvSpPr>
        <p:spPr>
          <a:xfrm>
            <a:off x="3705548" y="382012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La compilazione ed esecuzione da terminale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5B7C886-2BF0-23F7-E502-0DAE0F26EC08}"/>
              </a:ext>
            </a:extLst>
          </p:cNvPr>
          <p:cNvSpPr txBox="1"/>
          <p:nvPr/>
        </p:nvSpPr>
        <p:spPr>
          <a:xfrm>
            <a:off x="427129" y="1995976"/>
            <a:ext cx="11337742" cy="17543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Sarà necessario seguire i seguenti passaggi:</a:t>
            </a:r>
          </a:p>
          <a:p>
            <a:pPr algn="l">
              <a:buFont typeface="+mj-lt"/>
              <a:buAutoNum type="arabicPeriod"/>
            </a:pP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Aprire una finestra del prompt dei comandi (in Windows) o una finestra della shell (in Linux o 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macOS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).</a:t>
            </a:r>
          </a:p>
          <a:p>
            <a:pPr algn="l">
              <a:buFont typeface="+mj-lt"/>
              <a:buAutoNum type="arabicPeriod"/>
            </a:pP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Navigare nella directory in cui si trova il file sorgente Java che si desidera compilare. Ad esempio, se il file sorgente si trova nella directory "C:\Users\NomeUtente\Documents\Progetti\MyProgramma", è possibile navigare in questa directory utilizzando il comando "cd C:\Users\NomeUtente\Documents\Progetti\MyProgramma" (in Windows) o "cd /Users/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NomeUtente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/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Documents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/Progetti/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MyProgramma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" (in Linux o 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macOS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2818347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Eseguiamo il programma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dirty="0"/>
              <a:t>Il caso generalmente più spartano è la programmazione avvenuta con il blocco note, o comunque un editor di file di testo non usato generalmente per la programmazione. In tal caso la compilazione avviene sul file prodotto e salvato da terminale/prompt dei comandi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D31ECFC-168D-4155-E321-A215A6766BC4}"/>
              </a:ext>
            </a:extLst>
          </p:cNvPr>
          <p:cNvSpPr txBox="1"/>
          <p:nvPr/>
        </p:nvSpPr>
        <p:spPr>
          <a:xfrm>
            <a:off x="282039" y="931966"/>
            <a:ext cx="3114304" cy="6719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Dal codice JAVA al file class compilato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0AA3C93-A3DE-1E35-C7AA-88742B85AD3C}"/>
              </a:ext>
            </a:extLst>
          </p:cNvPr>
          <p:cNvSpPr txBox="1"/>
          <p:nvPr/>
        </p:nvSpPr>
        <p:spPr>
          <a:xfrm>
            <a:off x="3705548" y="382012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La compilazione ed esecuzione da terminale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5B7C886-2BF0-23F7-E502-0DAE0F26EC08}"/>
              </a:ext>
            </a:extLst>
          </p:cNvPr>
          <p:cNvSpPr txBox="1"/>
          <p:nvPr/>
        </p:nvSpPr>
        <p:spPr>
          <a:xfrm>
            <a:off x="427129" y="1995976"/>
            <a:ext cx="11337742" cy="28623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Sarà necessario seguire i seguenti passaggi:</a:t>
            </a:r>
          </a:p>
          <a:p>
            <a:pPr algn="l">
              <a:buFont typeface="+mj-lt"/>
              <a:buAutoNum type="arabicPeriod"/>
            </a:pP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Aprire una finestra del prompt dei comandi (in Windows) o una finestra della shell (in Linux o 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macOS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).</a:t>
            </a:r>
          </a:p>
          <a:p>
            <a:pPr algn="l">
              <a:buFont typeface="+mj-lt"/>
              <a:buAutoNum type="arabicPeriod"/>
            </a:pP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Navigare nella directory in cui si trova il file sorgente Java che si desidera compilare. Ad esempio, se il file sorgente si trova nella directory "C:\Users\NomeUtente\Documents\Progetti\MyProgramma", è possibile navigare in questa directory utilizzando il comando "cd C:\Users\NomeUtente\Documents\Progetti\MyProgramma" (in Windows) o "cd /Users/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NomeUtente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/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Documents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/Progetti/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MyProgramma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" (in Linux o 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macOS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).</a:t>
            </a:r>
          </a:p>
          <a:p>
            <a:pPr algn="l">
              <a:buFont typeface="+mj-lt"/>
              <a:buAutoNum type="arabicPeriod"/>
            </a:pP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Assicurarsi che la variabile di ambiente "JAVA_HOME" sia configurata correttamente per puntare alla directory di installazione di Java sul proprio computer. È inoltre necessario assicurarsi che la variabile di ambiente "PATH" includa la directory "bin" della directory di installazione di Java. Questo consente di utilizzare il comando "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javac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" per compilare il programma.</a:t>
            </a:r>
          </a:p>
        </p:txBody>
      </p:sp>
    </p:spTree>
    <p:extLst>
      <p:ext uri="{BB962C8B-B14F-4D97-AF65-F5344CB8AC3E}">
        <p14:creationId xmlns:p14="http://schemas.microsoft.com/office/powerpoint/2010/main" val="56400283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Eseguiamo il programma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dirty="0"/>
              <a:t>Il caso generalmente più spartano è la programmazione avvenuta con il blocco note, o comunque un editor di file di testo non usato generalmente per la programmazione. In tal caso la compilazione avviene sul file prodotto e salvato da terminale/prompt dei comandi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D31ECFC-168D-4155-E321-A215A6766BC4}"/>
              </a:ext>
            </a:extLst>
          </p:cNvPr>
          <p:cNvSpPr txBox="1"/>
          <p:nvPr/>
        </p:nvSpPr>
        <p:spPr>
          <a:xfrm>
            <a:off x="282039" y="931966"/>
            <a:ext cx="3114304" cy="6719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Dal codice JAVA al file class compilato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0AA3C93-A3DE-1E35-C7AA-88742B85AD3C}"/>
              </a:ext>
            </a:extLst>
          </p:cNvPr>
          <p:cNvSpPr txBox="1"/>
          <p:nvPr/>
        </p:nvSpPr>
        <p:spPr>
          <a:xfrm>
            <a:off x="3705548" y="382012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La compilazione ed esecuzione da terminale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5B7C886-2BF0-23F7-E502-0DAE0F26EC08}"/>
              </a:ext>
            </a:extLst>
          </p:cNvPr>
          <p:cNvSpPr txBox="1"/>
          <p:nvPr/>
        </p:nvSpPr>
        <p:spPr>
          <a:xfrm>
            <a:off x="427129" y="1995976"/>
            <a:ext cx="11337742" cy="369331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Sarà necessario seguire i seguenti passaggi:</a:t>
            </a:r>
          </a:p>
          <a:p>
            <a:pPr algn="l">
              <a:buFont typeface="+mj-lt"/>
              <a:buAutoNum type="arabicPeriod"/>
            </a:pP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Aprire una finestra del prompt dei comandi (in Windows) o una finestra della shell (in Linux o 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macOS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).</a:t>
            </a:r>
          </a:p>
          <a:p>
            <a:pPr algn="l">
              <a:buFont typeface="+mj-lt"/>
              <a:buAutoNum type="arabicPeriod"/>
            </a:pP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Navigare nella directory in cui si trova il file sorgente Java che si desidera compilare. Ad esempio, se il file sorgente si trova nella directory "C:\Users\NomeUtente\Documents\Progetti\MyProgramma", è possibile navigare in questa directory utilizzando il comando "cd C:\Users\NomeUtente\Documents\Progetti\MyProgramma" (in Windows) o "cd /Users/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NomeUtente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/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Documents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/Progetti/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MyProgramma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" (in Linux o 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macOS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).</a:t>
            </a:r>
          </a:p>
          <a:p>
            <a:pPr algn="l">
              <a:buFont typeface="+mj-lt"/>
              <a:buAutoNum type="arabicPeriod"/>
            </a:pP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Assicurarsi che la variabile di ambiente "JAVA_HOME" sia configurata correttamente per puntare alla directory di installazione di Java sul proprio computer. È inoltre necessario assicurarsi che la variabile di ambiente "PATH" includa la directory "bin" della directory di installazione di Java. Questo consente di utilizzare il comando "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javac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" per compilare il programma.</a:t>
            </a:r>
          </a:p>
          <a:p>
            <a:pPr algn="l">
              <a:buFont typeface="+mj-lt"/>
              <a:buAutoNum type="arabicPeriod"/>
            </a:pP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Utilizzare il comando "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javac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" per compilare il file sorgente Java. Ad esempio, se il file sorgente si chiama "MyProgramma.java", è possibile compilare il programma utilizzando il comando "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javac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 MyProgramma.java". Questo comando creerà un file "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MyProgramma.class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" nella stessa directory del file sorgente.</a:t>
            </a:r>
          </a:p>
        </p:txBody>
      </p:sp>
    </p:spTree>
    <p:extLst>
      <p:ext uri="{BB962C8B-B14F-4D97-AF65-F5344CB8AC3E}">
        <p14:creationId xmlns:p14="http://schemas.microsoft.com/office/powerpoint/2010/main" val="422992954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Eseguiamo il programma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dirty="0"/>
              <a:t>Il caso generalmente più spartano è la programmazione avvenuta con il blocco note, o comunque un editor di file di testo non usato generalmente per la programmazione. In tal caso la compilazione avviene sul file prodotto e salvato da terminale/prompt dei comandi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D31ECFC-168D-4155-E321-A215A6766BC4}"/>
              </a:ext>
            </a:extLst>
          </p:cNvPr>
          <p:cNvSpPr txBox="1"/>
          <p:nvPr/>
        </p:nvSpPr>
        <p:spPr>
          <a:xfrm>
            <a:off x="282039" y="931966"/>
            <a:ext cx="3114304" cy="6719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Dal codice JAVA al file class compilato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0AA3C93-A3DE-1E35-C7AA-88742B85AD3C}"/>
              </a:ext>
            </a:extLst>
          </p:cNvPr>
          <p:cNvSpPr txBox="1"/>
          <p:nvPr/>
        </p:nvSpPr>
        <p:spPr>
          <a:xfrm>
            <a:off x="3705548" y="382012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La compilazione ed esecuzione da terminale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5B7C886-2BF0-23F7-E502-0DAE0F26EC08}"/>
              </a:ext>
            </a:extLst>
          </p:cNvPr>
          <p:cNvSpPr txBox="1"/>
          <p:nvPr/>
        </p:nvSpPr>
        <p:spPr>
          <a:xfrm>
            <a:off x="427129" y="1995976"/>
            <a:ext cx="11337742" cy="45243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Sarà necessario seguire i seguenti passaggi:</a:t>
            </a:r>
          </a:p>
          <a:p>
            <a:pPr algn="l">
              <a:buFont typeface="+mj-lt"/>
              <a:buAutoNum type="arabicPeriod"/>
            </a:pP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Aprire una finestra del prompt dei comandi (in Windows) o una finestra della shell (in Linux o 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macOS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).</a:t>
            </a:r>
          </a:p>
          <a:p>
            <a:pPr algn="l">
              <a:buFont typeface="+mj-lt"/>
              <a:buAutoNum type="arabicPeriod"/>
            </a:pP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Navigare nella directory in cui si trova il file sorgente Java che si desidera compilare. Ad esempio, se il file sorgente si trova nella directory "C:\Users\NomeUtente\Documents\Progetti\MyProgramma", è possibile navigare in questa directory utilizzando il comando "cd C:\Users\NomeUtente\Documents\Progetti\MyProgramma" (in Windows) o "cd /Users/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NomeUtente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/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Documents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/Progetti/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MyProgramma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" (in Linux o 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macOS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).</a:t>
            </a:r>
          </a:p>
          <a:p>
            <a:pPr algn="l">
              <a:buFont typeface="+mj-lt"/>
              <a:buAutoNum type="arabicPeriod"/>
            </a:pP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Assicurarsi che la variabile di ambiente "JAVA_HOME" sia configurata correttamente per puntare alla directory di installazione di Java sul proprio computer. È inoltre necessario assicurarsi che la variabile di ambiente "PATH" includa la directory "bin" della directory di installazione di Java. Questo consente di utilizzare il comando "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javac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" per compilare il programma.</a:t>
            </a:r>
          </a:p>
          <a:p>
            <a:pPr algn="l">
              <a:buFont typeface="+mj-lt"/>
              <a:buAutoNum type="arabicPeriod"/>
            </a:pP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Utilizzare il comando "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javac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" per compilare il file sorgente Java. Ad esempio, se il file sorgente si chiama "MyProgramma.java", è possibile compilare il programma utilizzando il comando "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javac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 MyProgramma.java". Questo comando creerà un file "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MyProgramma.class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" nella stessa directory del file sorgente.</a:t>
            </a:r>
          </a:p>
          <a:p>
            <a:pPr algn="l">
              <a:buFont typeface="+mj-lt"/>
              <a:buAutoNum type="arabicPeriod"/>
            </a:pP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Se la compilazione ha avuto successo, è possibile eseguire il programma utilizzando il comando "java". Ad esempio, se il file sorgente contiene un metodo chiamato "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main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", è possibile eseguire il programma utilizzando il comando "java 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MyProgramma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".</a:t>
            </a:r>
          </a:p>
        </p:txBody>
      </p:sp>
    </p:spTree>
    <p:extLst>
      <p:ext uri="{BB962C8B-B14F-4D97-AF65-F5344CB8AC3E}">
        <p14:creationId xmlns:p14="http://schemas.microsoft.com/office/powerpoint/2010/main" val="63292641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Eseguiamo il programma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Una volta che è stato compilato il programma Java utilizzando il comando "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javac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" da prompt dei comandi, si può eseguirlo utilizzando il comando "java".</a:t>
            </a:r>
            <a:endParaRPr lang="it-IT" sz="1800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D31ECFC-168D-4155-E321-A215A6766BC4}"/>
              </a:ext>
            </a:extLst>
          </p:cNvPr>
          <p:cNvSpPr txBox="1"/>
          <p:nvPr/>
        </p:nvSpPr>
        <p:spPr>
          <a:xfrm>
            <a:off x="282039" y="931966"/>
            <a:ext cx="3114304" cy="6719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Dal codice JAVA al file class compilato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0AA3C93-A3DE-1E35-C7AA-88742B85AD3C}"/>
              </a:ext>
            </a:extLst>
          </p:cNvPr>
          <p:cNvSpPr txBox="1"/>
          <p:nvPr/>
        </p:nvSpPr>
        <p:spPr>
          <a:xfrm>
            <a:off x="3705548" y="382012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La compilazione ed esecuzione da terminale</a:t>
            </a:r>
          </a:p>
        </p:txBody>
      </p:sp>
    </p:spTree>
    <p:extLst>
      <p:ext uri="{BB962C8B-B14F-4D97-AF65-F5344CB8AC3E}">
        <p14:creationId xmlns:p14="http://schemas.microsoft.com/office/powerpoint/2010/main" val="135138924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Eseguiamo il programma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Una volta che è stato compilato il programma Java utilizzando il comando "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javac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" da prompt dei comandi, si può eseguirlo utilizzando il comando "java".</a:t>
            </a:r>
            <a:endParaRPr lang="it-IT" sz="1800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D31ECFC-168D-4155-E321-A215A6766BC4}"/>
              </a:ext>
            </a:extLst>
          </p:cNvPr>
          <p:cNvSpPr txBox="1"/>
          <p:nvPr/>
        </p:nvSpPr>
        <p:spPr>
          <a:xfrm>
            <a:off x="282039" y="931966"/>
            <a:ext cx="3114304" cy="6719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Dal codice JAVA al file class compilato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0AA3C93-A3DE-1E35-C7AA-88742B85AD3C}"/>
              </a:ext>
            </a:extLst>
          </p:cNvPr>
          <p:cNvSpPr txBox="1"/>
          <p:nvPr/>
        </p:nvSpPr>
        <p:spPr>
          <a:xfrm>
            <a:off x="3705548" y="382012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La compilazione ed esecuzione da terminale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D72FBBA-2AF9-9F46-A176-35271F0B15CD}"/>
              </a:ext>
            </a:extLst>
          </p:cNvPr>
          <p:cNvSpPr txBox="1"/>
          <p:nvPr/>
        </p:nvSpPr>
        <p:spPr>
          <a:xfrm>
            <a:off x="191937" y="1546991"/>
            <a:ext cx="116003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Per eseguire il programma, si deve specificare il nome della classe contenente il metodo "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main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". </a:t>
            </a:r>
            <a:b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</a:b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Ad esempio, se la classe è quella di poc’anzi, si chiama "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MyProgramma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" si può eseguire il programma utilizzando il comando seguente: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593740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Eseguiamo il programma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Una volta che è stato compilato il programma Java utilizzando il comando "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javac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" da prompt dei comandi, si può eseguirlo utilizzando il comando "java".</a:t>
            </a:r>
            <a:endParaRPr lang="it-IT" sz="1800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D31ECFC-168D-4155-E321-A215A6766BC4}"/>
              </a:ext>
            </a:extLst>
          </p:cNvPr>
          <p:cNvSpPr txBox="1"/>
          <p:nvPr/>
        </p:nvSpPr>
        <p:spPr>
          <a:xfrm>
            <a:off x="282039" y="931966"/>
            <a:ext cx="3114304" cy="6719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Dal codice JAVA al file class compilato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0AA3C93-A3DE-1E35-C7AA-88742B85AD3C}"/>
              </a:ext>
            </a:extLst>
          </p:cNvPr>
          <p:cNvSpPr txBox="1"/>
          <p:nvPr/>
        </p:nvSpPr>
        <p:spPr>
          <a:xfrm>
            <a:off x="3705548" y="382012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La compilazione ed esecuzione da terminale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D72FBBA-2AF9-9F46-A176-35271F0B15CD}"/>
              </a:ext>
            </a:extLst>
          </p:cNvPr>
          <p:cNvSpPr txBox="1"/>
          <p:nvPr/>
        </p:nvSpPr>
        <p:spPr>
          <a:xfrm>
            <a:off x="191937" y="1546991"/>
            <a:ext cx="116003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Per eseguire il programma, si deve specificare il nome della classe contenente il metodo "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main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". </a:t>
            </a:r>
            <a:b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</a:b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Ad esempio, se la classe è quella di poc’anzi, si chiama "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MyProgramma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" si può eseguire il programma utilizzando il comando seguente:</a:t>
            </a:r>
            <a:endParaRPr lang="it-IT" dirty="0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9EAC86FE-CF44-6DCE-7F8E-33C859BBA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039" y="2575334"/>
            <a:ext cx="2314736" cy="307777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rgbClr val="FFD700"/>
                </a:solidFill>
                <a:effectLst/>
                <a:latin typeface="Consolas" panose="020B0609020204030204" pitchFamily="49" charset="0"/>
              </a:rPr>
              <a:t>java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rgbClr val="FFD700"/>
                </a:solidFill>
                <a:effectLst/>
                <a:latin typeface="Consolas" panose="020B0609020204030204" pitchFamily="49" charset="0"/>
              </a:rPr>
              <a:t>MyProgramma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it-IT" altLang="it-IT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657216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Eseguiamo il programma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Una volta che è stato compilato il programma Java utilizzando il comando "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javac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" da prompt dei comandi, si può eseguirlo utilizzando il comando "java".</a:t>
            </a:r>
            <a:endParaRPr lang="it-IT" sz="1800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D31ECFC-168D-4155-E321-A215A6766BC4}"/>
              </a:ext>
            </a:extLst>
          </p:cNvPr>
          <p:cNvSpPr txBox="1"/>
          <p:nvPr/>
        </p:nvSpPr>
        <p:spPr>
          <a:xfrm>
            <a:off x="282039" y="931966"/>
            <a:ext cx="3114304" cy="6719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Dal codice JAVA al file class compilato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0AA3C93-A3DE-1E35-C7AA-88742B85AD3C}"/>
              </a:ext>
            </a:extLst>
          </p:cNvPr>
          <p:cNvSpPr txBox="1"/>
          <p:nvPr/>
        </p:nvSpPr>
        <p:spPr>
          <a:xfrm>
            <a:off x="3705548" y="382012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La compilazione ed esecuzione da terminale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D72FBBA-2AF9-9F46-A176-35271F0B15CD}"/>
              </a:ext>
            </a:extLst>
          </p:cNvPr>
          <p:cNvSpPr txBox="1"/>
          <p:nvPr/>
        </p:nvSpPr>
        <p:spPr>
          <a:xfrm>
            <a:off x="191937" y="1546991"/>
            <a:ext cx="116003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Per eseguire il programma, si deve specificare il nome della classe contenente il metodo "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main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". </a:t>
            </a:r>
            <a:b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</a:b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Ad esempio, se la classe è quella di poc’anzi, si chiama "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MyProgramma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" si può eseguire il programma utilizzando il comando seguente:</a:t>
            </a:r>
            <a:endParaRPr lang="it-IT" dirty="0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9EAC86FE-CF44-6DCE-7F8E-33C859BBA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039" y="2575334"/>
            <a:ext cx="2314736" cy="307777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rgbClr val="FFD700"/>
                </a:solidFill>
                <a:effectLst/>
                <a:latin typeface="Consolas" panose="020B0609020204030204" pitchFamily="49" charset="0"/>
              </a:rPr>
              <a:t>java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rgbClr val="FFD700"/>
                </a:solidFill>
                <a:effectLst/>
                <a:latin typeface="Consolas" panose="020B0609020204030204" pitchFamily="49" charset="0"/>
              </a:rPr>
              <a:t>MyProgramma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it-IT" altLang="it-IT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48BFB990-3F3B-2EEC-00BF-5C7CF3BE22A6}"/>
              </a:ext>
            </a:extLst>
          </p:cNvPr>
          <p:cNvSpPr txBox="1"/>
          <p:nvPr/>
        </p:nvSpPr>
        <p:spPr>
          <a:xfrm>
            <a:off x="282038" y="2988124"/>
            <a:ext cx="105613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Bisogna assicurarsi di essere nella stessa directory in cui si trova il file "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MyProgramma.class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" quando si esegue il comando "java".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5167130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Eseguiamo il programma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Una volta che è stato compilato il programma Java utilizzando il comando "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javac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" da prompt dei comandi, si può eseguirlo utilizzando il comando "java".</a:t>
            </a:r>
            <a:endParaRPr lang="it-IT" sz="1800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D31ECFC-168D-4155-E321-A215A6766BC4}"/>
              </a:ext>
            </a:extLst>
          </p:cNvPr>
          <p:cNvSpPr txBox="1"/>
          <p:nvPr/>
        </p:nvSpPr>
        <p:spPr>
          <a:xfrm>
            <a:off x="282039" y="931966"/>
            <a:ext cx="3114304" cy="6719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Dal codice JAVA al file class compilato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0AA3C93-A3DE-1E35-C7AA-88742B85AD3C}"/>
              </a:ext>
            </a:extLst>
          </p:cNvPr>
          <p:cNvSpPr txBox="1"/>
          <p:nvPr/>
        </p:nvSpPr>
        <p:spPr>
          <a:xfrm>
            <a:off x="3705548" y="382012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La compilazione ed esecuzione da terminale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D72FBBA-2AF9-9F46-A176-35271F0B15CD}"/>
              </a:ext>
            </a:extLst>
          </p:cNvPr>
          <p:cNvSpPr txBox="1"/>
          <p:nvPr/>
        </p:nvSpPr>
        <p:spPr>
          <a:xfrm>
            <a:off x="191937" y="1546991"/>
            <a:ext cx="116003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Per eseguire il programma, si deve specificare il nome della classe contenente il metodo "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main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". </a:t>
            </a:r>
            <a:b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</a:b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Ad esempio, se la classe è quella di poc’anzi, si chiama "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MyProgramma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" si può eseguire il programma utilizzando il comando seguente:</a:t>
            </a:r>
            <a:endParaRPr lang="it-IT" dirty="0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9EAC86FE-CF44-6DCE-7F8E-33C859BBA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039" y="2575334"/>
            <a:ext cx="2314736" cy="307777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rgbClr val="FFD700"/>
                </a:solidFill>
                <a:effectLst/>
                <a:latin typeface="Consolas" panose="020B0609020204030204" pitchFamily="49" charset="0"/>
              </a:rPr>
              <a:t>java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rgbClr val="FFD700"/>
                </a:solidFill>
                <a:effectLst/>
                <a:latin typeface="Consolas" panose="020B0609020204030204" pitchFamily="49" charset="0"/>
              </a:rPr>
              <a:t>MyProgramma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it-IT" altLang="it-IT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48BFB990-3F3B-2EEC-00BF-5C7CF3BE22A6}"/>
              </a:ext>
            </a:extLst>
          </p:cNvPr>
          <p:cNvSpPr txBox="1"/>
          <p:nvPr/>
        </p:nvSpPr>
        <p:spPr>
          <a:xfrm>
            <a:off x="282038" y="2988124"/>
            <a:ext cx="105613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Bisogna assicurarsi di essere nella stessa directory in cui si trova il file "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MyProgramma.class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" quando si esegue il comando "java".</a:t>
            </a:r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4409AAF-EEC9-B63E-43D6-8B9D99239955}"/>
              </a:ext>
            </a:extLst>
          </p:cNvPr>
          <p:cNvSpPr txBox="1"/>
          <p:nvPr/>
        </p:nvSpPr>
        <p:spPr>
          <a:xfrm>
            <a:off x="282038" y="3634455"/>
            <a:ext cx="104751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In alcuni casi molto particolari è possibile che il programma debba essere eseguito a partire da un percorso da cui si diramano delle cartelle particolari, che corrispondono ad un concetto che vedremo più avanti e che chiameremo package. </a:t>
            </a:r>
          </a:p>
        </p:txBody>
      </p:sp>
    </p:spTree>
    <p:extLst>
      <p:ext uri="{BB962C8B-B14F-4D97-AF65-F5344CB8AC3E}">
        <p14:creationId xmlns:p14="http://schemas.microsoft.com/office/powerpoint/2010/main" val="328256737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Eseguiamo il programma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Una volta che è stato compilato il programma Java utilizzando il comando "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javac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" da prompt dei comandi, si può eseguirlo utilizzando il comando "java".</a:t>
            </a:r>
            <a:endParaRPr lang="it-IT" sz="1800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D31ECFC-168D-4155-E321-A215A6766BC4}"/>
              </a:ext>
            </a:extLst>
          </p:cNvPr>
          <p:cNvSpPr txBox="1"/>
          <p:nvPr/>
        </p:nvSpPr>
        <p:spPr>
          <a:xfrm>
            <a:off x="282039" y="931966"/>
            <a:ext cx="3114304" cy="6719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Dal codice JAVA al file class compilato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0AA3C93-A3DE-1E35-C7AA-88742B85AD3C}"/>
              </a:ext>
            </a:extLst>
          </p:cNvPr>
          <p:cNvSpPr txBox="1"/>
          <p:nvPr/>
        </p:nvSpPr>
        <p:spPr>
          <a:xfrm>
            <a:off x="3705548" y="382012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La compilazione ed esecuzione da terminale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D72FBBA-2AF9-9F46-A176-35271F0B15CD}"/>
              </a:ext>
            </a:extLst>
          </p:cNvPr>
          <p:cNvSpPr txBox="1"/>
          <p:nvPr/>
        </p:nvSpPr>
        <p:spPr>
          <a:xfrm>
            <a:off x="191937" y="1546991"/>
            <a:ext cx="116003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Per eseguire il programma, si deve specificare il nome della classe contenente il metodo "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main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". </a:t>
            </a:r>
            <a:b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</a:b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Ad esempio, se la classe è quella di poc’anzi, si chiama "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MyProgramma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" si può eseguire il programma utilizzando il comando seguente:</a:t>
            </a:r>
            <a:endParaRPr lang="it-IT" dirty="0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9EAC86FE-CF44-6DCE-7F8E-33C859BBA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039" y="2575334"/>
            <a:ext cx="2314736" cy="307777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rgbClr val="FFD700"/>
                </a:solidFill>
                <a:effectLst/>
                <a:latin typeface="Consolas" panose="020B0609020204030204" pitchFamily="49" charset="0"/>
              </a:rPr>
              <a:t>java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rgbClr val="FFD700"/>
                </a:solidFill>
                <a:effectLst/>
                <a:latin typeface="Consolas" panose="020B0609020204030204" pitchFamily="49" charset="0"/>
              </a:rPr>
              <a:t>MyProgramma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it-IT" altLang="it-IT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48BFB990-3F3B-2EEC-00BF-5C7CF3BE22A6}"/>
              </a:ext>
            </a:extLst>
          </p:cNvPr>
          <p:cNvSpPr txBox="1"/>
          <p:nvPr/>
        </p:nvSpPr>
        <p:spPr>
          <a:xfrm>
            <a:off x="282038" y="2988124"/>
            <a:ext cx="105613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Bisogna assicurarsi di essere nella stessa directory in cui si trova il file "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MyProgramma.class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" quando si esegue il comando "java".</a:t>
            </a:r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4409AAF-EEC9-B63E-43D6-8B9D99239955}"/>
              </a:ext>
            </a:extLst>
          </p:cNvPr>
          <p:cNvSpPr txBox="1"/>
          <p:nvPr/>
        </p:nvSpPr>
        <p:spPr>
          <a:xfrm>
            <a:off x="282038" y="3634455"/>
            <a:ext cx="1047510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In alcuni casi molto particolari è possibile che il programma debba essere eseguito a partire da un percorso da cui si diramano delle cartelle particolari, che corrispondono ad un concetto che vedremo più avanti e che chiameremo package. Anticipo che se la classe si trova in un package</a:t>
            </a:r>
            <a:r>
              <a:rPr lang="it-IT" dirty="0">
                <a:solidFill>
                  <a:srgbClr val="050E17"/>
                </a:solidFill>
                <a:latin typeface="-apple-system"/>
              </a:rPr>
              <a:t> (all’interno di alcune di queste cartelle) non si deve andare fino alla posizione dove si trova il file «.class», ma fermarsi alla cartella prima che inizi il package e si 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deve specificare il nome completo del package e della classe. </a:t>
            </a:r>
          </a:p>
        </p:txBody>
      </p:sp>
    </p:spTree>
    <p:extLst>
      <p:ext uri="{BB962C8B-B14F-4D97-AF65-F5344CB8AC3E}">
        <p14:creationId xmlns:p14="http://schemas.microsoft.com/office/powerpoint/2010/main" val="403779625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Eseguiamo il programma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Una volta che è stato compilato il programma Java utilizzando il comando "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javac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" da prompt dei comandi, si può eseguirlo utilizzando il comando "java".</a:t>
            </a:r>
            <a:endParaRPr lang="it-IT" sz="1800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D31ECFC-168D-4155-E321-A215A6766BC4}"/>
              </a:ext>
            </a:extLst>
          </p:cNvPr>
          <p:cNvSpPr txBox="1"/>
          <p:nvPr/>
        </p:nvSpPr>
        <p:spPr>
          <a:xfrm>
            <a:off x="282039" y="931966"/>
            <a:ext cx="3114304" cy="6719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Dal codice JAVA al file class compilato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0AA3C93-A3DE-1E35-C7AA-88742B85AD3C}"/>
              </a:ext>
            </a:extLst>
          </p:cNvPr>
          <p:cNvSpPr txBox="1"/>
          <p:nvPr/>
        </p:nvSpPr>
        <p:spPr>
          <a:xfrm>
            <a:off x="3705548" y="382012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La compilazione ed esecuzione da terminale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D72FBBA-2AF9-9F46-A176-35271F0B15CD}"/>
              </a:ext>
            </a:extLst>
          </p:cNvPr>
          <p:cNvSpPr txBox="1"/>
          <p:nvPr/>
        </p:nvSpPr>
        <p:spPr>
          <a:xfrm>
            <a:off x="191937" y="1546991"/>
            <a:ext cx="116003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Per eseguire il programma, si deve specificare il nome della classe contenente il metodo "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main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". </a:t>
            </a:r>
            <a:b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</a:b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Ad esempio, se la classe è quella di poc’anzi, si chiama "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MyProgramma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" si può eseguire il programma utilizzando il comando seguente:</a:t>
            </a:r>
            <a:endParaRPr lang="it-IT" dirty="0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9EAC86FE-CF44-6DCE-7F8E-33C859BBA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039" y="2575334"/>
            <a:ext cx="2314736" cy="307777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rgbClr val="FFD700"/>
                </a:solidFill>
                <a:effectLst/>
                <a:latin typeface="Consolas" panose="020B0609020204030204" pitchFamily="49" charset="0"/>
              </a:rPr>
              <a:t>java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rgbClr val="FFD700"/>
                </a:solidFill>
                <a:effectLst/>
                <a:latin typeface="Consolas" panose="020B0609020204030204" pitchFamily="49" charset="0"/>
              </a:rPr>
              <a:t>MyProgramma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it-IT" altLang="it-IT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48BFB990-3F3B-2EEC-00BF-5C7CF3BE22A6}"/>
              </a:ext>
            </a:extLst>
          </p:cNvPr>
          <p:cNvSpPr txBox="1"/>
          <p:nvPr/>
        </p:nvSpPr>
        <p:spPr>
          <a:xfrm>
            <a:off x="282038" y="2988124"/>
            <a:ext cx="105613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Bisogna assicurarsi di essere nella stessa directory in cui si trova il file "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MyProgramma.class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" quando si esegue il comando "java".</a:t>
            </a:r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4409AAF-EEC9-B63E-43D6-8B9D99239955}"/>
              </a:ext>
            </a:extLst>
          </p:cNvPr>
          <p:cNvSpPr txBox="1"/>
          <p:nvPr/>
        </p:nvSpPr>
        <p:spPr>
          <a:xfrm>
            <a:off x="282038" y="3634455"/>
            <a:ext cx="1047510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In alcuni casi molto particolari è possibile che il programma debba essere eseguito a partire da un percorso da cui si diramano delle cartelle particolari, che corrispondono ad un concetto che vedremo più avanti e che chiameremo package. Anticipo che se la classe si trova in un package</a:t>
            </a:r>
            <a:r>
              <a:rPr lang="it-IT" dirty="0">
                <a:solidFill>
                  <a:srgbClr val="050E17"/>
                </a:solidFill>
                <a:latin typeface="-apple-system"/>
              </a:rPr>
              <a:t> (all’interno di alcune di queste cartelle) non si deve andare fino alla posizione dove si trova il file «.class», ma fermarsi alla cartella prima che inizi il package e si 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deve specificare il nome completo del package e della classe. </a:t>
            </a:r>
          </a:p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Ad esempio, se la classe si trova nel package "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com.mio.package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" (e pertanto è in una struttura a sottocartelle di identico come "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com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/mio/package") e si chiama "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MyClass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", si può eseguire il programma dalla posizione da cui inizia la struttura a cartelle "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com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/mio/package", senza entrarvi, utilizzando il comando seguente: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9380402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Eseguiamo il programma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Una volta che è stato compilato il programma Java utilizzando il comando "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javac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" da prompt dei comandi, si può eseguirlo utilizzando il comando "java".</a:t>
            </a:r>
            <a:endParaRPr lang="it-IT" sz="1800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D31ECFC-168D-4155-E321-A215A6766BC4}"/>
              </a:ext>
            </a:extLst>
          </p:cNvPr>
          <p:cNvSpPr txBox="1"/>
          <p:nvPr/>
        </p:nvSpPr>
        <p:spPr>
          <a:xfrm>
            <a:off x="282039" y="931966"/>
            <a:ext cx="3114304" cy="6719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Dal codice JAVA al file class compilato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0AA3C93-A3DE-1E35-C7AA-88742B85AD3C}"/>
              </a:ext>
            </a:extLst>
          </p:cNvPr>
          <p:cNvSpPr txBox="1"/>
          <p:nvPr/>
        </p:nvSpPr>
        <p:spPr>
          <a:xfrm>
            <a:off x="3705548" y="382012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La compilazione ed esecuzione da terminale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D72FBBA-2AF9-9F46-A176-35271F0B15CD}"/>
              </a:ext>
            </a:extLst>
          </p:cNvPr>
          <p:cNvSpPr txBox="1"/>
          <p:nvPr/>
        </p:nvSpPr>
        <p:spPr>
          <a:xfrm>
            <a:off x="191937" y="1546991"/>
            <a:ext cx="116003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Per eseguire il programma, si deve specificare il nome della classe contenente il metodo "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main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". </a:t>
            </a:r>
            <a:b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</a:b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Ad esempio, se la classe è quella di poc’anzi, si chiama "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MyProgramma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" si può eseguire il programma utilizzando il comando seguente:</a:t>
            </a:r>
            <a:endParaRPr lang="it-IT" dirty="0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9EAC86FE-CF44-6DCE-7F8E-33C859BBA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039" y="2575334"/>
            <a:ext cx="2314736" cy="307777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rgbClr val="FFD700"/>
                </a:solidFill>
                <a:effectLst/>
                <a:latin typeface="Consolas" panose="020B0609020204030204" pitchFamily="49" charset="0"/>
              </a:rPr>
              <a:t>java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rgbClr val="FFD700"/>
                </a:solidFill>
                <a:effectLst/>
                <a:latin typeface="Consolas" panose="020B0609020204030204" pitchFamily="49" charset="0"/>
              </a:rPr>
              <a:t>MyProgramma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it-IT" altLang="it-IT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48BFB990-3F3B-2EEC-00BF-5C7CF3BE22A6}"/>
              </a:ext>
            </a:extLst>
          </p:cNvPr>
          <p:cNvSpPr txBox="1"/>
          <p:nvPr/>
        </p:nvSpPr>
        <p:spPr>
          <a:xfrm>
            <a:off x="282038" y="2988124"/>
            <a:ext cx="105613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Bisogna assicurarsi di essere nella stessa directory in cui si trova il file "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MyProgramma.class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" quando si esegue il comando "java".</a:t>
            </a:r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4409AAF-EEC9-B63E-43D6-8B9D99239955}"/>
              </a:ext>
            </a:extLst>
          </p:cNvPr>
          <p:cNvSpPr txBox="1"/>
          <p:nvPr/>
        </p:nvSpPr>
        <p:spPr>
          <a:xfrm>
            <a:off x="282038" y="3634455"/>
            <a:ext cx="1047510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In alcuni casi molto particolari è possibile che il programma debba essere eseguito a partire da un percorso da cui si diramano delle cartelle particolari, che corrispondono ad un concetto che vedremo più avanti e che chiameremo package. Anticipo che se la classe si trova in un package</a:t>
            </a:r>
            <a:r>
              <a:rPr lang="it-IT" dirty="0">
                <a:solidFill>
                  <a:srgbClr val="050E17"/>
                </a:solidFill>
                <a:latin typeface="-apple-system"/>
              </a:rPr>
              <a:t> (all’interno di alcune di queste cartelle) non si deve andare fino alla posizione dove si trova il file «.class», ma fermarsi alla cartella prima che inizi il package e si 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deve specificare il nome completo del package e della classe. </a:t>
            </a:r>
          </a:p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Ad esempio, se la classe si trova nel package "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com.mio.package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" (e pertanto è in una struttura a sottocartelle di identico come "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com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/mio/package") e si chiama "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MyClass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", si può eseguire il programma dalla posizione da cui inizia la struttura a cartelle "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com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/mio/package", senza entrarvi, utilizzando il comando seguente:</a:t>
            </a:r>
            <a:endParaRPr lang="it-IT" dirty="0"/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C31C5767-559C-F99A-1B03-982843481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038" y="6080281"/>
            <a:ext cx="4007507" cy="307777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java 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rgbClr val="FFA07A"/>
                </a:solidFill>
                <a:effectLst/>
                <a:latin typeface="Consolas" panose="020B0609020204030204" pitchFamily="49" charset="0"/>
              </a:rPr>
              <a:t>.mio.package.MyClass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it-IT" altLang="it-IT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50368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Eseguiamo il programma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Esecuzione di un programma JAVA da una cartella diversa</a:t>
            </a:r>
            <a:endParaRPr lang="it-IT" sz="1800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D31ECFC-168D-4155-E321-A215A6766BC4}"/>
              </a:ext>
            </a:extLst>
          </p:cNvPr>
          <p:cNvSpPr txBox="1"/>
          <p:nvPr/>
        </p:nvSpPr>
        <p:spPr>
          <a:xfrm>
            <a:off x="282039" y="931966"/>
            <a:ext cx="3114304" cy="6719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Dal codice JAVA al file class compilato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0AA3C93-A3DE-1E35-C7AA-88742B85AD3C}"/>
              </a:ext>
            </a:extLst>
          </p:cNvPr>
          <p:cNvSpPr txBox="1"/>
          <p:nvPr/>
        </p:nvSpPr>
        <p:spPr>
          <a:xfrm>
            <a:off x="3705548" y="382012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La compilazione ed esecuzione da terminale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D72FBBA-2AF9-9F46-A176-35271F0B15CD}"/>
              </a:ext>
            </a:extLst>
          </p:cNvPr>
          <p:cNvSpPr txBox="1"/>
          <p:nvPr/>
        </p:nvSpPr>
        <p:spPr>
          <a:xfrm>
            <a:off x="191937" y="1663634"/>
            <a:ext cx="1160037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b="0" i="0" dirty="0">
                <a:solidFill>
                  <a:srgbClr val="050E17"/>
                </a:solidFill>
                <a:effectLst/>
                <a:latin typeface="-apple-system"/>
              </a:rPr>
              <a:t>In alternativa, si può usare l'opzione "-</a:t>
            </a:r>
            <a:r>
              <a:rPr lang="it-IT" sz="3000" b="0" i="0" dirty="0" err="1">
                <a:solidFill>
                  <a:srgbClr val="050E17"/>
                </a:solidFill>
                <a:effectLst/>
                <a:latin typeface="-apple-system"/>
              </a:rPr>
              <a:t>cp</a:t>
            </a:r>
            <a:r>
              <a:rPr lang="it-IT" sz="3000" b="0" i="0" dirty="0">
                <a:solidFill>
                  <a:srgbClr val="050E17"/>
                </a:solidFill>
                <a:effectLst/>
                <a:latin typeface="-apple-system"/>
              </a:rPr>
              <a:t>" per specificare il percorso delle classi. </a:t>
            </a:r>
          </a:p>
        </p:txBody>
      </p:sp>
    </p:spTree>
    <p:extLst>
      <p:ext uri="{BB962C8B-B14F-4D97-AF65-F5344CB8AC3E}">
        <p14:creationId xmlns:p14="http://schemas.microsoft.com/office/powerpoint/2010/main" val="381261581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Eseguiamo il programma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Esecuzione di un programma JAVA da una cartella diversa</a:t>
            </a:r>
            <a:endParaRPr lang="it-IT" sz="1800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D31ECFC-168D-4155-E321-A215A6766BC4}"/>
              </a:ext>
            </a:extLst>
          </p:cNvPr>
          <p:cNvSpPr txBox="1"/>
          <p:nvPr/>
        </p:nvSpPr>
        <p:spPr>
          <a:xfrm>
            <a:off x="282039" y="931966"/>
            <a:ext cx="3114304" cy="6719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Dal codice JAVA al file class compilato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0AA3C93-A3DE-1E35-C7AA-88742B85AD3C}"/>
              </a:ext>
            </a:extLst>
          </p:cNvPr>
          <p:cNvSpPr txBox="1"/>
          <p:nvPr/>
        </p:nvSpPr>
        <p:spPr>
          <a:xfrm>
            <a:off x="3705548" y="382012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La compilazione ed esecuzione da terminale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D72FBBA-2AF9-9F46-A176-35271F0B15CD}"/>
              </a:ext>
            </a:extLst>
          </p:cNvPr>
          <p:cNvSpPr txBox="1"/>
          <p:nvPr/>
        </p:nvSpPr>
        <p:spPr>
          <a:xfrm>
            <a:off x="191937" y="1663634"/>
            <a:ext cx="11600371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b="0" i="0" dirty="0">
                <a:solidFill>
                  <a:srgbClr val="050E17"/>
                </a:solidFill>
                <a:effectLst/>
                <a:latin typeface="-apple-system"/>
              </a:rPr>
              <a:t>In alternativa, si può usare l'opzione "-</a:t>
            </a:r>
            <a:r>
              <a:rPr lang="it-IT" sz="3000" b="0" i="0" dirty="0" err="1">
                <a:solidFill>
                  <a:srgbClr val="050E17"/>
                </a:solidFill>
                <a:effectLst/>
                <a:latin typeface="-apple-system"/>
              </a:rPr>
              <a:t>cp</a:t>
            </a:r>
            <a:r>
              <a:rPr lang="it-IT" sz="3000" b="0" i="0" dirty="0">
                <a:solidFill>
                  <a:srgbClr val="050E17"/>
                </a:solidFill>
                <a:effectLst/>
                <a:latin typeface="-apple-system"/>
              </a:rPr>
              <a:t>" per specificare il percorso delle classi. </a:t>
            </a:r>
          </a:p>
          <a:p>
            <a:r>
              <a:rPr lang="it-IT" sz="3000" b="0" i="0" dirty="0">
                <a:solidFill>
                  <a:srgbClr val="050E17"/>
                </a:solidFill>
                <a:effectLst/>
                <a:latin typeface="-apple-system"/>
              </a:rPr>
              <a:t>Ad esempio, se la classe si trova nella directory "C:\progetti\mio-progetto\classes", si può eseguire il programma utilizzando il comando seguente:</a:t>
            </a:r>
            <a:endParaRPr lang="it-IT" sz="3000" dirty="0"/>
          </a:p>
        </p:txBody>
      </p:sp>
    </p:spTree>
    <p:extLst>
      <p:ext uri="{BB962C8B-B14F-4D97-AF65-F5344CB8AC3E}">
        <p14:creationId xmlns:p14="http://schemas.microsoft.com/office/powerpoint/2010/main" val="214702346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Eseguiamo il programma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Esecuzione di un programma JAVA da una cartella diversa</a:t>
            </a:r>
            <a:endParaRPr lang="it-IT" sz="1800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D31ECFC-168D-4155-E321-A215A6766BC4}"/>
              </a:ext>
            </a:extLst>
          </p:cNvPr>
          <p:cNvSpPr txBox="1"/>
          <p:nvPr/>
        </p:nvSpPr>
        <p:spPr>
          <a:xfrm>
            <a:off x="282039" y="931966"/>
            <a:ext cx="3114304" cy="6719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Dal codice JAVA al file class compilato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0AA3C93-A3DE-1E35-C7AA-88742B85AD3C}"/>
              </a:ext>
            </a:extLst>
          </p:cNvPr>
          <p:cNvSpPr txBox="1"/>
          <p:nvPr/>
        </p:nvSpPr>
        <p:spPr>
          <a:xfrm>
            <a:off x="3705548" y="382012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La compilazione ed esecuzione da terminale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D72FBBA-2AF9-9F46-A176-35271F0B15CD}"/>
              </a:ext>
            </a:extLst>
          </p:cNvPr>
          <p:cNvSpPr txBox="1"/>
          <p:nvPr/>
        </p:nvSpPr>
        <p:spPr>
          <a:xfrm>
            <a:off x="191937" y="1663634"/>
            <a:ext cx="11600371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b="0" i="0" dirty="0">
                <a:solidFill>
                  <a:srgbClr val="050E17"/>
                </a:solidFill>
                <a:effectLst/>
                <a:latin typeface="-apple-system"/>
              </a:rPr>
              <a:t>In alternativa, si può usare l'opzione "-</a:t>
            </a:r>
            <a:r>
              <a:rPr lang="it-IT" sz="3000" b="0" i="0" dirty="0" err="1">
                <a:solidFill>
                  <a:srgbClr val="050E17"/>
                </a:solidFill>
                <a:effectLst/>
                <a:latin typeface="-apple-system"/>
              </a:rPr>
              <a:t>cp</a:t>
            </a:r>
            <a:r>
              <a:rPr lang="it-IT" sz="3000" b="0" i="0" dirty="0">
                <a:solidFill>
                  <a:srgbClr val="050E17"/>
                </a:solidFill>
                <a:effectLst/>
                <a:latin typeface="-apple-system"/>
              </a:rPr>
              <a:t>" per specificare il percorso delle classi. </a:t>
            </a:r>
          </a:p>
          <a:p>
            <a:r>
              <a:rPr lang="it-IT" sz="3000" b="0" i="0" dirty="0">
                <a:solidFill>
                  <a:srgbClr val="050E17"/>
                </a:solidFill>
                <a:effectLst/>
                <a:latin typeface="-apple-system"/>
              </a:rPr>
              <a:t>Ad esempio, se la classe si trova nella directory "C:\progetti\mio-progetto\classes", si può eseguire il programma utilizzando il comando seguente:</a:t>
            </a:r>
            <a:endParaRPr lang="it-IT" sz="30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148807-14A6-8B4B-B3B6-56E2074AD4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787" y="4281630"/>
            <a:ext cx="11542521" cy="461665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30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java -</a:t>
            </a:r>
            <a:r>
              <a:rPr kumimoji="0" lang="it-IT" altLang="it-IT" sz="30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cp</a:t>
            </a:r>
            <a:r>
              <a:rPr kumimoji="0" lang="it-IT" altLang="it-IT" sz="30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C:</a:t>
            </a:r>
            <a:r>
              <a:rPr kumimoji="0" lang="it-IT" altLang="it-IT" sz="3000" b="0" i="0" u="none" strike="noStrike" cap="none" normalizeH="0" baseline="0" dirty="0">
                <a:ln>
                  <a:noFill/>
                </a:ln>
                <a:solidFill>
                  <a:srgbClr val="ABE338"/>
                </a:solidFill>
                <a:effectLst/>
                <a:latin typeface="Consolas" panose="020B0609020204030204" pitchFamily="49" charset="0"/>
              </a:rPr>
              <a:t>\p</a:t>
            </a:r>
            <a:r>
              <a:rPr kumimoji="0" lang="it-IT" altLang="it-IT" sz="30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rogetti</a:t>
            </a:r>
            <a:r>
              <a:rPr kumimoji="0" lang="it-IT" altLang="it-IT" sz="3000" b="0" i="0" u="none" strike="noStrike" cap="none" normalizeH="0" baseline="0" dirty="0">
                <a:ln>
                  <a:noFill/>
                </a:ln>
                <a:solidFill>
                  <a:srgbClr val="ABE338"/>
                </a:solidFill>
                <a:effectLst/>
                <a:latin typeface="Consolas" panose="020B0609020204030204" pitchFamily="49" charset="0"/>
              </a:rPr>
              <a:t>\m</a:t>
            </a:r>
            <a:r>
              <a:rPr kumimoji="0" lang="it-IT" altLang="it-IT" sz="30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io-progetto</a:t>
            </a:r>
            <a:r>
              <a:rPr kumimoji="0" lang="it-IT" altLang="it-IT" sz="3000" b="0" i="0" u="none" strike="noStrike" cap="none" normalizeH="0" baseline="0" dirty="0">
                <a:ln>
                  <a:noFill/>
                </a:ln>
                <a:solidFill>
                  <a:srgbClr val="ABE338"/>
                </a:solidFill>
                <a:effectLst/>
                <a:latin typeface="Consolas" panose="020B0609020204030204" pitchFamily="49" charset="0"/>
              </a:rPr>
              <a:t>\c</a:t>
            </a:r>
            <a:r>
              <a:rPr kumimoji="0" lang="it-IT" altLang="it-IT" sz="30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lasses </a:t>
            </a:r>
            <a:r>
              <a:rPr kumimoji="0" lang="it-IT" altLang="it-IT" sz="30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MyProgramma</a:t>
            </a:r>
            <a:r>
              <a:rPr kumimoji="0" lang="it-IT" altLang="it-IT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it-IT" altLang="it-IT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266565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Eseguiamo il programma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Esecuzione di un programma JAVA da una cartella diversa</a:t>
            </a:r>
            <a:endParaRPr lang="it-IT" sz="1800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D31ECFC-168D-4155-E321-A215A6766BC4}"/>
              </a:ext>
            </a:extLst>
          </p:cNvPr>
          <p:cNvSpPr txBox="1"/>
          <p:nvPr/>
        </p:nvSpPr>
        <p:spPr>
          <a:xfrm>
            <a:off x="282039" y="931966"/>
            <a:ext cx="3114304" cy="6719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Dal codice JAVA al file class compilato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0AA3C93-A3DE-1E35-C7AA-88742B85AD3C}"/>
              </a:ext>
            </a:extLst>
          </p:cNvPr>
          <p:cNvSpPr txBox="1"/>
          <p:nvPr/>
        </p:nvSpPr>
        <p:spPr>
          <a:xfrm>
            <a:off x="3705548" y="382012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La compilazione ed esecuzione da terminale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D72FBBA-2AF9-9F46-A176-35271F0B15CD}"/>
              </a:ext>
            </a:extLst>
          </p:cNvPr>
          <p:cNvSpPr txBox="1"/>
          <p:nvPr/>
        </p:nvSpPr>
        <p:spPr>
          <a:xfrm>
            <a:off x="191937" y="1663634"/>
            <a:ext cx="11600371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b="0" i="0" dirty="0">
                <a:solidFill>
                  <a:srgbClr val="050E17"/>
                </a:solidFill>
                <a:effectLst/>
                <a:latin typeface="-apple-system"/>
              </a:rPr>
              <a:t>In alternativa, si può usare l'opzione "-</a:t>
            </a:r>
            <a:r>
              <a:rPr lang="it-IT" sz="3000" b="0" i="0" dirty="0" err="1">
                <a:solidFill>
                  <a:srgbClr val="050E17"/>
                </a:solidFill>
                <a:effectLst/>
                <a:latin typeface="-apple-system"/>
              </a:rPr>
              <a:t>cp</a:t>
            </a:r>
            <a:r>
              <a:rPr lang="it-IT" sz="3000" b="0" i="0" dirty="0">
                <a:solidFill>
                  <a:srgbClr val="050E17"/>
                </a:solidFill>
                <a:effectLst/>
                <a:latin typeface="-apple-system"/>
              </a:rPr>
              <a:t>" per specificare il percorso delle classi. </a:t>
            </a:r>
          </a:p>
          <a:p>
            <a:r>
              <a:rPr lang="it-IT" sz="3000" b="0" i="0" dirty="0">
                <a:solidFill>
                  <a:srgbClr val="050E17"/>
                </a:solidFill>
                <a:effectLst/>
                <a:latin typeface="-apple-system"/>
              </a:rPr>
              <a:t>Ad esempio, se la classe si trova nella directory "C:\progetti\mio-progetto\classes", si può eseguire il programma utilizzando il comando seguente:</a:t>
            </a:r>
            <a:endParaRPr lang="it-IT" sz="3000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4409AAF-EEC9-B63E-43D6-8B9D99239955}"/>
              </a:ext>
            </a:extLst>
          </p:cNvPr>
          <p:cNvSpPr txBox="1"/>
          <p:nvPr/>
        </p:nvSpPr>
        <p:spPr>
          <a:xfrm>
            <a:off x="8438" y="5301582"/>
            <a:ext cx="1178387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3000" b="0" i="0" dirty="0">
                <a:solidFill>
                  <a:srgbClr val="050E17"/>
                </a:solidFill>
                <a:effectLst/>
                <a:latin typeface="-apple-system"/>
              </a:rPr>
              <a:t>In questo esempio, l'opzione "-</a:t>
            </a:r>
            <a:r>
              <a:rPr lang="it-IT" sz="3000" b="0" i="0" dirty="0" err="1">
                <a:solidFill>
                  <a:srgbClr val="050E17"/>
                </a:solidFill>
                <a:effectLst/>
                <a:latin typeface="-apple-system"/>
              </a:rPr>
              <a:t>cp</a:t>
            </a:r>
            <a:r>
              <a:rPr lang="it-IT" sz="3000" b="0" i="0" dirty="0">
                <a:solidFill>
                  <a:srgbClr val="050E17"/>
                </a:solidFill>
                <a:effectLst/>
                <a:latin typeface="-apple-system"/>
              </a:rPr>
              <a:t>" indica al comando "java" di cercare le classi all'interno della directory specificata.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148807-14A6-8B4B-B3B6-56E2074AD4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787" y="4281630"/>
            <a:ext cx="11542521" cy="461665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30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java -</a:t>
            </a:r>
            <a:r>
              <a:rPr kumimoji="0" lang="it-IT" altLang="it-IT" sz="30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cp</a:t>
            </a:r>
            <a:r>
              <a:rPr kumimoji="0" lang="it-IT" altLang="it-IT" sz="30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C:</a:t>
            </a:r>
            <a:r>
              <a:rPr kumimoji="0" lang="it-IT" altLang="it-IT" sz="3000" b="0" i="0" u="none" strike="noStrike" cap="none" normalizeH="0" baseline="0" dirty="0">
                <a:ln>
                  <a:noFill/>
                </a:ln>
                <a:solidFill>
                  <a:srgbClr val="ABE338"/>
                </a:solidFill>
                <a:effectLst/>
                <a:latin typeface="Consolas" panose="020B0609020204030204" pitchFamily="49" charset="0"/>
              </a:rPr>
              <a:t>\p</a:t>
            </a:r>
            <a:r>
              <a:rPr kumimoji="0" lang="it-IT" altLang="it-IT" sz="30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rogetti</a:t>
            </a:r>
            <a:r>
              <a:rPr kumimoji="0" lang="it-IT" altLang="it-IT" sz="3000" b="0" i="0" u="none" strike="noStrike" cap="none" normalizeH="0" baseline="0" dirty="0">
                <a:ln>
                  <a:noFill/>
                </a:ln>
                <a:solidFill>
                  <a:srgbClr val="ABE338"/>
                </a:solidFill>
                <a:effectLst/>
                <a:latin typeface="Consolas" panose="020B0609020204030204" pitchFamily="49" charset="0"/>
              </a:rPr>
              <a:t>\m</a:t>
            </a:r>
            <a:r>
              <a:rPr kumimoji="0" lang="it-IT" altLang="it-IT" sz="30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io-progetto</a:t>
            </a:r>
            <a:r>
              <a:rPr kumimoji="0" lang="it-IT" altLang="it-IT" sz="3000" b="0" i="0" u="none" strike="noStrike" cap="none" normalizeH="0" baseline="0" dirty="0">
                <a:ln>
                  <a:noFill/>
                </a:ln>
                <a:solidFill>
                  <a:srgbClr val="ABE338"/>
                </a:solidFill>
                <a:effectLst/>
                <a:latin typeface="Consolas" panose="020B0609020204030204" pitchFamily="49" charset="0"/>
              </a:rPr>
              <a:t>\c</a:t>
            </a:r>
            <a:r>
              <a:rPr kumimoji="0" lang="it-IT" altLang="it-IT" sz="30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lasses </a:t>
            </a:r>
            <a:r>
              <a:rPr kumimoji="0" lang="it-IT" altLang="it-IT" sz="30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MyProgramma</a:t>
            </a:r>
            <a:r>
              <a:rPr kumimoji="0" lang="it-IT" altLang="it-IT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it-IT" altLang="it-IT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27922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Eseguiamo il programma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L’ambiente integrato di Eclipse</a:t>
            </a:r>
            <a:endParaRPr lang="it-IT" sz="1800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D31ECFC-168D-4155-E321-A215A6766BC4}"/>
              </a:ext>
            </a:extLst>
          </p:cNvPr>
          <p:cNvSpPr txBox="1"/>
          <p:nvPr/>
        </p:nvSpPr>
        <p:spPr>
          <a:xfrm>
            <a:off x="282039" y="931966"/>
            <a:ext cx="3114304" cy="6719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Dal codice JAVA al file class compilato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0AA3C93-A3DE-1E35-C7AA-88742B85AD3C}"/>
              </a:ext>
            </a:extLst>
          </p:cNvPr>
          <p:cNvSpPr txBox="1"/>
          <p:nvPr/>
        </p:nvSpPr>
        <p:spPr>
          <a:xfrm>
            <a:off x="3705548" y="382012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La compilazione ed esecuzione da Eclipse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2566BF8-7657-1CCD-538F-DC0BE5899546}"/>
              </a:ext>
            </a:extLst>
          </p:cNvPr>
          <p:cNvSpPr txBox="1"/>
          <p:nvPr/>
        </p:nvSpPr>
        <p:spPr>
          <a:xfrm>
            <a:off x="3702133" y="1278133"/>
            <a:ext cx="60945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Eclipse, essendo un ambiente di sviluppo integrato (IDE) nato con l’obiettivo di rendere la vita maggiormente facile agli sviluppatori, semplifica la compilazione ed esecuzione di programmi Java. </a:t>
            </a:r>
          </a:p>
        </p:txBody>
      </p:sp>
    </p:spTree>
    <p:extLst>
      <p:ext uri="{BB962C8B-B14F-4D97-AF65-F5344CB8AC3E}">
        <p14:creationId xmlns:p14="http://schemas.microsoft.com/office/powerpoint/2010/main" val="284897378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Eseguiamo il programma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L’ambiente integrato di Eclipse</a:t>
            </a:r>
            <a:endParaRPr lang="it-IT" sz="1800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D31ECFC-168D-4155-E321-A215A6766BC4}"/>
              </a:ext>
            </a:extLst>
          </p:cNvPr>
          <p:cNvSpPr txBox="1"/>
          <p:nvPr/>
        </p:nvSpPr>
        <p:spPr>
          <a:xfrm>
            <a:off x="282039" y="931966"/>
            <a:ext cx="3114304" cy="6719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Dal codice JAVA al file class compilato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0AA3C93-A3DE-1E35-C7AA-88742B85AD3C}"/>
              </a:ext>
            </a:extLst>
          </p:cNvPr>
          <p:cNvSpPr txBox="1"/>
          <p:nvPr/>
        </p:nvSpPr>
        <p:spPr>
          <a:xfrm>
            <a:off x="3705548" y="382012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La compilazione ed esecuzione da Eclipse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2566BF8-7657-1CCD-538F-DC0BE5899546}"/>
              </a:ext>
            </a:extLst>
          </p:cNvPr>
          <p:cNvSpPr txBox="1"/>
          <p:nvPr/>
        </p:nvSpPr>
        <p:spPr>
          <a:xfrm>
            <a:off x="3702133" y="1278133"/>
            <a:ext cx="609456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Eclipse, essendo un ambiente di sviluppo integrato (IDE) nato con l’obiettivo di rendere la vita maggiormente facile agli sviluppatori, semplifica la compilazione ed esecuzione di programmi Java. </a:t>
            </a:r>
          </a:p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Ecco i passaggi per compilare ed eseguire un programma Java in Eclipse: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9668588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Eseguiamo il programma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L’ambiente integrato di Eclipse</a:t>
            </a:r>
            <a:endParaRPr lang="it-IT" sz="1800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D31ECFC-168D-4155-E321-A215A6766BC4}"/>
              </a:ext>
            </a:extLst>
          </p:cNvPr>
          <p:cNvSpPr txBox="1"/>
          <p:nvPr/>
        </p:nvSpPr>
        <p:spPr>
          <a:xfrm>
            <a:off x="282039" y="931966"/>
            <a:ext cx="3114304" cy="6719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Dal codice JAVA al file class compilato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0AA3C93-A3DE-1E35-C7AA-88742B85AD3C}"/>
              </a:ext>
            </a:extLst>
          </p:cNvPr>
          <p:cNvSpPr txBox="1"/>
          <p:nvPr/>
        </p:nvSpPr>
        <p:spPr>
          <a:xfrm>
            <a:off x="3705548" y="382012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La compilazione ed esecuzione da Eclipse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2566BF8-7657-1CCD-538F-DC0BE5899546}"/>
              </a:ext>
            </a:extLst>
          </p:cNvPr>
          <p:cNvSpPr txBox="1"/>
          <p:nvPr/>
        </p:nvSpPr>
        <p:spPr>
          <a:xfrm>
            <a:off x="3702133" y="1278133"/>
            <a:ext cx="609456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Eclipse, essendo un ambiente di sviluppo integrato (IDE) nato con l’obiettivo di rendere la vita maggiormente facile agli sviluppatori, semplifica la compilazione ed esecuzione di programmi Java. </a:t>
            </a:r>
          </a:p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Ecco i passaggi per compilare ed eseguire un programma Java in Eclipse:</a:t>
            </a:r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2872CDB-A81C-8A5E-AC38-219E4F3500F2}"/>
              </a:ext>
            </a:extLst>
          </p:cNvPr>
          <p:cNvSpPr txBox="1"/>
          <p:nvPr/>
        </p:nvSpPr>
        <p:spPr>
          <a:xfrm>
            <a:off x="282039" y="3137848"/>
            <a:ext cx="11613787" cy="9233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Una volta realizzato il programma</a:t>
            </a:r>
          </a:p>
          <a:p>
            <a:pPr marL="342900" indent="-342900" algn="l">
              <a:buAutoNum type="arabicPeriod"/>
            </a:pP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Per compilare il programma, fai clic con il tasto destro del mouse sulla classe Java e seleziona "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Run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 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As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" -&gt; "Java Application". Eclipse compilerà automaticamente il tuo programma e lo eseguirà sulla console.</a:t>
            </a:r>
          </a:p>
        </p:txBody>
      </p:sp>
    </p:spTree>
    <p:extLst>
      <p:ext uri="{BB962C8B-B14F-4D97-AF65-F5344CB8AC3E}">
        <p14:creationId xmlns:p14="http://schemas.microsoft.com/office/powerpoint/2010/main" val="91420525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Eseguiamo il programma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L’ambiente integrato di Eclipse</a:t>
            </a:r>
            <a:endParaRPr lang="it-IT" sz="1800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D31ECFC-168D-4155-E321-A215A6766BC4}"/>
              </a:ext>
            </a:extLst>
          </p:cNvPr>
          <p:cNvSpPr txBox="1"/>
          <p:nvPr/>
        </p:nvSpPr>
        <p:spPr>
          <a:xfrm>
            <a:off x="282039" y="931966"/>
            <a:ext cx="3114304" cy="6719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Dal codice JAVA al file class compilato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0AA3C93-A3DE-1E35-C7AA-88742B85AD3C}"/>
              </a:ext>
            </a:extLst>
          </p:cNvPr>
          <p:cNvSpPr txBox="1"/>
          <p:nvPr/>
        </p:nvSpPr>
        <p:spPr>
          <a:xfrm>
            <a:off x="3705548" y="382012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La compilazione ed esecuzione da Eclipse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2566BF8-7657-1CCD-538F-DC0BE5899546}"/>
              </a:ext>
            </a:extLst>
          </p:cNvPr>
          <p:cNvSpPr txBox="1"/>
          <p:nvPr/>
        </p:nvSpPr>
        <p:spPr>
          <a:xfrm>
            <a:off x="3702133" y="1278133"/>
            <a:ext cx="609456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Eclipse, essendo un ambiente di sviluppo integrato (IDE) nato con l’obiettivo di rendere la vita maggiormente facile agli sviluppatori, semplifica la compilazione ed esecuzione di programmi Java. </a:t>
            </a:r>
          </a:p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Ecco i passaggi per compilare ed eseguire un programma Java in Eclipse:</a:t>
            </a:r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2872CDB-A81C-8A5E-AC38-219E4F3500F2}"/>
              </a:ext>
            </a:extLst>
          </p:cNvPr>
          <p:cNvSpPr txBox="1"/>
          <p:nvPr/>
        </p:nvSpPr>
        <p:spPr>
          <a:xfrm>
            <a:off x="282039" y="3137848"/>
            <a:ext cx="11613787" cy="2031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Una volta realizzato il programma</a:t>
            </a:r>
          </a:p>
          <a:p>
            <a:pPr marL="342900" indent="-342900" algn="l">
              <a:buAutoNum type="arabicPeriod"/>
            </a:pP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Per compilare il programma, fai clic con il tasto destro del mouse sulla classe Java e seleziona "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Run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 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As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" -&gt; "Java Application". Eclipse compilerà automaticamente il tuo programma e lo eseguirà sulla console.</a:t>
            </a:r>
          </a:p>
          <a:p>
            <a:pPr marL="342900" indent="-342900" algn="l">
              <a:buAutoNum type="arabicPeriod"/>
            </a:pPr>
            <a:endParaRPr lang="it-IT" b="0" i="0" dirty="0">
              <a:solidFill>
                <a:srgbClr val="050E17"/>
              </a:solidFill>
              <a:effectLst/>
              <a:latin typeface="-apple-system"/>
            </a:endParaRPr>
          </a:p>
          <a:p>
            <a:pPr algn="l"/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2. Per eseguire il programma in modalità debug, fai clic con il tasto destro del mouse sulla classe Java e seleziona "Debug 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As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" -&gt; "Java Application". Eclipse compilerà il tuo programma e lo eseguirà in modalità debug, consentendoti di esaminare il codice passo dopo passo e di individuare eventuali errori.</a:t>
            </a:r>
          </a:p>
        </p:txBody>
      </p:sp>
    </p:spTree>
    <p:extLst>
      <p:ext uri="{BB962C8B-B14F-4D97-AF65-F5344CB8AC3E}">
        <p14:creationId xmlns:p14="http://schemas.microsoft.com/office/powerpoint/2010/main" val="319438168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Eseguiamo il programma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L’ambiente integrato di Eclipse</a:t>
            </a:r>
            <a:endParaRPr lang="it-IT" sz="1800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D31ECFC-168D-4155-E321-A215A6766BC4}"/>
              </a:ext>
            </a:extLst>
          </p:cNvPr>
          <p:cNvSpPr txBox="1"/>
          <p:nvPr/>
        </p:nvSpPr>
        <p:spPr>
          <a:xfrm>
            <a:off x="282039" y="931966"/>
            <a:ext cx="3114304" cy="6719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Dal codice JAVA al file class compilato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0AA3C93-A3DE-1E35-C7AA-88742B85AD3C}"/>
              </a:ext>
            </a:extLst>
          </p:cNvPr>
          <p:cNvSpPr txBox="1"/>
          <p:nvPr/>
        </p:nvSpPr>
        <p:spPr>
          <a:xfrm>
            <a:off x="3705548" y="382012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La compilazione ed esecuzione da Eclipse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2566BF8-7657-1CCD-538F-DC0BE5899546}"/>
              </a:ext>
            </a:extLst>
          </p:cNvPr>
          <p:cNvSpPr txBox="1"/>
          <p:nvPr/>
        </p:nvSpPr>
        <p:spPr>
          <a:xfrm>
            <a:off x="3702133" y="1278133"/>
            <a:ext cx="609456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Eclipse, essendo un ambiente di sviluppo integrato (IDE) nato con l’obiettivo di rendere la vita maggiormente facile agli sviluppatori, semplifica la compilazione ed esecuzione di programmi Java. </a:t>
            </a:r>
          </a:p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Ecco i passaggi per compilare ed eseguire un programma Java in Eclipse:</a:t>
            </a:r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2872CDB-A81C-8A5E-AC38-219E4F3500F2}"/>
              </a:ext>
            </a:extLst>
          </p:cNvPr>
          <p:cNvSpPr txBox="1"/>
          <p:nvPr/>
        </p:nvSpPr>
        <p:spPr>
          <a:xfrm>
            <a:off x="282039" y="3137848"/>
            <a:ext cx="11613787" cy="313932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Una volta realizzato il programma</a:t>
            </a:r>
          </a:p>
          <a:p>
            <a:pPr marL="342900" indent="-342900" algn="l">
              <a:buAutoNum type="arabicPeriod"/>
            </a:pP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Per compilare il programma, fai clic con il tasto destro del mouse sulla classe Java e seleziona "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Run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 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As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" -&gt; "Java Application". Eclipse compilerà automaticamente il tuo programma e lo eseguirà sulla console.</a:t>
            </a:r>
          </a:p>
          <a:p>
            <a:pPr marL="342900" indent="-342900" algn="l">
              <a:buAutoNum type="arabicPeriod"/>
            </a:pPr>
            <a:endParaRPr lang="it-IT" b="0" i="0" dirty="0">
              <a:solidFill>
                <a:srgbClr val="050E17"/>
              </a:solidFill>
              <a:effectLst/>
              <a:latin typeface="-apple-system"/>
            </a:endParaRPr>
          </a:p>
          <a:p>
            <a:pPr algn="l"/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2. Per eseguire il programma in modalità debug, fai clic con il tasto destro del mouse sulla classe Java e seleziona "Debug 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As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" -&gt; "Java Application". Eclipse compilerà il tuo programma e lo eseguirà in modalità debug, consentendoti di esaminare il codice passo dopo passo e di individuare eventuali errori.</a:t>
            </a:r>
          </a:p>
          <a:p>
            <a:pPr algn="l"/>
            <a:endParaRPr lang="it-IT" b="0" i="0" dirty="0">
              <a:solidFill>
                <a:srgbClr val="050E17"/>
              </a:solidFill>
              <a:effectLst/>
              <a:latin typeface="-apple-system"/>
            </a:endParaRPr>
          </a:p>
          <a:p>
            <a:pPr algn="l"/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3. Per esportare il programma come file eseguibile JAR (vedremo più in avanti cosa è un file JAR, questa informazione è per chi già lo sa), fai clic con il tasto destro del mouse sul progetto e seleziona "Export" -&gt; "Java" -&gt; "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Runnable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 JAR file". Segui le istruzioni per selezionare la classe principale del programma e scegliere le opzioni di esportazione desiderate.</a:t>
            </a:r>
          </a:p>
        </p:txBody>
      </p:sp>
    </p:spTree>
    <p:extLst>
      <p:ext uri="{BB962C8B-B14F-4D97-AF65-F5344CB8AC3E}">
        <p14:creationId xmlns:p14="http://schemas.microsoft.com/office/powerpoint/2010/main" val="336439305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Eseguiamo il programma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L’ambiente integrato di Eclipse</a:t>
            </a:r>
            <a:endParaRPr lang="it-IT" sz="1800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D31ECFC-168D-4155-E321-A215A6766BC4}"/>
              </a:ext>
            </a:extLst>
          </p:cNvPr>
          <p:cNvSpPr txBox="1"/>
          <p:nvPr/>
        </p:nvSpPr>
        <p:spPr>
          <a:xfrm>
            <a:off x="282039" y="931966"/>
            <a:ext cx="3114304" cy="6719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Dal codice JAVA al file class compilato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0AA3C93-A3DE-1E35-C7AA-88742B85AD3C}"/>
              </a:ext>
            </a:extLst>
          </p:cNvPr>
          <p:cNvSpPr txBox="1"/>
          <p:nvPr/>
        </p:nvSpPr>
        <p:spPr>
          <a:xfrm>
            <a:off x="3705548" y="382012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La compilazione ed esecuzione da Eclipse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2566BF8-7657-1CCD-538F-DC0BE5899546}"/>
              </a:ext>
            </a:extLst>
          </p:cNvPr>
          <p:cNvSpPr txBox="1"/>
          <p:nvPr/>
        </p:nvSpPr>
        <p:spPr>
          <a:xfrm>
            <a:off x="3592183" y="1267923"/>
            <a:ext cx="6094562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b="0" i="0" dirty="0">
                <a:solidFill>
                  <a:srgbClr val="050E17"/>
                </a:solidFill>
                <a:effectLst/>
                <a:latin typeface="-apple-system"/>
              </a:rPr>
              <a:t>In sintesi, per compilare ed eseguire un programma Java in Eclipse, è sufficiente creare un nuovo progetto Java, creare una nuova classe Java, scrivere il codice del programma all'interno del metodo "</a:t>
            </a:r>
            <a:r>
              <a:rPr lang="it-IT" sz="3000" b="0" i="0" dirty="0" err="1">
                <a:solidFill>
                  <a:srgbClr val="050E17"/>
                </a:solidFill>
                <a:effectLst/>
                <a:latin typeface="-apple-system"/>
              </a:rPr>
              <a:t>main</a:t>
            </a:r>
            <a:r>
              <a:rPr lang="it-IT" sz="3000" b="0" i="0" dirty="0">
                <a:solidFill>
                  <a:srgbClr val="050E17"/>
                </a:solidFill>
                <a:effectLst/>
                <a:latin typeface="-apple-system"/>
              </a:rPr>
              <a:t>", e selezionare "</a:t>
            </a:r>
            <a:r>
              <a:rPr lang="it-IT" sz="3000" b="0" i="0" dirty="0" err="1">
                <a:solidFill>
                  <a:srgbClr val="050E17"/>
                </a:solidFill>
                <a:effectLst/>
                <a:latin typeface="-apple-system"/>
              </a:rPr>
              <a:t>Run</a:t>
            </a:r>
            <a:r>
              <a:rPr lang="it-IT" sz="3000" b="0" i="0" dirty="0">
                <a:solidFill>
                  <a:srgbClr val="050E17"/>
                </a:solidFill>
                <a:effectLst/>
                <a:latin typeface="-apple-system"/>
              </a:rPr>
              <a:t> </a:t>
            </a:r>
            <a:r>
              <a:rPr lang="it-IT" sz="3000" b="0" i="0" dirty="0" err="1">
                <a:solidFill>
                  <a:srgbClr val="050E17"/>
                </a:solidFill>
                <a:effectLst/>
                <a:latin typeface="-apple-system"/>
              </a:rPr>
              <a:t>As</a:t>
            </a:r>
            <a:r>
              <a:rPr lang="it-IT" sz="3000" b="0" i="0" dirty="0">
                <a:solidFill>
                  <a:srgbClr val="050E17"/>
                </a:solidFill>
                <a:effectLst/>
                <a:latin typeface="-apple-system"/>
              </a:rPr>
              <a:t>" -&gt; "Java Application" per eseguire il programma. Eclipse compilerà automaticamente il tuo programma e lo eseguirà nella console.</a:t>
            </a:r>
            <a:endParaRPr lang="it-IT" sz="3000" dirty="0"/>
          </a:p>
        </p:txBody>
      </p:sp>
    </p:spTree>
    <p:extLst>
      <p:ext uri="{BB962C8B-B14F-4D97-AF65-F5344CB8AC3E}">
        <p14:creationId xmlns:p14="http://schemas.microsoft.com/office/powerpoint/2010/main" val="61918479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Eseguiamo il programma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L’ambiente integrato di IntelliJ IDEA</a:t>
            </a:r>
            <a:endParaRPr lang="it-IT" sz="1800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D31ECFC-168D-4155-E321-A215A6766BC4}"/>
              </a:ext>
            </a:extLst>
          </p:cNvPr>
          <p:cNvSpPr txBox="1"/>
          <p:nvPr/>
        </p:nvSpPr>
        <p:spPr>
          <a:xfrm>
            <a:off x="282039" y="931966"/>
            <a:ext cx="3114304" cy="6719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Dal codice JAVA al file class compilato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0AA3C93-A3DE-1E35-C7AA-88742B85AD3C}"/>
              </a:ext>
            </a:extLst>
          </p:cNvPr>
          <p:cNvSpPr txBox="1"/>
          <p:nvPr/>
        </p:nvSpPr>
        <p:spPr>
          <a:xfrm>
            <a:off x="3705548" y="382012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La compilazione ed esecuzione da IntelliJ IDEA</a:t>
            </a:r>
          </a:p>
        </p:txBody>
      </p:sp>
    </p:spTree>
    <p:extLst>
      <p:ext uri="{BB962C8B-B14F-4D97-AF65-F5344CB8AC3E}">
        <p14:creationId xmlns:p14="http://schemas.microsoft.com/office/powerpoint/2010/main" val="114076206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Eseguiamo il programma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L’ambiente integrato di IntelliJ IDEA</a:t>
            </a:r>
            <a:endParaRPr lang="it-IT" sz="1800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D31ECFC-168D-4155-E321-A215A6766BC4}"/>
              </a:ext>
            </a:extLst>
          </p:cNvPr>
          <p:cNvSpPr txBox="1"/>
          <p:nvPr/>
        </p:nvSpPr>
        <p:spPr>
          <a:xfrm>
            <a:off x="282039" y="931966"/>
            <a:ext cx="3114304" cy="6719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Dal codice JAVA al file class compilato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0AA3C93-A3DE-1E35-C7AA-88742B85AD3C}"/>
              </a:ext>
            </a:extLst>
          </p:cNvPr>
          <p:cNvSpPr txBox="1"/>
          <p:nvPr/>
        </p:nvSpPr>
        <p:spPr>
          <a:xfrm>
            <a:off x="3705548" y="382012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La compilazione ed esecuzione da IntelliJ IDEA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2566BF8-7657-1CCD-538F-DC0BE5899546}"/>
              </a:ext>
            </a:extLst>
          </p:cNvPr>
          <p:cNvSpPr txBox="1"/>
          <p:nvPr/>
        </p:nvSpPr>
        <p:spPr>
          <a:xfrm>
            <a:off x="3702133" y="1278133"/>
            <a:ext cx="60945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IntelliJ IDEA è un altro ambiente di sviluppo integrato (IDE) per la programmazione in Java che semplifica la compilazione ed esecuzione di programmi Java. </a:t>
            </a:r>
          </a:p>
        </p:txBody>
      </p:sp>
    </p:spTree>
    <p:extLst>
      <p:ext uri="{BB962C8B-B14F-4D97-AF65-F5344CB8AC3E}">
        <p14:creationId xmlns:p14="http://schemas.microsoft.com/office/powerpoint/2010/main" val="286126940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Eseguiamo il programma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L’ambiente integrato di IntelliJ IDEA</a:t>
            </a:r>
            <a:endParaRPr lang="it-IT" sz="1800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D31ECFC-168D-4155-E321-A215A6766BC4}"/>
              </a:ext>
            </a:extLst>
          </p:cNvPr>
          <p:cNvSpPr txBox="1"/>
          <p:nvPr/>
        </p:nvSpPr>
        <p:spPr>
          <a:xfrm>
            <a:off x="282039" y="931966"/>
            <a:ext cx="3114304" cy="6719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Dal codice JAVA al file class compilato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0AA3C93-A3DE-1E35-C7AA-88742B85AD3C}"/>
              </a:ext>
            </a:extLst>
          </p:cNvPr>
          <p:cNvSpPr txBox="1"/>
          <p:nvPr/>
        </p:nvSpPr>
        <p:spPr>
          <a:xfrm>
            <a:off x="3705548" y="382012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La compilazione ed esecuzione da IntelliJ IDEA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2566BF8-7657-1CCD-538F-DC0BE5899546}"/>
              </a:ext>
            </a:extLst>
          </p:cNvPr>
          <p:cNvSpPr txBox="1"/>
          <p:nvPr/>
        </p:nvSpPr>
        <p:spPr>
          <a:xfrm>
            <a:off x="3702133" y="1278133"/>
            <a:ext cx="609456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IntelliJ IDEA è un altro ambiente di sviluppo integrato (IDE) per la programmazione in Java che semplifica la compilazione ed esecuzione di programmi Java. </a:t>
            </a:r>
          </a:p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Ecco i passaggi per compilare ed eseguire un programma Java in IntelliJ IDEA :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9292431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Eseguiamo il programma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L’ambiente integrato di IntelliJ IDEA</a:t>
            </a:r>
            <a:endParaRPr lang="it-IT" sz="1800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D31ECFC-168D-4155-E321-A215A6766BC4}"/>
              </a:ext>
            </a:extLst>
          </p:cNvPr>
          <p:cNvSpPr txBox="1"/>
          <p:nvPr/>
        </p:nvSpPr>
        <p:spPr>
          <a:xfrm>
            <a:off x="282039" y="931966"/>
            <a:ext cx="3114304" cy="6719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Dal codice JAVA al file class compilato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0AA3C93-A3DE-1E35-C7AA-88742B85AD3C}"/>
              </a:ext>
            </a:extLst>
          </p:cNvPr>
          <p:cNvSpPr txBox="1"/>
          <p:nvPr/>
        </p:nvSpPr>
        <p:spPr>
          <a:xfrm>
            <a:off x="3705548" y="382012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La compilazione ed esecuzione da IntelliJ IDEA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2566BF8-7657-1CCD-538F-DC0BE5899546}"/>
              </a:ext>
            </a:extLst>
          </p:cNvPr>
          <p:cNvSpPr txBox="1"/>
          <p:nvPr/>
        </p:nvSpPr>
        <p:spPr>
          <a:xfrm>
            <a:off x="3702133" y="1278133"/>
            <a:ext cx="609456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IntelliJ IDEA è un altro ambiente di sviluppo integrato (IDE) per la programmazione in Java che semplifica la compilazione ed esecuzione di programmi Java. </a:t>
            </a:r>
          </a:p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Ecco i passaggi per compilare ed eseguire un programma Java in IntelliJ IDEA :</a:t>
            </a:r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2872CDB-A81C-8A5E-AC38-219E4F3500F2}"/>
              </a:ext>
            </a:extLst>
          </p:cNvPr>
          <p:cNvSpPr txBox="1"/>
          <p:nvPr/>
        </p:nvSpPr>
        <p:spPr>
          <a:xfrm>
            <a:off x="282039" y="3137848"/>
            <a:ext cx="11613787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Una volta realizzato il programma</a:t>
            </a:r>
          </a:p>
          <a:p>
            <a:pPr marL="342900" indent="-342900" algn="l">
              <a:buAutoNum type="arabicPeriod"/>
            </a:pP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Per compilare il programma, fai clic con il tasto destro del mouse sulla classe Java e seleziona "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Run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 '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HelloWorld.main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()'". IntelliJ IDEA compilerà automaticamente il tuo programma e lo eseguirà sulla console.</a:t>
            </a:r>
          </a:p>
          <a:p>
            <a:pPr algn="l"/>
            <a:endParaRPr lang="it-IT" b="0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8424248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Eseguiamo il programma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L’ambiente integrato di IntelliJ IDEA</a:t>
            </a:r>
            <a:endParaRPr lang="it-IT" sz="1800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D31ECFC-168D-4155-E321-A215A6766BC4}"/>
              </a:ext>
            </a:extLst>
          </p:cNvPr>
          <p:cNvSpPr txBox="1"/>
          <p:nvPr/>
        </p:nvSpPr>
        <p:spPr>
          <a:xfrm>
            <a:off x="282039" y="931966"/>
            <a:ext cx="3114304" cy="6719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Dal codice JAVA al file class compilato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0AA3C93-A3DE-1E35-C7AA-88742B85AD3C}"/>
              </a:ext>
            </a:extLst>
          </p:cNvPr>
          <p:cNvSpPr txBox="1"/>
          <p:nvPr/>
        </p:nvSpPr>
        <p:spPr>
          <a:xfrm>
            <a:off x="3705548" y="382012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La compilazione ed esecuzione da IntelliJ IDEA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2566BF8-7657-1CCD-538F-DC0BE5899546}"/>
              </a:ext>
            </a:extLst>
          </p:cNvPr>
          <p:cNvSpPr txBox="1"/>
          <p:nvPr/>
        </p:nvSpPr>
        <p:spPr>
          <a:xfrm>
            <a:off x="3702133" y="1278133"/>
            <a:ext cx="609456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IntelliJ IDEA è un altro ambiente di sviluppo integrato (IDE) per la programmazione in Java che semplifica la compilazione ed esecuzione di programmi Java. </a:t>
            </a:r>
          </a:p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Ecco i passaggi per compilare ed eseguire un programma Java in IntelliJ IDEA :</a:t>
            </a:r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2872CDB-A81C-8A5E-AC38-219E4F3500F2}"/>
              </a:ext>
            </a:extLst>
          </p:cNvPr>
          <p:cNvSpPr txBox="1"/>
          <p:nvPr/>
        </p:nvSpPr>
        <p:spPr>
          <a:xfrm>
            <a:off x="282039" y="3137848"/>
            <a:ext cx="11613787" cy="2031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Una volta realizzato il programma</a:t>
            </a:r>
          </a:p>
          <a:p>
            <a:pPr marL="342900" indent="-342900" algn="l">
              <a:buAutoNum type="arabicPeriod"/>
            </a:pP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Per compilare il programma, fai clic con il tasto destro del mouse sulla classe Java e seleziona "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Run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 '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HelloWorld.main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()'". IntelliJ IDEA compilerà automaticamente il tuo programma e lo eseguirà sulla console.</a:t>
            </a:r>
          </a:p>
          <a:p>
            <a:pPr marL="342900" indent="-342900" algn="l">
              <a:buAutoNum type="arabicPeriod"/>
            </a:pPr>
            <a:endParaRPr lang="it-IT" b="0" i="0" dirty="0">
              <a:solidFill>
                <a:srgbClr val="050E17"/>
              </a:solidFill>
              <a:effectLst/>
              <a:latin typeface="-apple-system"/>
            </a:endParaRPr>
          </a:p>
          <a:p>
            <a:pPr algn="l"/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2. Per eseguire il programma in modalità debug, fai clic con il tasto destro del mouse sulla classe Java e seleziona "Debug '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HelloWorld.main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()'". IntelliJ IDEA compilerà il tuo programma e lo eseguirà in modalità debug, consentendoti di esaminare il codice passo dopo passo e di individuare eventuali errori.</a:t>
            </a:r>
          </a:p>
        </p:txBody>
      </p:sp>
    </p:spTree>
    <p:extLst>
      <p:ext uri="{BB962C8B-B14F-4D97-AF65-F5344CB8AC3E}">
        <p14:creationId xmlns:p14="http://schemas.microsoft.com/office/powerpoint/2010/main" val="396892786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Eseguiamo il programma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L’ambiente integrato di IntelliJ IDEA</a:t>
            </a:r>
            <a:endParaRPr lang="it-IT" sz="1800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D31ECFC-168D-4155-E321-A215A6766BC4}"/>
              </a:ext>
            </a:extLst>
          </p:cNvPr>
          <p:cNvSpPr txBox="1"/>
          <p:nvPr/>
        </p:nvSpPr>
        <p:spPr>
          <a:xfrm>
            <a:off x="282039" y="931966"/>
            <a:ext cx="3114304" cy="6719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Dal codice JAVA al file class compilato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0AA3C93-A3DE-1E35-C7AA-88742B85AD3C}"/>
              </a:ext>
            </a:extLst>
          </p:cNvPr>
          <p:cNvSpPr txBox="1"/>
          <p:nvPr/>
        </p:nvSpPr>
        <p:spPr>
          <a:xfrm>
            <a:off x="3705548" y="382012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La compilazione ed esecuzione da IntelliJ IDEA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2566BF8-7657-1CCD-538F-DC0BE5899546}"/>
              </a:ext>
            </a:extLst>
          </p:cNvPr>
          <p:cNvSpPr txBox="1"/>
          <p:nvPr/>
        </p:nvSpPr>
        <p:spPr>
          <a:xfrm>
            <a:off x="3702133" y="1278133"/>
            <a:ext cx="609456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IntelliJ IDEA è un altro ambiente di sviluppo integrato (IDE) per la programmazione in Java che semplifica la compilazione ed esecuzione di programmi Java. </a:t>
            </a:r>
          </a:p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Ecco i passaggi per compilare ed eseguire un programma Java in IntelliJ IDEA :</a:t>
            </a:r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2872CDB-A81C-8A5E-AC38-219E4F3500F2}"/>
              </a:ext>
            </a:extLst>
          </p:cNvPr>
          <p:cNvSpPr txBox="1"/>
          <p:nvPr/>
        </p:nvSpPr>
        <p:spPr>
          <a:xfrm>
            <a:off x="282039" y="3137848"/>
            <a:ext cx="11613787" cy="34163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Una volta realizzato il programma</a:t>
            </a:r>
          </a:p>
          <a:p>
            <a:pPr marL="342900" indent="-342900" algn="l">
              <a:buAutoNum type="arabicPeriod"/>
            </a:pP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Per compilare il programma, fai clic con il tasto destro del mouse sulla classe Java e seleziona "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Run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 '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HelloWorld.main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()'". IntelliJ IDEA compilerà automaticamente il tuo programma e lo eseguirà sulla console.</a:t>
            </a:r>
          </a:p>
          <a:p>
            <a:pPr marL="342900" indent="-342900" algn="l">
              <a:buAutoNum type="arabicPeriod"/>
            </a:pPr>
            <a:endParaRPr lang="it-IT" b="0" i="0" dirty="0">
              <a:solidFill>
                <a:srgbClr val="050E17"/>
              </a:solidFill>
              <a:effectLst/>
              <a:latin typeface="-apple-system"/>
            </a:endParaRPr>
          </a:p>
          <a:p>
            <a:pPr algn="l"/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2. Per eseguire il programma in modalità debug, fai clic con il tasto destro del mouse sulla classe Java e seleziona "Debug '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HelloWorld.main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()'". IntelliJ IDEA compilerà il tuo programma e lo eseguirà in modalità debug, consentendoti di esaminare il codice passo dopo passo e di individuare eventuali errori.</a:t>
            </a:r>
          </a:p>
          <a:p>
            <a:pPr algn="l"/>
            <a:endParaRPr lang="it-IT" b="0" i="0" dirty="0">
              <a:solidFill>
                <a:srgbClr val="050E17"/>
              </a:solidFill>
              <a:effectLst/>
              <a:latin typeface="-apple-system"/>
            </a:endParaRPr>
          </a:p>
          <a:p>
            <a:pPr algn="l"/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3. Per esportare il programma come file eseguibile JAR, seleziona "File" -&gt; "Project 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Structure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" dal menu principale. Nella finestra di dialogo "Project 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Structure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", seleziona "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Artifacts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" nella barra laterale e fai clic sull'icona "+" per creare un nuovo artefatto. Segui le istruzioni per selezionare la classe principale del programma e scegliere le opzioni di esportazione desiderate.</a:t>
            </a:r>
          </a:p>
        </p:txBody>
      </p:sp>
    </p:spTree>
    <p:extLst>
      <p:ext uri="{BB962C8B-B14F-4D97-AF65-F5344CB8AC3E}">
        <p14:creationId xmlns:p14="http://schemas.microsoft.com/office/powerpoint/2010/main" val="284752251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Eseguiamo il programma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L’ambiente integrato di IntelliJ IDEA</a:t>
            </a:r>
            <a:endParaRPr lang="it-IT" sz="1800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D31ECFC-168D-4155-E321-A215A6766BC4}"/>
              </a:ext>
            </a:extLst>
          </p:cNvPr>
          <p:cNvSpPr txBox="1"/>
          <p:nvPr/>
        </p:nvSpPr>
        <p:spPr>
          <a:xfrm>
            <a:off x="282039" y="931966"/>
            <a:ext cx="3114304" cy="6719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Dal codice JAVA al file class compilato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0AA3C93-A3DE-1E35-C7AA-88742B85AD3C}"/>
              </a:ext>
            </a:extLst>
          </p:cNvPr>
          <p:cNvSpPr txBox="1"/>
          <p:nvPr/>
        </p:nvSpPr>
        <p:spPr>
          <a:xfrm>
            <a:off x="3705548" y="382012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La compilazione ed esecuzione da IntelliJ IDEA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2566BF8-7657-1CCD-538F-DC0BE5899546}"/>
              </a:ext>
            </a:extLst>
          </p:cNvPr>
          <p:cNvSpPr txBox="1"/>
          <p:nvPr/>
        </p:nvSpPr>
        <p:spPr>
          <a:xfrm>
            <a:off x="3702133" y="1546991"/>
            <a:ext cx="6094562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500" b="0" i="0" dirty="0">
                <a:solidFill>
                  <a:srgbClr val="050E17"/>
                </a:solidFill>
                <a:effectLst/>
                <a:latin typeface="-apple-system"/>
              </a:rPr>
              <a:t>In sintesi, per compilare ed eseguire un programma Java in IntelliJ IDEA, è sufficiente creare un nuovo progetto Java, creare una nuova classe Java, scrivere il codice del programma all'interno del metodo "</a:t>
            </a:r>
            <a:r>
              <a:rPr lang="it-IT" sz="2500" b="0" i="0" dirty="0" err="1">
                <a:solidFill>
                  <a:srgbClr val="050E17"/>
                </a:solidFill>
                <a:effectLst/>
                <a:latin typeface="-apple-system"/>
              </a:rPr>
              <a:t>main</a:t>
            </a:r>
            <a:r>
              <a:rPr lang="it-IT" sz="2500" b="0" i="0" dirty="0">
                <a:solidFill>
                  <a:srgbClr val="050E17"/>
                </a:solidFill>
                <a:effectLst/>
                <a:latin typeface="-apple-system"/>
              </a:rPr>
              <a:t>", e selezionare "</a:t>
            </a:r>
            <a:r>
              <a:rPr lang="it-IT" sz="2500" b="0" i="0" dirty="0" err="1">
                <a:solidFill>
                  <a:srgbClr val="050E17"/>
                </a:solidFill>
                <a:effectLst/>
                <a:latin typeface="-apple-system"/>
              </a:rPr>
              <a:t>Run</a:t>
            </a:r>
            <a:r>
              <a:rPr lang="it-IT" sz="2500" b="0" i="0" dirty="0">
                <a:solidFill>
                  <a:srgbClr val="050E17"/>
                </a:solidFill>
                <a:effectLst/>
                <a:latin typeface="-apple-system"/>
              </a:rPr>
              <a:t> '</a:t>
            </a:r>
            <a:r>
              <a:rPr lang="it-IT" sz="2500" b="0" i="0" dirty="0" err="1">
                <a:solidFill>
                  <a:srgbClr val="050E17"/>
                </a:solidFill>
                <a:effectLst/>
                <a:latin typeface="-apple-system"/>
              </a:rPr>
              <a:t>HelloWorld.main</a:t>
            </a:r>
            <a:r>
              <a:rPr lang="it-IT" sz="2500" b="0" i="0" dirty="0">
                <a:solidFill>
                  <a:srgbClr val="050E17"/>
                </a:solidFill>
                <a:effectLst/>
                <a:latin typeface="-apple-system"/>
              </a:rPr>
              <a:t>()'" per eseguire il programma. IntelliJ IDEA compilerà automaticamente il tuo programma e lo eseguirà sulla console. Inoltre, puoi selezionare "Debug '</a:t>
            </a:r>
            <a:r>
              <a:rPr lang="it-IT" sz="2500" b="0" i="0" dirty="0" err="1">
                <a:solidFill>
                  <a:srgbClr val="050E17"/>
                </a:solidFill>
                <a:effectLst/>
                <a:latin typeface="-apple-system"/>
              </a:rPr>
              <a:t>HelloWorld.main</a:t>
            </a:r>
            <a:r>
              <a:rPr lang="it-IT" sz="2500" b="0" i="0" dirty="0">
                <a:solidFill>
                  <a:srgbClr val="050E17"/>
                </a:solidFill>
                <a:effectLst/>
                <a:latin typeface="-apple-system"/>
              </a:rPr>
              <a:t>()'" per eseguire il programma in modalità debug e individuare eventuali errori.</a:t>
            </a:r>
            <a:endParaRPr lang="it-IT" sz="2500" dirty="0"/>
          </a:p>
        </p:txBody>
      </p:sp>
    </p:spTree>
    <p:extLst>
      <p:ext uri="{BB962C8B-B14F-4D97-AF65-F5344CB8AC3E}">
        <p14:creationId xmlns:p14="http://schemas.microsoft.com/office/powerpoint/2010/main" val="21823609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Eseguiamo il programma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it-IT" dirty="0">
                <a:solidFill>
                  <a:srgbClr val="050E17"/>
                </a:solidFill>
                <a:latin typeface="-apple-system"/>
              </a:rPr>
              <a:t>L’editor di codice 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VSCode</a:t>
            </a:r>
            <a:endParaRPr lang="it-IT" sz="1800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D31ECFC-168D-4155-E321-A215A6766BC4}"/>
              </a:ext>
            </a:extLst>
          </p:cNvPr>
          <p:cNvSpPr txBox="1"/>
          <p:nvPr/>
        </p:nvSpPr>
        <p:spPr>
          <a:xfrm>
            <a:off x="282039" y="931966"/>
            <a:ext cx="3114304" cy="6719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Dal codice JAVA al file class compilato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0AA3C93-A3DE-1E35-C7AA-88742B85AD3C}"/>
              </a:ext>
            </a:extLst>
          </p:cNvPr>
          <p:cNvSpPr txBox="1"/>
          <p:nvPr/>
        </p:nvSpPr>
        <p:spPr>
          <a:xfrm>
            <a:off x="3705548" y="382012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La compilazione ed esecuzione da </a:t>
            </a:r>
            <a:r>
              <a:rPr lang="it-IT" b="1" dirty="0" err="1"/>
              <a:t>VSCode</a:t>
            </a:r>
            <a:endParaRPr lang="it-IT" b="1" dirty="0"/>
          </a:p>
        </p:txBody>
      </p:sp>
    </p:spTree>
    <p:extLst>
      <p:ext uri="{BB962C8B-B14F-4D97-AF65-F5344CB8AC3E}">
        <p14:creationId xmlns:p14="http://schemas.microsoft.com/office/powerpoint/2010/main" val="391882763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Eseguiamo il programma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it-IT" dirty="0">
                <a:solidFill>
                  <a:srgbClr val="050E17"/>
                </a:solidFill>
                <a:latin typeface="-apple-system"/>
              </a:rPr>
              <a:t>L’editor di codice 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VSCode</a:t>
            </a:r>
            <a:endParaRPr lang="it-IT" sz="1800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D31ECFC-168D-4155-E321-A215A6766BC4}"/>
              </a:ext>
            </a:extLst>
          </p:cNvPr>
          <p:cNvSpPr txBox="1"/>
          <p:nvPr/>
        </p:nvSpPr>
        <p:spPr>
          <a:xfrm>
            <a:off x="282039" y="931966"/>
            <a:ext cx="3114304" cy="6719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Dal codice JAVA al file class compilato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0AA3C93-A3DE-1E35-C7AA-88742B85AD3C}"/>
              </a:ext>
            </a:extLst>
          </p:cNvPr>
          <p:cNvSpPr txBox="1"/>
          <p:nvPr/>
        </p:nvSpPr>
        <p:spPr>
          <a:xfrm>
            <a:off x="3705548" y="382012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La compilazione ed esecuzione da </a:t>
            </a:r>
            <a:r>
              <a:rPr lang="it-IT" b="1" dirty="0" err="1"/>
              <a:t>VSCode</a:t>
            </a:r>
            <a:endParaRPr lang="it-IT" b="1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2566BF8-7657-1CCD-538F-DC0BE5899546}"/>
              </a:ext>
            </a:extLst>
          </p:cNvPr>
          <p:cNvSpPr txBox="1"/>
          <p:nvPr/>
        </p:nvSpPr>
        <p:spPr>
          <a:xfrm>
            <a:off x="3702133" y="1278133"/>
            <a:ext cx="60945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VSCode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 è un editor di codice sorgente open source che supporta la programmazione in Java; </a:t>
            </a:r>
          </a:p>
        </p:txBody>
      </p:sp>
    </p:spTree>
    <p:extLst>
      <p:ext uri="{BB962C8B-B14F-4D97-AF65-F5344CB8AC3E}">
        <p14:creationId xmlns:p14="http://schemas.microsoft.com/office/powerpoint/2010/main" val="321070836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Eseguiamo il programma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it-IT" dirty="0">
                <a:solidFill>
                  <a:srgbClr val="050E17"/>
                </a:solidFill>
                <a:latin typeface="-apple-system"/>
              </a:rPr>
              <a:t>L’editor di codice 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VSCode</a:t>
            </a:r>
            <a:endParaRPr lang="it-IT" sz="1800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D31ECFC-168D-4155-E321-A215A6766BC4}"/>
              </a:ext>
            </a:extLst>
          </p:cNvPr>
          <p:cNvSpPr txBox="1"/>
          <p:nvPr/>
        </p:nvSpPr>
        <p:spPr>
          <a:xfrm>
            <a:off x="282039" y="931966"/>
            <a:ext cx="3114304" cy="6719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Dal codice JAVA al file class compilato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0AA3C93-A3DE-1E35-C7AA-88742B85AD3C}"/>
              </a:ext>
            </a:extLst>
          </p:cNvPr>
          <p:cNvSpPr txBox="1"/>
          <p:nvPr/>
        </p:nvSpPr>
        <p:spPr>
          <a:xfrm>
            <a:off x="3705548" y="382012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La compilazione ed esecuzione da </a:t>
            </a:r>
            <a:r>
              <a:rPr lang="it-IT" b="1" dirty="0" err="1"/>
              <a:t>VSCode</a:t>
            </a:r>
            <a:endParaRPr lang="it-IT" b="1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2566BF8-7657-1CCD-538F-DC0BE5899546}"/>
              </a:ext>
            </a:extLst>
          </p:cNvPr>
          <p:cNvSpPr txBox="1"/>
          <p:nvPr/>
        </p:nvSpPr>
        <p:spPr>
          <a:xfrm>
            <a:off x="3702133" y="1278133"/>
            <a:ext cx="609456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VSCode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 è un editor di codice sorgente open source che supporta la programmazione in Java; non è propriamente definibile un ambiente integrato, sebbene fornisca numerose funzionalità a supporto, tanto che si potrebbe intendere anche così.</a:t>
            </a:r>
          </a:p>
        </p:txBody>
      </p:sp>
    </p:spTree>
    <p:extLst>
      <p:ext uri="{BB962C8B-B14F-4D97-AF65-F5344CB8AC3E}">
        <p14:creationId xmlns:p14="http://schemas.microsoft.com/office/powerpoint/2010/main" val="48549075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Eseguiamo il programma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it-IT" dirty="0">
                <a:solidFill>
                  <a:srgbClr val="050E17"/>
                </a:solidFill>
                <a:latin typeface="-apple-system"/>
              </a:rPr>
              <a:t>L’editor di codice 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VSCode</a:t>
            </a:r>
            <a:endParaRPr lang="it-IT" sz="1800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D31ECFC-168D-4155-E321-A215A6766BC4}"/>
              </a:ext>
            </a:extLst>
          </p:cNvPr>
          <p:cNvSpPr txBox="1"/>
          <p:nvPr/>
        </p:nvSpPr>
        <p:spPr>
          <a:xfrm>
            <a:off x="282039" y="931966"/>
            <a:ext cx="3114304" cy="6719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Dal codice JAVA al file class compilato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0AA3C93-A3DE-1E35-C7AA-88742B85AD3C}"/>
              </a:ext>
            </a:extLst>
          </p:cNvPr>
          <p:cNvSpPr txBox="1"/>
          <p:nvPr/>
        </p:nvSpPr>
        <p:spPr>
          <a:xfrm>
            <a:off x="3705548" y="382012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La compilazione ed esecuzione da </a:t>
            </a:r>
            <a:r>
              <a:rPr lang="it-IT" b="1" dirty="0" err="1"/>
              <a:t>VSCode</a:t>
            </a:r>
            <a:endParaRPr lang="it-IT" b="1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2566BF8-7657-1CCD-538F-DC0BE5899546}"/>
              </a:ext>
            </a:extLst>
          </p:cNvPr>
          <p:cNvSpPr txBox="1"/>
          <p:nvPr/>
        </p:nvSpPr>
        <p:spPr>
          <a:xfrm>
            <a:off x="3702133" y="1278133"/>
            <a:ext cx="609456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VSCode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 è un editor di codice sorgente open source che supporta la programmazione in Java; non è propriamente definibile un ambiente integrato, sebbene fornisca numerose funzionalità a supporto, tanto che si potrebbe intendere anche così.</a:t>
            </a:r>
          </a:p>
          <a:p>
            <a:r>
              <a:rPr lang="it-IT" dirty="0">
                <a:solidFill>
                  <a:srgbClr val="050E17"/>
                </a:solidFill>
                <a:latin typeface="-apple-system"/>
              </a:rPr>
              <a:t>Vediamo come compilare ed eseguire con </a:t>
            </a:r>
            <a:r>
              <a:rPr lang="it-IT" dirty="0" err="1">
                <a:solidFill>
                  <a:srgbClr val="050E17"/>
                </a:solidFill>
                <a:latin typeface="-apple-system"/>
              </a:rPr>
              <a:t>VSCode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1362197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Eseguiamo il programma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it-IT" dirty="0">
                <a:solidFill>
                  <a:srgbClr val="050E17"/>
                </a:solidFill>
                <a:latin typeface="-apple-system"/>
              </a:rPr>
              <a:t>L’editor di codice 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VSCode</a:t>
            </a:r>
            <a:endParaRPr lang="it-IT" sz="1800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D31ECFC-168D-4155-E321-A215A6766BC4}"/>
              </a:ext>
            </a:extLst>
          </p:cNvPr>
          <p:cNvSpPr txBox="1"/>
          <p:nvPr/>
        </p:nvSpPr>
        <p:spPr>
          <a:xfrm>
            <a:off x="282039" y="931966"/>
            <a:ext cx="3114304" cy="6719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Dal codice JAVA al file class compilato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0AA3C93-A3DE-1E35-C7AA-88742B85AD3C}"/>
              </a:ext>
            </a:extLst>
          </p:cNvPr>
          <p:cNvSpPr txBox="1"/>
          <p:nvPr/>
        </p:nvSpPr>
        <p:spPr>
          <a:xfrm>
            <a:off x="3705548" y="382012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La compilazione ed esecuzione da </a:t>
            </a:r>
            <a:r>
              <a:rPr lang="it-IT" b="1" dirty="0" err="1"/>
              <a:t>VSCode</a:t>
            </a:r>
            <a:endParaRPr lang="it-IT" b="1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2566BF8-7657-1CCD-538F-DC0BE5899546}"/>
              </a:ext>
            </a:extLst>
          </p:cNvPr>
          <p:cNvSpPr txBox="1"/>
          <p:nvPr/>
        </p:nvSpPr>
        <p:spPr>
          <a:xfrm>
            <a:off x="3702133" y="1278133"/>
            <a:ext cx="609456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VSCode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 è un editor di codice sorgente open source che supporta la programmazione in Java; non è propriamente definibile un ambiente integrato, sebbene fornisca numerose funzionalità a supporto, tanto che si potrebbe intendere anche così.</a:t>
            </a:r>
          </a:p>
          <a:p>
            <a:r>
              <a:rPr lang="it-IT" dirty="0">
                <a:solidFill>
                  <a:srgbClr val="050E17"/>
                </a:solidFill>
                <a:latin typeface="-apple-system"/>
              </a:rPr>
              <a:t>Vediamo come compilare ed eseguire con </a:t>
            </a:r>
            <a:r>
              <a:rPr lang="it-IT" dirty="0" err="1">
                <a:solidFill>
                  <a:srgbClr val="050E17"/>
                </a:solidFill>
                <a:latin typeface="-apple-system"/>
              </a:rPr>
              <a:t>VSCode</a:t>
            </a:r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2872CDB-A81C-8A5E-AC38-219E4F3500F2}"/>
              </a:ext>
            </a:extLst>
          </p:cNvPr>
          <p:cNvSpPr txBox="1"/>
          <p:nvPr/>
        </p:nvSpPr>
        <p:spPr>
          <a:xfrm>
            <a:off x="282039" y="3137848"/>
            <a:ext cx="11613787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Per compilare il programma, puoi usare </a:t>
            </a:r>
            <a:r>
              <a:rPr lang="it-IT" dirty="0">
                <a:solidFill>
                  <a:srgbClr val="050E17"/>
                </a:solidFill>
                <a:latin typeface="-apple-system"/>
              </a:rPr>
              <a:t>il suo terminale come il terminale del tuo sistema operativo.</a:t>
            </a:r>
          </a:p>
          <a:p>
            <a:pPr algn="l"/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Apri il terminale di 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VSCode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 utilizzando il comando "Terminal" -&gt; "New Terminal" dal menu principale. </a:t>
            </a:r>
          </a:p>
          <a:p>
            <a:pPr algn="l"/>
            <a:r>
              <a:rPr lang="it-IT" dirty="0">
                <a:solidFill>
                  <a:srgbClr val="050E17"/>
                </a:solidFill>
                <a:latin typeface="-apple-system"/>
              </a:rPr>
              <a:t>Assicurati di essere 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nella directory del progetto o naviga fino ad essa utilizzando il comando "cd" e compila il programma utilizzando il comando "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javac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". </a:t>
            </a:r>
          </a:p>
        </p:txBody>
      </p:sp>
    </p:spTree>
    <p:extLst>
      <p:ext uri="{BB962C8B-B14F-4D97-AF65-F5344CB8AC3E}">
        <p14:creationId xmlns:p14="http://schemas.microsoft.com/office/powerpoint/2010/main" val="111225124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Eseguiamo il programma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it-IT" dirty="0">
                <a:solidFill>
                  <a:srgbClr val="050E17"/>
                </a:solidFill>
                <a:latin typeface="-apple-system"/>
              </a:rPr>
              <a:t>L’editor di codice 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VSCode</a:t>
            </a:r>
            <a:endParaRPr lang="it-IT" sz="1800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D31ECFC-168D-4155-E321-A215A6766BC4}"/>
              </a:ext>
            </a:extLst>
          </p:cNvPr>
          <p:cNvSpPr txBox="1"/>
          <p:nvPr/>
        </p:nvSpPr>
        <p:spPr>
          <a:xfrm>
            <a:off x="282039" y="931966"/>
            <a:ext cx="3114304" cy="6719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Dal codice JAVA al file class compilato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0AA3C93-A3DE-1E35-C7AA-88742B85AD3C}"/>
              </a:ext>
            </a:extLst>
          </p:cNvPr>
          <p:cNvSpPr txBox="1"/>
          <p:nvPr/>
        </p:nvSpPr>
        <p:spPr>
          <a:xfrm>
            <a:off x="3705548" y="382012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La compilazione ed esecuzione da </a:t>
            </a:r>
            <a:r>
              <a:rPr lang="it-IT" b="1" dirty="0" err="1"/>
              <a:t>VSCode</a:t>
            </a:r>
            <a:endParaRPr lang="it-IT" b="1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2566BF8-7657-1CCD-538F-DC0BE5899546}"/>
              </a:ext>
            </a:extLst>
          </p:cNvPr>
          <p:cNvSpPr txBox="1"/>
          <p:nvPr/>
        </p:nvSpPr>
        <p:spPr>
          <a:xfrm>
            <a:off x="3702133" y="1278133"/>
            <a:ext cx="609456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VSCode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 è un editor di codice sorgente open source che supporta la programmazione in Java; non è propriamente definibile un ambiente integrato, sebbene fornisca numerose funzionalità a supporto, tanto che si potrebbe intendere anche così.</a:t>
            </a:r>
          </a:p>
          <a:p>
            <a:r>
              <a:rPr lang="it-IT" dirty="0">
                <a:solidFill>
                  <a:srgbClr val="050E17"/>
                </a:solidFill>
                <a:latin typeface="-apple-system"/>
              </a:rPr>
              <a:t>Vediamo come compilare ed eseguire con </a:t>
            </a:r>
            <a:r>
              <a:rPr lang="it-IT" dirty="0" err="1">
                <a:solidFill>
                  <a:srgbClr val="050E17"/>
                </a:solidFill>
                <a:latin typeface="-apple-system"/>
              </a:rPr>
              <a:t>VSCode</a:t>
            </a:r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2872CDB-A81C-8A5E-AC38-219E4F3500F2}"/>
              </a:ext>
            </a:extLst>
          </p:cNvPr>
          <p:cNvSpPr txBox="1"/>
          <p:nvPr/>
        </p:nvSpPr>
        <p:spPr>
          <a:xfrm>
            <a:off x="282039" y="3137848"/>
            <a:ext cx="11613787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Per compilare il programma, puoi usare </a:t>
            </a:r>
            <a:r>
              <a:rPr lang="it-IT" dirty="0">
                <a:solidFill>
                  <a:srgbClr val="050E17"/>
                </a:solidFill>
                <a:latin typeface="-apple-system"/>
              </a:rPr>
              <a:t>il suo terminale come il terminale del tuo sistema operativo.</a:t>
            </a:r>
          </a:p>
          <a:p>
            <a:pPr algn="l"/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Apri il terminale di 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VSCode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 utilizzando il comando "Terminal" -&gt; "New Terminal" dal menu principale. </a:t>
            </a:r>
          </a:p>
          <a:p>
            <a:pPr algn="l"/>
            <a:r>
              <a:rPr lang="it-IT" dirty="0">
                <a:solidFill>
                  <a:srgbClr val="050E17"/>
                </a:solidFill>
                <a:latin typeface="-apple-system"/>
              </a:rPr>
              <a:t>Assicurati di essere 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nella directory del progetto o naviga fino ad essa utilizzando il comando "cd" e compila il programma utilizzando il comando "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javac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".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69C73F-E4A9-FE24-8FDA-97401FFB5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039" y="4527066"/>
            <a:ext cx="4430700" cy="307777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rgbClr val="DCC6E0"/>
                </a:solidFill>
                <a:effectLst/>
                <a:latin typeface="Consolas" panose="020B0609020204030204" pitchFamily="49" charset="0"/>
              </a:rPr>
              <a:t>javac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rgbClr val="DCC6E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nomeClasseEseguibile.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rgbClr val="DCC6E0"/>
                </a:solidFill>
                <a:effectLst/>
                <a:latin typeface="Consolas" panose="020B0609020204030204" pitchFamily="49" charset="0"/>
              </a:rPr>
              <a:t>java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it-IT" altLang="it-IT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984891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Eseguiamo il programma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it-IT" dirty="0">
                <a:solidFill>
                  <a:srgbClr val="050E17"/>
                </a:solidFill>
                <a:latin typeface="-apple-system"/>
              </a:rPr>
              <a:t>L’editor di codice 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VSCode</a:t>
            </a:r>
            <a:endParaRPr lang="it-IT" sz="1800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D31ECFC-168D-4155-E321-A215A6766BC4}"/>
              </a:ext>
            </a:extLst>
          </p:cNvPr>
          <p:cNvSpPr txBox="1"/>
          <p:nvPr/>
        </p:nvSpPr>
        <p:spPr>
          <a:xfrm>
            <a:off x="282039" y="931966"/>
            <a:ext cx="3114304" cy="6719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Dal codice JAVA al file class compilato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0AA3C93-A3DE-1E35-C7AA-88742B85AD3C}"/>
              </a:ext>
            </a:extLst>
          </p:cNvPr>
          <p:cNvSpPr txBox="1"/>
          <p:nvPr/>
        </p:nvSpPr>
        <p:spPr>
          <a:xfrm>
            <a:off x="3705548" y="382012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La compilazione ed esecuzione da </a:t>
            </a:r>
            <a:r>
              <a:rPr lang="it-IT" b="1" dirty="0" err="1"/>
              <a:t>VSCode</a:t>
            </a:r>
            <a:endParaRPr lang="it-IT" b="1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2566BF8-7657-1CCD-538F-DC0BE5899546}"/>
              </a:ext>
            </a:extLst>
          </p:cNvPr>
          <p:cNvSpPr txBox="1"/>
          <p:nvPr/>
        </p:nvSpPr>
        <p:spPr>
          <a:xfrm>
            <a:off x="3702133" y="1278133"/>
            <a:ext cx="609456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VSCode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 è un editor di codice sorgente open source che supporta la programmazione in Java; non è propriamente definibile un ambiente integrato, sebbene fornisca numerose funzionalità a supporto, tanto che si potrebbe intendere anche così.</a:t>
            </a:r>
          </a:p>
          <a:p>
            <a:r>
              <a:rPr lang="it-IT" dirty="0">
                <a:solidFill>
                  <a:srgbClr val="050E17"/>
                </a:solidFill>
                <a:latin typeface="-apple-system"/>
              </a:rPr>
              <a:t>Vediamo come compilare ed eseguire con </a:t>
            </a:r>
            <a:r>
              <a:rPr lang="it-IT" dirty="0" err="1">
                <a:solidFill>
                  <a:srgbClr val="050E17"/>
                </a:solidFill>
                <a:latin typeface="-apple-system"/>
              </a:rPr>
              <a:t>VSCode</a:t>
            </a:r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2872CDB-A81C-8A5E-AC38-219E4F3500F2}"/>
              </a:ext>
            </a:extLst>
          </p:cNvPr>
          <p:cNvSpPr txBox="1"/>
          <p:nvPr/>
        </p:nvSpPr>
        <p:spPr>
          <a:xfrm>
            <a:off x="282039" y="3137848"/>
            <a:ext cx="11613787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Per compilare il programma, puoi usare </a:t>
            </a:r>
            <a:r>
              <a:rPr lang="it-IT" dirty="0">
                <a:solidFill>
                  <a:srgbClr val="050E17"/>
                </a:solidFill>
                <a:latin typeface="-apple-system"/>
              </a:rPr>
              <a:t>il suo terminale come il terminale del tuo sistema operativo.</a:t>
            </a:r>
          </a:p>
          <a:p>
            <a:pPr algn="l"/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Apri il terminale di 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VSCode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 utilizzando il comando "Terminal" -&gt; "New Terminal" dal menu principale. </a:t>
            </a:r>
          </a:p>
          <a:p>
            <a:pPr algn="l"/>
            <a:r>
              <a:rPr lang="it-IT" dirty="0">
                <a:solidFill>
                  <a:srgbClr val="050E17"/>
                </a:solidFill>
                <a:latin typeface="-apple-system"/>
              </a:rPr>
              <a:t>Assicurati di essere 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nella directory del progetto o naviga fino ad essa utilizzando il comando "cd" e compila il programma utilizzando il comando "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javac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".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69C73F-E4A9-FE24-8FDA-97401FFB5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039" y="4527066"/>
            <a:ext cx="4430700" cy="307777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rgbClr val="DCC6E0"/>
                </a:solidFill>
                <a:effectLst/>
                <a:latin typeface="Consolas" panose="020B0609020204030204" pitchFamily="49" charset="0"/>
              </a:rPr>
              <a:t>javac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rgbClr val="DCC6E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nomeClasseEseguibile.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rgbClr val="DCC6E0"/>
                </a:solidFill>
                <a:effectLst/>
                <a:latin typeface="Consolas" panose="020B0609020204030204" pitchFamily="49" charset="0"/>
              </a:rPr>
              <a:t>java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it-IT" altLang="it-IT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9797B97-4D9E-4111-B65F-CCDDF4F2D49E}"/>
              </a:ext>
            </a:extLst>
          </p:cNvPr>
          <p:cNvSpPr txBox="1"/>
          <p:nvPr/>
        </p:nvSpPr>
        <p:spPr>
          <a:xfrm>
            <a:off x="282039" y="4933536"/>
            <a:ext cx="11613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Ad esempio, se il file Java si chiama "HelloWorld.java", puoi compilare il programma utilizzando il seguente comando</a:t>
            </a:r>
          </a:p>
        </p:txBody>
      </p:sp>
    </p:spTree>
    <p:extLst>
      <p:ext uri="{BB962C8B-B14F-4D97-AF65-F5344CB8AC3E}">
        <p14:creationId xmlns:p14="http://schemas.microsoft.com/office/powerpoint/2010/main" val="11969305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Eseguiamo il programma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it-IT" dirty="0">
                <a:solidFill>
                  <a:srgbClr val="050E17"/>
                </a:solidFill>
                <a:latin typeface="-apple-system"/>
              </a:rPr>
              <a:t>L’editor di codice 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VSCode</a:t>
            </a:r>
            <a:endParaRPr lang="it-IT" sz="1800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D31ECFC-168D-4155-E321-A215A6766BC4}"/>
              </a:ext>
            </a:extLst>
          </p:cNvPr>
          <p:cNvSpPr txBox="1"/>
          <p:nvPr/>
        </p:nvSpPr>
        <p:spPr>
          <a:xfrm>
            <a:off x="282039" y="931966"/>
            <a:ext cx="3114304" cy="6719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Dal codice JAVA al file class compilato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0AA3C93-A3DE-1E35-C7AA-88742B85AD3C}"/>
              </a:ext>
            </a:extLst>
          </p:cNvPr>
          <p:cNvSpPr txBox="1"/>
          <p:nvPr/>
        </p:nvSpPr>
        <p:spPr>
          <a:xfrm>
            <a:off x="3705548" y="382012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La compilazione ed esecuzione da </a:t>
            </a:r>
            <a:r>
              <a:rPr lang="it-IT" b="1" dirty="0" err="1"/>
              <a:t>VSCode</a:t>
            </a:r>
            <a:endParaRPr lang="it-IT" b="1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2566BF8-7657-1CCD-538F-DC0BE5899546}"/>
              </a:ext>
            </a:extLst>
          </p:cNvPr>
          <p:cNvSpPr txBox="1"/>
          <p:nvPr/>
        </p:nvSpPr>
        <p:spPr>
          <a:xfrm>
            <a:off x="3702133" y="1278133"/>
            <a:ext cx="609456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VSCode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 è un editor di codice sorgente open source che supporta la programmazione in Java; non è propriamente definibile un ambiente integrato, sebbene fornisca numerose funzionalità a supporto, tanto che si potrebbe intendere anche così.</a:t>
            </a:r>
          </a:p>
          <a:p>
            <a:r>
              <a:rPr lang="it-IT" dirty="0">
                <a:solidFill>
                  <a:srgbClr val="050E17"/>
                </a:solidFill>
                <a:latin typeface="-apple-system"/>
              </a:rPr>
              <a:t>Vediamo come compilare ed eseguire con </a:t>
            </a:r>
            <a:r>
              <a:rPr lang="it-IT" dirty="0" err="1">
                <a:solidFill>
                  <a:srgbClr val="050E17"/>
                </a:solidFill>
                <a:latin typeface="-apple-system"/>
              </a:rPr>
              <a:t>VSCode</a:t>
            </a:r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2872CDB-A81C-8A5E-AC38-219E4F3500F2}"/>
              </a:ext>
            </a:extLst>
          </p:cNvPr>
          <p:cNvSpPr txBox="1"/>
          <p:nvPr/>
        </p:nvSpPr>
        <p:spPr>
          <a:xfrm>
            <a:off x="282039" y="3137848"/>
            <a:ext cx="11613787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Per compilare il programma, puoi usare </a:t>
            </a:r>
            <a:r>
              <a:rPr lang="it-IT" dirty="0">
                <a:solidFill>
                  <a:srgbClr val="050E17"/>
                </a:solidFill>
                <a:latin typeface="-apple-system"/>
              </a:rPr>
              <a:t>il suo terminale come il terminale del tuo sistema operativo.</a:t>
            </a:r>
          </a:p>
          <a:p>
            <a:pPr algn="l"/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Apri il terminale di 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VSCode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 utilizzando il comando "Terminal" -&gt; "New Terminal" dal menu principale. </a:t>
            </a:r>
          </a:p>
          <a:p>
            <a:pPr algn="l"/>
            <a:r>
              <a:rPr lang="it-IT" dirty="0">
                <a:solidFill>
                  <a:srgbClr val="050E17"/>
                </a:solidFill>
                <a:latin typeface="-apple-system"/>
              </a:rPr>
              <a:t>Assicurati di essere 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nella directory del progetto o naviga fino ad essa utilizzando il comando "cd" e compila il programma utilizzando il comando "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javac</a:t>
            </a:r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".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69C73F-E4A9-FE24-8FDA-97401FFB5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039" y="4527066"/>
            <a:ext cx="4430700" cy="307777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rgbClr val="DCC6E0"/>
                </a:solidFill>
                <a:effectLst/>
                <a:latin typeface="Consolas" panose="020B0609020204030204" pitchFamily="49" charset="0"/>
              </a:rPr>
              <a:t>javac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rgbClr val="DCC6E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nomeClasseEseguibile.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rgbClr val="DCC6E0"/>
                </a:solidFill>
                <a:effectLst/>
                <a:latin typeface="Consolas" panose="020B0609020204030204" pitchFamily="49" charset="0"/>
              </a:rPr>
              <a:t>java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it-IT" altLang="it-IT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9797B97-4D9E-4111-B65F-CCDDF4F2D49E}"/>
              </a:ext>
            </a:extLst>
          </p:cNvPr>
          <p:cNvSpPr txBox="1"/>
          <p:nvPr/>
        </p:nvSpPr>
        <p:spPr>
          <a:xfrm>
            <a:off x="282039" y="4933536"/>
            <a:ext cx="11613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Ad esempio, se il file Java si chiama "HelloWorld.java", puoi compilare il programma utilizzando il seguente comando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08764F58-07EA-744A-C5F9-C6BD270DA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039" y="5430202"/>
            <a:ext cx="4430700" cy="307777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2000" b="0" i="0" u="none" strike="noStrike" cap="none" normalizeH="0" baseline="0" dirty="0" err="1">
                <a:ln>
                  <a:noFill/>
                </a:ln>
                <a:solidFill>
                  <a:srgbClr val="DCC6E0"/>
                </a:solidFill>
                <a:effectLst/>
                <a:latin typeface="Consolas" panose="020B0609020204030204" pitchFamily="49" charset="0"/>
              </a:rPr>
              <a:t>javac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rgbClr val="DCC6E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HelloWorld.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rgbClr val="DCC6E0"/>
                </a:solidFill>
                <a:effectLst/>
                <a:latin typeface="Consolas" panose="020B0609020204030204" pitchFamily="49" charset="0"/>
              </a:rPr>
              <a:t>java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it-IT" altLang="it-IT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642854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Eseguiamo il programma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it-IT" dirty="0">
                <a:solidFill>
                  <a:srgbClr val="050E17"/>
                </a:solidFill>
                <a:latin typeface="-apple-system"/>
              </a:rPr>
              <a:t>L’editor di codice 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VSCode</a:t>
            </a:r>
            <a:endParaRPr lang="it-IT" sz="1800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D31ECFC-168D-4155-E321-A215A6766BC4}"/>
              </a:ext>
            </a:extLst>
          </p:cNvPr>
          <p:cNvSpPr txBox="1"/>
          <p:nvPr/>
        </p:nvSpPr>
        <p:spPr>
          <a:xfrm>
            <a:off x="282039" y="931966"/>
            <a:ext cx="3114304" cy="6719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Dal codice JAVA al file class compilato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0AA3C93-A3DE-1E35-C7AA-88742B85AD3C}"/>
              </a:ext>
            </a:extLst>
          </p:cNvPr>
          <p:cNvSpPr txBox="1"/>
          <p:nvPr/>
        </p:nvSpPr>
        <p:spPr>
          <a:xfrm>
            <a:off x="3705548" y="382012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La compilazione ed esecuzione da </a:t>
            </a:r>
            <a:r>
              <a:rPr lang="it-IT" b="1" dirty="0" err="1"/>
              <a:t>VSCode</a:t>
            </a:r>
            <a:endParaRPr lang="it-IT" b="1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2566BF8-7657-1CCD-538F-DC0BE5899546}"/>
              </a:ext>
            </a:extLst>
          </p:cNvPr>
          <p:cNvSpPr txBox="1"/>
          <p:nvPr/>
        </p:nvSpPr>
        <p:spPr>
          <a:xfrm>
            <a:off x="3702133" y="1278133"/>
            <a:ext cx="609456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i="0" u="sng" dirty="0">
                <a:solidFill>
                  <a:srgbClr val="050E17"/>
                </a:solidFill>
                <a:effectLst/>
                <a:latin typeface="-apple-system"/>
              </a:rPr>
              <a:t>Esecuzione in modalità debug</a:t>
            </a:r>
          </a:p>
          <a:p>
            <a:r>
              <a:rPr lang="it-IT" b="0" i="0" dirty="0">
                <a:solidFill>
                  <a:srgbClr val="050E17"/>
                </a:solidFill>
                <a:effectLst/>
                <a:latin typeface="-apple-system"/>
              </a:rPr>
              <a:t>Per eseguire il programma in modalità debug, utilizza l'estensione "Java Debug Extension Pack" dal marketplace e segui le istruzioni per impostare un punto di interruzione nel codice del programma e avviare il debug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8152301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Eseguiamo il programma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it-IT" dirty="0">
                <a:solidFill>
                  <a:srgbClr val="050E17"/>
                </a:solidFill>
                <a:latin typeface="-apple-system"/>
              </a:rPr>
              <a:t>L’editor di codice </a:t>
            </a:r>
            <a:r>
              <a:rPr lang="it-IT" b="0" i="0" dirty="0" err="1">
                <a:solidFill>
                  <a:srgbClr val="050E17"/>
                </a:solidFill>
                <a:effectLst/>
                <a:latin typeface="-apple-system"/>
              </a:rPr>
              <a:t>VSCode</a:t>
            </a:r>
            <a:endParaRPr lang="it-IT" sz="1800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D31ECFC-168D-4155-E321-A215A6766BC4}"/>
              </a:ext>
            </a:extLst>
          </p:cNvPr>
          <p:cNvSpPr txBox="1"/>
          <p:nvPr/>
        </p:nvSpPr>
        <p:spPr>
          <a:xfrm>
            <a:off x="282039" y="931966"/>
            <a:ext cx="3114304" cy="6719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Dal codice JAVA al file class compilato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0AA3C93-A3DE-1E35-C7AA-88742B85AD3C}"/>
              </a:ext>
            </a:extLst>
          </p:cNvPr>
          <p:cNvSpPr txBox="1"/>
          <p:nvPr/>
        </p:nvSpPr>
        <p:spPr>
          <a:xfrm>
            <a:off x="3705548" y="382012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La compilazione ed esecuzione da </a:t>
            </a:r>
            <a:r>
              <a:rPr lang="it-IT" b="1" dirty="0" err="1"/>
              <a:t>VSCode</a:t>
            </a:r>
            <a:endParaRPr lang="it-IT" b="1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2566BF8-7657-1CCD-538F-DC0BE5899546}"/>
              </a:ext>
            </a:extLst>
          </p:cNvPr>
          <p:cNvSpPr txBox="1"/>
          <p:nvPr/>
        </p:nvSpPr>
        <p:spPr>
          <a:xfrm>
            <a:off x="3702133" y="1546991"/>
            <a:ext cx="6094562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0" i="0" dirty="0">
                <a:solidFill>
                  <a:srgbClr val="050E17"/>
                </a:solidFill>
                <a:effectLst/>
                <a:latin typeface="-apple-system"/>
              </a:rPr>
              <a:t>In sintesi, per compilare ed eseguire un programma Java in </a:t>
            </a:r>
            <a:r>
              <a:rPr lang="it-IT" sz="2800" b="0" i="0" dirty="0" err="1">
                <a:solidFill>
                  <a:srgbClr val="050E17"/>
                </a:solidFill>
                <a:effectLst/>
                <a:latin typeface="-apple-system"/>
              </a:rPr>
              <a:t>VSCode</a:t>
            </a:r>
            <a:r>
              <a:rPr lang="it-IT" sz="2800" b="0" i="0" dirty="0">
                <a:solidFill>
                  <a:srgbClr val="050E17"/>
                </a:solidFill>
                <a:effectLst/>
                <a:latin typeface="-apple-system"/>
              </a:rPr>
              <a:t>, è sufficiente creare un nuovo file Java, scrivere il codice del programma, compilare il programma utilizzando il comando "</a:t>
            </a:r>
            <a:r>
              <a:rPr lang="it-IT" sz="2800" b="0" i="0" dirty="0" err="1">
                <a:solidFill>
                  <a:srgbClr val="050E17"/>
                </a:solidFill>
                <a:effectLst/>
                <a:latin typeface="-apple-system"/>
              </a:rPr>
              <a:t>javac</a:t>
            </a:r>
            <a:r>
              <a:rPr lang="it-IT" sz="2800" b="0" i="0" dirty="0">
                <a:solidFill>
                  <a:srgbClr val="050E17"/>
                </a:solidFill>
                <a:effectLst/>
                <a:latin typeface="-apple-system"/>
              </a:rPr>
              <a:t>" da terminale, ed eseguire il programma utilizzando il comando "java". Inoltre, puoi utilizzare l'estensione "Java Debug Extension Pack" per eseguire il programma in modalità debug.</a:t>
            </a:r>
            <a:endParaRPr lang="it-IT" sz="2500" dirty="0"/>
          </a:p>
        </p:txBody>
      </p:sp>
    </p:spTree>
    <p:extLst>
      <p:ext uri="{BB962C8B-B14F-4D97-AF65-F5344CB8AC3E}">
        <p14:creationId xmlns:p14="http://schemas.microsoft.com/office/powerpoint/2010/main" val="1904782364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Struttura di una applicazione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sz="3000" dirty="0"/>
          </a:p>
          <a:p>
            <a:r>
              <a:rPr lang="it-IT" sz="3000" dirty="0" err="1"/>
              <a:t>System.out.println</a:t>
            </a:r>
            <a:r>
              <a:rPr lang="it-IT" sz="3000" dirty="0"/>
              <a:t> è un metodo di OUTPUT.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9BD2F263-6977-86E4-27A6-336FC8CCEC8B}"/>
              </a:ext>
            </a:extLst>
          </p:cNvPr>
          <p:cNvSpPr txBox="1"/>
          <p:nvPr/>
        </p:nvSpPr>
        <p:spPr>
          <a:xfrm>
            <a:off x="3702133" y="795647"/>
            <a:ext cx="835132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it-IT" dirty="0" err="1"/>
              <a:t>System.out.println</a:t>
            </a:r>
            <a:r>
              <a:rPr lang="it-IT" dirty="0"/>
              <a:t> è un metodo di OUTPUT.</a:t>
            </a:r>
          </a:p>
        </p:txBody>
      </p:sp>
    </p:spTree>
    <p:extLst>
      <p:ext uri="{BB962C8B-B14F-4D97-AF65-F5344CB8AC3E}">
        <p14:creationId xmlns:p14="http://schemas.microsoft.com/office/powerpoint/2010/main" val="395043401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Struttura di una applicazione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sz="3000" dirty="0"/>
          </a:p>
          <a:p>
            <a:r>
              <a:rPr lang="it-IT" sz="3000" dirty="0" err="1"/>
              <a:t>System.out.println</a:t>
            </a:r>
            <a:r>
              <a:rPr lang="it-IT" sz="3000" dirty="0"/>
              <a:t> è un metodo di OUTPUT.</a:t>
            </a:r>
          </a:p>
          <a:p>
            <a:endParaRPr lang="it-IT" sz="3000" dirty="0"/>
          </a:p>
          <a:p>
            <a:r>
              <a:rPr lang="it-IT" sz="3000" dirty="0"/>
              <a:t>Come avremo modo di vedere, esistono metodi di input e di output, che sostanzialmente consentono rispettivamente al programma </a:t>
            </a:r>
          </a:p>
          <a:p>
            <a:r>
              <a:rPr lang="it-IT" sz="3000" dirty="0"/>
              <a:t>di: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9BD2F263-6977-86E4-27A6-336FC8CCEC8B}"/>
              </a:ext>
            </a:extLst>
          </p:cNvPr>
          <p:cNvSpPr txBox="1"/>
          <p:nvPr/>
        </p:nvSpPr>
        <p:spPr>
          <a:xfrm>
            <a:off x="3702133" y="795647"/>
            <a:ext cx="835132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it-IT" dirty="0" err="1"/>
              <a:t>System.out.println</a:t>
            </a:r>
            <a:r>
              <a:rPr lang="it-IT" dirty="0"/>
              <a:t> è un metodo di OUTPUT.</a:t>
            </a:r>
          </a:p>
        </p:txBody>
      </p:sp>
    </p:spTree>
    <p:extLst>
      <p:ext uri="{BB962C8B-B14F-4D97-AF65-F5344CB8AC3E}">
        <p14:creationId xmlns:p14="http://schemas.microsoft.com/office/powerpoint/2010/main" val="243334208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Struttura di una applicazione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sz="3000" dirty="0"/>
          </a:p>
          <a:p>
            <a:r>
              <a:rPr lang="it-IT" sz="3000" dirty="0" err="1"/>
              <a:t>System.out.println</a:t>
            </a:r>
            <a:r>
              <a:rPr lang="it-IT" sz="3000" dirty="0"/>
              <a:t> è un metodo di OUTPUT.</a:t>
            </a:r>
          </a:p>
          <a:p>
            <a:endParaRPr lang="it-IT" sz="3000" dirty="0"/>
          </a:p>
          <a:p>
            <a:r>
              <a:rPr lang="it-IT" sz="3000" dirty="0"/>
              <a:t>Come avremo modo di vedere, esistono metodi di input e di output, che sostanzialmente consentono rispettivamente al programma </a:t>
            </a:r>
          </a:p>
          <a:p>
            <a:r>
              <a:rPr lang="it-IT" sz="3000" dirty="0"/>
              <a:t>di:</a:t>
            </a:r>
          </a:p>
          <a:p>
            <a:pPr marL="285750" indent="-285750">
              <a:buFontTx/>
              <a:buChar char="-"/>
            </a:pPr>
            <a:r>
              <a:rPr lang="it-IT" sz="3000" dirty="0"/>
              <a:t>Acquisire dati</a:t>
            </a:r>
          </a:p>
          <a:p>
            <a:r>
              <a:rPr lang="it-IT" sz="3000" dirty="0"/>
              <a:t>o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9BD2F263-6977-86E4-27A6-336FC8CCEC8B}"/>
              </a:ext>
            </a:extLst>
          </p:cNvPr>
          <p:cNvSpPr txBox="1"/>
          <p:nvPr/>
        </p:nvSpPr>
        <p:spPr>
          <a:xfrm>
            <a:off x="3702133" y="795647"/>
            <a:ext cx="835132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it-IT" dirty="0" err="1"/>
              <a:t>System.out.println</a:t>
            </a:r>
            <a:r>
              <a:rPr lang="it-IT" dirty="0"/>
              <a:t> è un metodo di OUTPUT.</a:t>
            </a:r>
          </a:p>
        </p:txBody>
      </p:sp>
    </p:spTree>
    <p:extLst>
      <p:ext uri="{BB962C8B-B14F-4D97-AF65-F5344CB8AC3E}">
        <p14:creationId xmlns:p14="http://schemas.microsoft.com/office/powerpoint/2010/main" val="2759174252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Struttura di una applicazione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sz="3000" dirty="0"/>
          </a:p>
          <a:p>
            <a:r>
              <a:rPr lang="it-IT" sz="3000" dirty="0" err="1"/>
              <a:t>System.out.println</a:t>
            </a:r>
            <a:r>
              <a:rPr lang="it-IT" sz="3000" dirty="0"/>
              <a:t> è un metodo di OUTPUT.</a:t>
            </a:r>
          </a:p>
          <a:p>
            <a:endParaRPr lang="it-IT" sz="3000" dirty="0"/>
          </a:p>
          <a:p>
            <a:r>
              <a:rPr lang="it-IT" sz="3000" dirty="0"/>
              <a:t>Come avremo modo di vedere, esistono metodi di input e di output, che sostanzialmente consentono rispettivamente al programma </a:t>
            </a:r>
          </a:p>
          <a:p>
            <a:r>
              <a:rPr lang="it-IT" sz="3000" dirty="0"/>
              <a:t>di:</a:t>
            </a:r>
          </a:p>
          <a:p>
            <a:pPr marL="285750" indent="-285750">
              <a:buFontTx/>
              <a:buChar char="-"/>
            </a:pPr>
            <a:r>
              <a:rPr lang="it-IT" sz="3000" dirty="0"/>
              <a:t>Acquisire dati</a:t>
            </a:r>
          </a:p>
          <a:p>
            <a:r>
              <a:rPr lang="it-IT" sz="3000" dirty="0"/>
              <a:t>o</a:t>
            </a:r>
          </a:p>
          <a:p>
            <a:pPr marL="285750" indent="-285750">
              <a:buFontTx/>
              <a:buChar char="-"/>
            </a:pPr>
            <a:r>
              <a:rPr lang="it-IT" sz="3000" dirty="0"/>
              <a:t>Fornire dati (scrivere sul video, stampare su carta, </a:t>
            </a:r>
            <a:r>
              <a:rPr lang="it-IT" sz="3000" dirty="0" err="1"/>
              <a:t>ecc</a:t>
            </a:r>
            <a:r>
              <a:rPr lang="it-IT" sz="3000" dirty="0"/>
              <a:t>)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9BD2F263-6977-86E4-27A6-336FC8CCEC8B}"/>
              </a:ext>
            </a:extLst>
          </p:cNvPr>
          <p:cNvSpPr txBox="1"/>
          <p:nvPr/>
        </p:nvSpPr>
        <p:spPr>
          <a:xfrm>
            <a:off x="3702133" y="795647"/>
            <a:ext cx="835132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it-IT" dirty="0" err="1"/>
              <a:t>System.out.println</a:t>
            </a:r>
            <a:r>
              <a:rPr lang="it-IT" dirty="0"/>
              <a:t> è un metodo di OUTPUT.</a:t>
            </a:r>
          </a:p>
        </p:txBody>
      </p:sp>
    </p:spTree>
    <p:extLst>
      <p:ext uri="{BB962C8B-B14F-4D97-AF65-F5344CB8AC3E}">
        <p14:creationId xmlns:p14="http://schemas.microsoft.com/office/powerpoint/2010/main" val="4037912854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3114304" cy="3736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Struttura di una applicazione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6FCB8B0-81EA-5366-B06A-CC49164BF58E}"/>
              </a:ext>
            </a:extLst>
          </p:cNvPr>
          <p:cNvSpPr txBox="1"/>
          <p:nvPr/>
        </p:nvSpPr>
        <p:spPr>
          <a:xfrm>
            <a:off x="3702133" y="795647"/>
            <a:ext cx="83513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/>
              <a:t>System.out.println</a:t>
            </a:r>
            <a:r>
              <a:rPr lang="it-IT" dirty="0"/>
              <a:t> è un metodo di OUTPUT.</a:t>
            </a:r>
          </a:p>
          <a:p>
            <a:endParaRPr lang="it-IT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9BD2F263-6977-86E4-27A6-336FC8CCEC8B}"/>
              </a:ext>
            </a:extLst>
          </p:cNvPr>
          <p:cNvSpPr txBox="1"/>
          <p:nvPr/>
        </p:nvSpPr>
        <p:spPr>
          <a:xfrm>
            <a:off x="3702133" y="795647"/>
            <a:ext cx="835132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it-IT" dirty="0"/>
              <a:t>Scrivere metodi nostri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8859565F-6C73-3964-8CD1-26A847FAE8E5}"/>
              </a:ext>
            </a:extLst>
          </p:cNvPr>
          <p:cNvSpPr txBox="1"/>
          <p:nvPr/>
        </p:nvSpPr>
        <p:spPr>
          <a:xfrm>
            <a:off x="3048719" y="2228671"/>
            <a:ext cx="6094562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dirty="0"/>
              <a:t>Come vedremo è possibile usare metodi già esistenti di classi presenti nel kit di JAVA, metodi di classi di terze parti, ma anche scrivere classi nostre</a:t>
            </a:r>
          </a:p>
        </p:txBody>
      </p:sp>
    </p:spTree>
    <p:extLst>
      <p:ext uri="{BB962C8B-B14F-4D97-AF65-F5344CB8AC3E}">
        <p14:creationId xmlns:p14="http://schemas.microsoft.com/office/powerpoint/2010/main" val="160560460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6097978" cy="373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Le librerie standard di Java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AC7B31C-D2C2-C243-DA32-83D492709768}"/>
              </a:ext>
            </a:extLst>
          </p:cNvPr>
          <p:cNvSpPr txBox="1"/>
          <p:nvPr/>
        </p:nvSpPr>
        <p:spPr>
          <a:xfrm>
            <a:off x="3048990" y="1031312"/>
            <a:ext cx="6097978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3000" dirty="0"/>
              <a:t>Le librerie standard di Java sono un insieme di classi e metodi predefiniti che sono disponibili nella piattaforma Java e che possono essere utilizzati per sviluppare applicazioni Java.</a:t>
            </a:r>
            <a:endParaRPr lang="it-IT" sz="3000" b="0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4743557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6097978" cy="373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Le librerie standard di Java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AC7B31C-D2C2-C243-DA32-83D492709768}"/>
              </a:ext>
            </a:extLst>
          </p:cNvPr>
          <p:cNvSpPr txBox="1"/>
          <p:nvPr/>
        </p:nvSpPr>
        <p:spPr>
          <a:xfrm>
            <a:off x="3048990" y="1031312"/>
            <a:ext cx="6097978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3000" dirty="0"/>
              <a:t>Le librerie standard di Java sono organizzate in pacchetti (i package di cui abbiamo accennato), come ad esempio </a:t>
            </a:r>
            <a:r>
              <a:rPr lang="it-IT" sz="3000" dirty="0" err="1"/>
              <a:t>java.util</a:t>
            </a:r>
            <a:r>
              <a:rPr lang="it-IT" sz="3000" dirty="0"/>
              <a:t>, </a:t>
            </a:r>
            <a:r>
              <a:rPr lang="it-IT" sz="3000" dirty="0" err="1"/>
              <a:t>java.io</a:t>
            </a:r>
            <a:r>
              <a:rPr lang="it-IT" sz="3000" dirty="0"/>
              <a:t> e </a:t>
            </a:r>
            <a:r>
              <a:rPr lang="it-IT" sz="3000" dirty="0" err="1"/>
              <a:t>java.lang</a:t>
            </a:r>
            <a:r>
              <a:rPr lang="it-IT" sz="3000" dirty="0"/>
              <a:t>, e ciascun pacchetto contiene classi e metodi che sono utilizzati per scopi specifici.</a:t>
            </a:r>
            <a:endParaRPr lang="it-IT" sz="3000" b="0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461612872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6097978" cy="373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Le librerie standard di Java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AC7B31C-D2C2-C243-DA32-83D492709768}"/>
              </a:ext>
            </a:extLst>
          </p:cNvPr>
          <p:cNvSpPr txBox="1"/>
          <p:nvPr/>
        </p:nvSpPr>
        <p:spPr>
          <a:xfrm>
            <a:off x="3048990" y="1031312"/>
            <a:ext cx="609797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3000" dirty="0"/>
              <a:t>Ad esempio, il pacchetto </a:t>
            </a:r>
            <a:r>
              <a:rPr lang="it-IT" sz="3000" dirty="0" err="1"/>
              <a:t>java.util</a:t>
            </a:r>
            <a:r>
              <a:rPr lang="it-IT" sz="3000" dirty="0"/>
              <a:t> contiene molte classi utili, come la classe </a:t>
            </a:r>
            <a:r>
              <a:rPr lang="it-IT" sz="3000" dirty="0" err="1"/>
              <a:t>ArrayList</a:t>
            </a:r>
            <a:r>
              <a:rPr lang="it-IT" sz="3000" dirty="0"/>
              <a:t> che può essere utilizzata per creare e manipolare elenchi dinamici di oggetti, la classe </a:t>
            </a:r>
            <a:r>
              <a:rPr lang="it-IT" sz="3000" dirty="0" err="1"/>
              <a:t>Calendar</a:t>
            </a:r>
            <a:r>
              <a:rPr lang="it-IT" sz="3000" dirty="0"/>
              <a:t> che può essere utilizzata per gestire la data e l'ora, e la classe Random che può essere utilizzata per generare numeri casuali.</a:t>
            </a:r>
            <a:endParaRPr lang="it-IT" sz="3000" b="0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126386875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6097978" cy="373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Le librerie standard di Java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AC7B31C-D2C2-C243-DA32-83D492709768}"/>
              </a:ext>
            </a:extLst>
          </p:cNvPr>
          <p:cNvSpPr txBox="1"/>
          <p:nvPr/>
        </p:nvSpPr>
        <p:spPr>
          <a:xfrm>
            <a:off x="3048990" y="1031312"/>
            <a:ext cx="6097978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4000" dirty="0"/>
              <a:t>Il pacchetto </a:t>
            </a:r>
            <a:r>
              <a:rPr lang="it-IT" sz="4000" dirty="0" err="1"/>
              <a:t>java.io</a:t>
            </a:r>
            <a:r>
              <a:rPr lang="it-IT" sz="4000" dirty="0"/>
              <a:t> contiene classi utilizzate per la lettura e la scrittura di file, come ad esempio la classe </a:t>
            </a:r>
            <a:r>
              <a:rPr lang="it-IT" sz="4000" dirty="0" err="1"/>
              <a:t>FileReader</a:t>
            </a:r>
            <a:r>
              <a:rPr lang="it-IT" sz="4000" dirty="0"/>
              <a:t> e la classe </a:t>
            </a:r>
            <a:r>
              <a:rPr lang="it-IT" sz="4000" dirty="0" err="1"/>
              <a:t>FileWriter</a:t>
            </a:r>
            <a:r>
              <a:rPr lang="it-IT" sz="4000" dirty="0"/>
              <a:t>.</a:t>
            </a:r>
            <a:endParaRPr lang="it-IT" sz="4000" b="0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453048108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6097978" cy="373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Le librerie standard di Java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AC7B31C-D2C2-C243-DA32-83D492709768}"/>
              </a:ext>
            </a:extLst>
          </p:cNvPr>
          <p:cNvSpPr txBox="1"/>
          <p:nvPr/>
        </p:nvSpPr>
        <p:spPr>
          <a:xfrm>
            <a:off x="3048990" y="1031312"/>
            <a:ext cx="6097978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3000" dirty="0"/>
              <a:t>Infine, il pacchetto </a:t>
            </a:r>
            <a:r>
              <a:rPr lang="it-IT" sz="3000" dirty="0" err="1"/>
              <a:t>java.lang</a:t>
            </a:r>
            <a:r>
              <a:rPr lang="it-IT" sz="3000" dirty="0"/>
              <a:t> contiene classi fondamentali utilizzate dal sistema Java, come ad esempio la classe Object, la classe </a:t>
            </a:r>
            <a:r>
              <a:rPr lang="it-IT" sz="3000" dirty="0" err="1"/>
              <a:t>String</a:t>
            </a:r>
            <a:r>
              <a:rPr lang="it-IT" sz="3000" dirty="0"/>
              <a:t> e la classe </a:t>
            </a:r>
            <a:r>
              <a:rPr lang="it-IT" sz="3000" dirty="0" err="1"/>
              <a:t>Throwable</a:t>
            </a:r>
            <a:r>
              <a:rPr lang="it-IT" sz="3000" dirty="0"/>
              <a:t>.</a:t>
            </a:r>
            <a:endParaRPr lang="it-IT" sz="3000" b="0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4037985407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Logo, symbol, meaning, history, PNG, brand">
            <a:extLst>
              <a:ext uri="{FF2B5EF4-FFF2-40B4-BE49-F238E27FC236}">
                <a16:creationId xmlns:a16="http://schemas.microsoft.com/office/drawing/2014/main" id="{7E71EA73-A6D5-8267-6E8C-98224EFC2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655" y="0"/>
            <a:ext cx="1420799" cy="795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EE7BD1F-A8F8-20FB-D2DA-5EA16AB18C53}"/>
              </a:ext>
            </a:extLst>
          </p:cNvPr>
          <p:cNvSpPr txBox="1"/>
          <p:nvPr/>
        </p:nvSpPr>
        <p:spPr>
          <a:xfrm>
            <a:off x="282039" y="421955"/>
            <a:ext cx="6097978" cy="373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678180" algn="l"/>
              </a:tabLst>
            </a:pPr>
            <a:r>
              <a:rPr lang="it-IT" b="1" i="0" dirty="0">
                <a:solidFill>
                  <a:srgbClr val="050E17"/>
                </a:solidFill>
                <a:effectLst/>
                <a:latin typeface="-apple-system"/>
              </a:rPr>
              <a:t>Le librerie standard di Java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AC7B31C-D2C2-C243-DA32-83D492709768}"/>
              </a:ext>
            </a:extLst>
          </p:cNvPr>
          <p:cNvSpPr txBox="1"/>
          <p:nvPr/>
        </p:nvSpPr>
        <p:spPr>
          <a:xfrm>
            <a:off x="3048990" y="1031312"/>
            <a:ext cx="6097978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3000" dirty="0"/>
              <a:t>In sintesi, le librerie standard di Java offrono una vasta gamma di classi e metodi predefiniti che possono essere utilizzati per semplificare lo sviluppo di applicazioni Java.</a:t>
            </a:r>
            <a:endParaRPr lang="it-IT" sz="3000" b="0" i="0" dirty="0">
              <a:solidFill>
                <a:srgbClr val="050E17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6130206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117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Titoli diapositive</vt:lpstr>
      </vt:variant>
      <vt:variant>
        <vt:i4>117</vt:i4>
      </vt:variant>
    </vt:vector>
  </HeadingPairs>
  <TitlesOfParts>
    <vt:vector size="119" baseType="lpstr">
      <vt:lpstr>Tema di Office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/>
  <cp:lastModifiedBy>Vincenzo Piccolo</cp:lastModifiedBy>
  <cp:revision>10</cp:revision>
  <dcterms:created xsi:type="dcterms:W3CDTF">2023-08-23T12:51:20Z</dcterms:created>
  <dcterms:modified xsi:type="dcterms:W3CDTF">2026-03-24T15:09:43Z</dcterms:modified>
</cp:coreProperties>
</file>